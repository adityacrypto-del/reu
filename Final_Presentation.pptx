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1" roundtripDataSignature="AMtx7mhHWnb2G1zb1VuwrBL8jtPprN9Lt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customschemas.google.com/relationships/presentationmetadata" Target="metadata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ba9448a9f4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g3ba9448a9f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ba9448a9f4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g3ba9448a9f4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ba9448a9f4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g3ba9448a9f4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ba9448a9f4_3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g3ba9448a9f4_3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ba9448a9f4_3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g3ba9448a9f4_3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9826993c57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g39826993c57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b88c88fd99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b88c88fd99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b88c88fd99_3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b88c88fd99_3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b88c88fd99_3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b88c88fd99_3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b88c88fd99_3_3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b88c88fd99_3_3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2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2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2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2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2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" title="kle log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52350" y="58300"/>
            <a:ext cx="2315725" cy="550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5" name="Google Shape;55;p1"/>
          <p:cNvCxnSpPr/>
          <p:nvPr/>
        </p:nvCxnSpPr>
        <p:spPr>
          <a:xfrm>
            <a:off x="-21150" y="674050"/>
            <a:ext cx="9159600" cy="3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" name="Google Shape;56;p1"/>
          <p:cNvSpPr txBox="1"/>
          <p:nvPr/>
        </p:nvSpPr>
        <p:spPr>
          <a:xfrm>
            <a:off x="642350" y="2110050"/>
            <a:ext cx="8111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dk1"/>
                </a:solidFill>
              </a:rPr>
              <a:t>Heading</a:t>
            </a:r>
            <a:endParaRPr b="1" sz="24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</a:endParaRPr>
          </a:p>
        </p:txBody>
      </p:sp>
      <p:sp>
        <p:nvSpPr>
          <p:cNvPr id="57" name="Google Shape;57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/>
          <p:nvPr>
            <p:ph type="ctrTitle"/>
          </p:nvPr>
        </p:nvSpPr>
        <p:spPr>
          <a:xfrm>
            <a:off x="164250" y="-29400"/>
            <a:ext cx="64788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b="1" lang="en-GB" sz="3280"/>
              <a:t>Table of Contents</a:t>
            </a:r>
            <a:endParaRPr b="1" sz="3280"/>
          </a:p>
        </p:txBody>
      </p:sp>
      <p:pic>
        <p:nvPicPr>
          <p:cNvPr id="63" name="Google Shape;63;p2" title="kle log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52350" y="58300"/>
            <a:ext cx="2315725" cy="550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4" name="Google Shape;64;p2"/>
          <p:cNvCxnSpPr/>
          <p:nvPr/>
        </p:nvCxnSpPr>
        <p:spPr>
          <a:xfrm>
            <a:off x="6050" y="730600"/>
            <a:ext cx="9119100" cy="1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" name="Google Shape;6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6" name="Google Shape;66;p2"/>
          <p:cNvSpPr txBox="1"/>
          <p:nvPr/>
        </p:nvSpPr>
        <p:spPr>
          <a:xfrm>
            <a:off x="248875" y="808525"/>
            <a:ext cx="5093700" cy="42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●"/>
            </a:pPr>
            <a:r>
              <a:rPr lang="en-GB" sz="2200">
                <a:solidFill>
                  <a:schemeClr val="dk2"/>
                </a:solidFill>
              </a:rPr>
              <a:t>Introduction</a:t>
            </a:r>
            <a:endParaRPr sz="2200">
              <a:solidFill>
                <a:schemeClr val="dk2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●"/>
            </a:pPr>
            <a:r>
              <a:rPr lang="en-GB" sz="2200">
                <a:solidFill>
                  <a:schemeClr val="dk2"/>
                </a:solidFill>
              </a:rPr>
              <a:t>Motivation</a:t>
            </a:r>
            <a:endParaRPr sz="2200">
              <a:solidFill>
                <a:schemeClr val="dk2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●"/>
            </a:pPr>
            <a:r>
              <a:rPr lang="en-GB" sz="2200">
                <a:solidFill>
                  <a:schemeClr val="dk2"/>
                </a:solidFill>
              </a:rPr>
              <a:t>Problem Statement</a:t>
            </a:r>
            <a:endParaRPr sz="2200">
              <a:solidFill>
                <a:schemeClr val="dk2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●"/>
            </a:pPr>
            <a:r>
              <a:rPr lang="en-GB" sz="2200">
                <a:solidFill>
                  <a:schemeClr val="dk2"/>
                </a:solidFill>
              </a:rPr>
              <a:t>Summary of Literature Survey</a:t>
            </a:r>
            <a:endParaRPr sz="2200">
              <a:solidFill>
                <a:schemeClr val="dk2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●"/>
            </a:pPr>
            <a:r>
              <a:rPr lang="en-GB" sz="2200">
                <a:solidFill>
                  <a:schemeClr val="dk2"/>
                </a:solidFill>
              </a:rPr>
              <a:t>Objectives</a:t>
            </a:r>
            <a:endParaRPr sz="2200">
              <a:solidFill>
                <a:schemeClr val="dk2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●"/>
            </a:pPr>
            <a:r>
              <a:rPr lang="en-GB" sz="2200">
                <a:solidFill>
                  <a:schemeClr val="dk2"/>
                </a:solidFill>
              </a:rPr>
              <a:t>Dataset</a:t>
            </a:r>
            <a:endParaRPr sz="2200">
              <a:solidFill>
                <a:schemeClr val="dk2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●"/>
            </a:pPr>
            <a:r>
              <a:rPr lang="en-GB" sz="2200">
                <a:solidFill>
                  <a:schemeClr val="dk2"/>
                </a:solidFill>
              </a:rPr>
              <a:t>Pipeline</a:t>
            </a:r>
            <a:endParaRPr sz="2200">
              <a:solidFill>
                <a:schemeClr val="dk2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●"/>
            </a:pPr>
            <a:r>
              <a:rPr lang="en-GB" sz="2200">
                <a:solidFill>
                  <a:schemeClr val="dk2"/>
                </a:solidFill>
              </a:rPr>
              <a:t>Overall Methodology</a:t>
            </a:r>
            <a:endParaRPr sz="2200">
              <a:solidFill>
                <a:schemeClr val="dk2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●"/>
            </a:pPr>
            <a:r>
              <a:rPr lang="en-GB" sz="2200">
                <a:solidFill>
                  <a:schemeClr val="dk2"/>
                </a:solidFill>
              </a:rPr>
              <a:t>Architecture	</a:t>
            </a:r>
            <a:endParaRPr sz="2200">
              <a:solidFill>
                <a:schemeClr val="dk2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●"/>
            </a:pPr>
            <a:r>
              <a:rPr lang="en-GB" sz="2200">
                <a:solidFill>
                  <a:schemeClr val="dk2"/>
                </a:solidFill>
              </a:rPr>
              <a:t>Implementation </a:t>
            </a:r>
            <a:endParaRPr sz="2200">
              <a:solidFill>
                <a:schemeClr val="dk2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●"/>
            </a:pPr>
            <a:r>
              <a:rPr lang="en-GB" sz="2200">
                <a:solidFill>
                  <a:schemeClr val="dk2"/>
                </a:solidFill>
              </a:rPr>
              <a:t>Results</a:t>
            </a:r>
            <a:endParaRPr sz="2200">
              <a:solidFill>
                <a:schemeClr val="dk2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●"/>
            </a:pPr>
            <a:r>
              <a:rPr lang="en-GB" sz="2200">
                <a:solidFill>
                  <a:schemeClr val="dk2"/>
                </a:solidFill>
              </a:rPr>
              <a:t>Outcomes</a:t>
            </a:r>
            <a:endParaRPr sz="2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a9448a9f4_0_6"/>
          <p:cNvSpPr txBox="1"/>
          <p:nvPr>
            <p:ph type="ctrTitle"/>
          </p:nvPr>
        </p:nvSpPr>
        <p:spPr>
          <a:xfrm>
            <a:off x="164250" y="-29400"/>
            <a:ext cx="64788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b="1" lang="en-GB" sz="3280"/>
              <a:t>Introduction</a:t>
            </a:r>
            <a:endParaRPr b="1" sz="3280"/>
          </a:p>
        </p:txBody>
      </p:sp>
      <p:pic>
        <p:nvPicPr>
          <p:cNvPr id="72" name="Google Shape;72;g3ba9448a9f4_0_6" title="kle log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52350" y="58300"/>
            <a:ext cx="2315725" cy="550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3" name="Google Shape;73;g3ba9448a9f4_0_6"/>
          <p:cNvCxnSpPr/>
          <p:nvPr/>
        </p:nvCxnSpPr>
        <p:spPr>
          <a:xfrm>
            <a:off x="6050" y="730600"/>
            <a:ext cx="9119100" cy="1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" name="Google Shape;74;g3ba9448a9f4_0_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"/>
          <p:cNvSpPr txBox="1"/>
          <p:nvPr>
            <p:ph type="ctrTitle"/>
          </p:nvPr>
        </p:nvSpPr>
        <p:spPr>
          <a:xfrm>
            <a:off x="152400" y="-29375"/>
            <a:ext cx="63492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b="1" lang="en-GB" sz="3280"/>
              <a:t>Summary of Literature Survey</a:t>
            </a:r>
            <a:endParaRPr b="1" sz="3280"/>
          </a:p>
        </p:txBody>
      </p:sp>
      <p:pic>
        <p:nvPicPr>
          <p:cNvPr id="80" name="Google Shape;80;p3" title="kle log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52350" y="58300"/>
            <a:ext cx="2315725" cy="550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1" name="Google Shape;81;p3"/>
          <p:cNvCxnSpPr/>
          <p:nvPr/>
        </p:nvCxnSpPr>
        <p:spPr>
          <a:xfrm>
            <a:off x="-21150" y="674050"/>
            <a:ext cx="9159600" cy="3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" name="Google Shape;82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ba9448a9f4_0_23"/>
          <p:cNvSpPr txBox="1"/>
          <p:nvPr>
            <p:ph type="ctrTitle"/>
          </p:nvPr>
        </p:nvSpPr>
        <p:spPr>
          <a:xfrm>
            <a:off x="164250" y="-29400"/>
            <a:ext cx="64788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b="1" lang="en-GB" sz="3280"/>
              <a:t>Motivation</a:t>
            </a:r>
            <a:endParaRPr b="1" sz="3280"/>
          </a:p>
        </p:txBody>
      </p:sp>
      <p:pic>
        <p:nvPicPr>
          <p:cNvPr id="88" name="Google Shape;88;g3ba9448a9f4_0_23" title="kle log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52350" y="58300"/>
            <a:ext cx="2315725" cy="550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9" name="Google Shape;89;g3ba9448a9f4_0_23"/>
          <p:cNvCxnSpPr/>
          <p:nvPr/>
        </p:nvCxnSpPr>
        <p:spPr>
          <a:xfrm>
            <a:off x="6050" y="730600"/>
            <a:ext cx="9119100" cy="1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" name="Google Shape;90;g3ba9448a9f4_0_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a9448a9f4_0_49"/>
          <p:cNvSpPr txBox="1"/>
          <p:nvPr>
            <p:ph type="ctrTitle"/>
          </p:nvPr>
        </p:nvSpPr>
        <p:spPr>
          <a:xfrm>
            <a:off x="164250" y="-29400"/>
            <a:ext cx="64788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b="1" lang="en-GB" sz="3280"/>
              <a:t>Problem Statement</a:t>
            </a:r>
            <a:endParaRPr b="1" sz="3280"/>
          </a:p>
        </p:txBody>
      </p:sp>
      <p:pic>
        <p:nvPicPr>
          <p:cNvPr id="96" name="Google Shape;96;g3ba9448a9f4_0_49" title="kle log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52350" y="58300"/>
            <a:ext cx="2315725" cy="550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7" name="Google Shape;97;g3ba9448a9f4_0_49"/>
          <p:cNvCxnSpPr/>
          <p:nvPr/>
        </p:nvCxnSpPr>
        <p:spPr>
          <a:xfrm>
            <a:off x="6050" y="730600"/>
            <a:ext cx="9119100" cy="1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8" name="Google Shape;98;g3ba9448a9f4_0_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 txBox="1"/>
          <p:nvPr>
            <p:ph type="ctrTitle"/>
          </p:nvPr>
        </p:nvSpPr>
        <p:spPr>
          <a:xfrm>
            <a:off x="156150" y="-1"/>
            <a:ext cx="6813900" cy="71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78"/>
              <a:buNone/>
            </a:pPr>
            <a:r>
              <a:rPr b="1" lang="en-GB" sz="3250"/>
              <a:t>Objectives</a:t>
            </a:r>
            <a:endParaRPr b="1" sz="3250"/>
          </a:p>
        </p:txBody>
      </p:sp>
      <p:pic>
        <p:nvPicPr>
          <p:cNvPr id="104" name="Google Shape;104;p4" title="kle log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52350" y="58300"/>
            <a:ext cx="2315725" cy="550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5" name="Google Shape;105;p4"/>
          <p:cNvCxnSpPr/>
          <p:nvPr/>
        </p:nvCxnSpPr>
        <p:spPr>
          <a:xfrm>
            <a:off x="-21150" y="674050"/>
            <a:ext cx="9159600" cy="3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6" name="Google Shape;106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ba9448a9f4_3_13"/>
          <p:cNvSpPr txBox="1"/>
          <p:nvPr>
            <p:ph type="ctrTitle"/>
          </p:nvPr>
        </p:nvSpPr>
        <p:spPr>
          <a:xfrm>
            <a:off x="156150" y="-1"/>
            <a:ext cx="6813900" cy="71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78"/>
              <a:buNone/>
            </a:pPr>
            <a:r>
              <a:rPr b="1" lang="en-GB" sz="3250"/>
              <a:t>Dataset</a:t>
            </a:r>
            <a:endParaRPr b="1" sz="3250"/>
          </a:p>
        </p:txBody>
      </p:sp>
      <p:pic>
        <p:nvPicPr>
          <p:cNvPr id="112" name="Google Shape;112;g3ba9448a9f4_3_13" title="kle log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52350" y="58300"/>
            <a:ext cx="2315725" cy="550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3" name="Google Shape;113;g3ba9448a9f4_3_13"/>
          <p:cNvCxnSpPr/>
          <p:nvPr/>
        </p:nvCxnSpPr>
        <p:spPr>
          <a:xfrm>
            <a:off x="-21150" y="674050"/>
            <a:ext cx="9159600" cy="3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4" name="Google Shape;114;g3ba9448a9f4_3_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ba9448a9f4_3_40"/>
          <p:cNvSpPr txBox="1"/>
          <p:nvPr>
            <p:ph type="ctrTitle"/>
          </p:nvPr>
        </p:nvSpPr>
        <p:spPr>
          <a:xfrm>
            <a:off x="156150" y="-1"/>
            <a:ext cx="6813900" cy="71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78"/>
              <a:buNone/>
            </a:pPr>
            <a:r>
              <a:rPr b="1" lang="en-GB" sz="3250"/>
              <a:t>Pipeline</a:t>
            </a:r>
            <a:r>
              <a:rPr b="1" lang="en-GB" sz="3250"/>
              <a:t> </a:t>
            </a:r>
            <a:endParaRPr b="1" sz="3250"/>
          </a:p>
        </p:txBody>
      </p:sp>
      <p:pic>
        <p:nvPicPr>
          <p:cNvPr id="120" name="Google Shape;120;g3ba9448a9f4_3_40" title="kle log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52350" y="58300"/>
            <a:ext cx="2315725" cy="550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1" name="Google Shape;121;g3ba9448a9f4_3_40"/>
          <p:cNvCxnSpPr/>
          <p:nvPr/>
        </p:nvCxnSpPr>
        <p:spPr>
          <a:xfrm>
            <a:off x="-21150" y="674050"/>
            <a:ext cx="9159600" cy="3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2" name="Google Shape;122;g3ba9448a9f4_3_40"/>
          <p:cNvSpPr txBox="1"/>
          <p:nvPr/>
        </p:nvSpPr>
        <p:spPr>
          <a:xfrm>
            <a:off x="85325" y="774575"/>
            <a:ext cx="5911800" cy="17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</p:txBody>
      </p:sp>
      <p:sp>
        <p:nvSpPr>
          <p:cNvPr id="123" name="Google Shape;123;g3ba9448a9f4_3_40"/>
          <p:cNvSpPr/>
          <p:nvPr/>
        </p:nvSpPr>
        <p:spPr>
          <a:xfrm>
            <a:off x="7390075" y="4600150"/>
            <a:ext cx="1412400" cy="338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9826993c57_0_12"/>
          <p:cNvSpPr txBox="1"/>
          <p:nvPr>
            <p:ph type="ctrTitle"/>
          </p:nvPr>
        </p:nvSpPr>
        <p:spPr>
          <a:xfrm>
            <a:off x="156150" y="-1"/>
            <a:ext cx="6813900" cy="71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78"/>
              <a:buNone/>
            </a:pPr>
            <a:r>
              <a:rPr b="1" lang="en-GB" sz="3250"/>
              <a:t>Overall Methodology</a:t>
            </a:r>
            <a:endParaRPr b="1" sz="3250"/>
          </a:p>
        </p:txBody>
      </p:sp>
      <p:pic>
        <p:nvPicPr>
          <p:cNvPr id="129" name="Google Shape;129;g39826993c57_0_12" title="kle log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52350" y="58300"/>
            <a:ext cx="2315725" cy="550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0" name="Google Shape;130;g39826993c57_0_12"/>
          <p:cNvCxnSpPr/>
          <p:nvPr/>
        </p:nvCxnSpPr>
        <p:spPr>
          <a:xfrm>
            <a:off x="-21150" y="674050"/>
            <a:ext cx="9159600" cy="3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1" name="Google Shape;131;g39826993c57_0_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b88c88fd99_1_0"/>
          <p:cNvSpPr txBox="1"/>
          <p:nvPr>
            <p:ph type="ctrTitle"/>
          </p:nvPr>
        </p:nvSpPr>
        <p:spPr>
          <a:xfrm>
            <a:off x="0" y="-99975"/>
            <a:ext cx="5777400" cy="70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250"/>
              <a:t>Architecture</a:t>
            </a:r>
            <a:endParaRPr b="1" sz="3250"/>
          </a:p>
        </p:txBody>
      </p:sp>
      <p:sp>
        <p:nvSpPr>
          <p:cNvPr id="137" name="Google Shape;137;g3b88c88fd99_1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38" name="Google Shape;138;g3b88c88fd99_1_0" title="kle log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52350" y="58300"/>
            <a:ext cx="2315725" cy="550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9" name="Google Shape;139;g3b88c88fd99_1_0"/>
          <p:cNvCxnSpPr/>
          <p:nvPr/>
        </p:nvCxnSpPr>
        <p:spPr>
          <a:xfrm>
            <a:off x="-21150" y="591090"/>
            <a:ext cx="9159600" cy="3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b88c88fd99_3_13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250"/>
              <a:t>Implementation</a:t>
            </a:r>
            <a:endParaRPr b="1" sz="3250"/>
          </a:p>
        </p:txBody>
      </p:sp>
      <p:sp>
        <p:nvSpPr>
          <p:cNvPr id="145" name="Google Shape;145;g3b88c88fd99_3_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46" name="Google Shape;146;g3b88c88fd99_3_13"/>
          <p:cNvCxnSpPr/>
          <p:nvPr/>
        </p:nvCxnSpPr>
        <p:spPr>
          <a:xfrm>
            <a:off x="-21150" y="599386"/>
            <a:ext cx="9159600" cy="3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47" name="Google Shape;147;g3b88c88fd99_3_13" title="kle log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52350" y="58300"/>
            <a:ext cx="2315725" cy="55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b88c88fd99_3_26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250"/>
              <a:t>Results</a:t>
            </a:r>
            <a:endParaRPr b="1" sz="3250"/>
          </a:p>
        </p:txBody>
      </p:sp>
      <p:sp>
        <p:nvSpPr>
          <p:cNvPr id="153" name="Google Shape;153;g3b88c88fd99_3_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54" name="Google Shape;154;g3b88c88fd99_3_26"/>
          <p:cNvCxnSpPr/>
          <p:nvPr/>
        </p:nvCxnSpPr>
        <p:spPr>
          <a:xfrm>
            <a:off x="-21150" y="599386"/>
            <a:ext cx="9159600" cy="3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55" name="Google Shape;155;g3b88c88fd99_3_26" title="kle log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44054" y="50004"/>
            <a:ext cx="2315725" cy="55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b88c88fd99_3_383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250"/>
              <a:t>Outcomes</a:t>
            </a:r>
            <a:endParaRPr b="1" sz="3250"/>
          </a:p>
        </p:txBody>
      </p:sp>
      <p:sp>
        <p:nvSpPr>
          <p:cNvPr id="161" name="Google Shape;161;g3b88c88fd99_3_38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62" name="Google Shape;162;g3b88c88fd99_3_383"/>
          <p:cNvCxnSpPr/>
          <p:nvPr/>
        </p:nvCxnSpPr>
        <p:spPr>
          <a:xfrm>
            <a:off x="-21150" y="599386"/>
            <a:ext cx="9159600" cy="3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63" name="Google Shape;163;g3b88c88fd99_3_383" title="kle log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44054" y="33412"/>
            <a:ext cx="2315725" cy="55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6"/>
          <p:cNvSpPr txBox="1"/>
          <p:nvPr>
            <p:ph type="ctrTitle"/>
          </p:nvPr>
        </p:nvSpPr>
        <p:spPr>
          <a:xfrm>
            <a:off x="2075250" y="2208900"/>
            <a:ext cx="49935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/>
              <a:t>Thank you</a:t>
            </a:r>
            <a:endParaRPr b="1"/>
          </a:p>
        </p:txBody>
      </p:sp>
      <p:pic>
        <p:nvPicPr>
          <p:cNvPr id="169" name="Google Shape;169;p16" title="kle log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52350" y="58300"/>
            <a:ext cx="2315725" cy="550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0" name="Google Shape;170;p16"/>
          <p:cNvCxnSpPr/>
          <p:nvPr/>
        </p:nvCxnSpPr>
        <p:spPr>
          <a:xfrm>
            <a:off x="-21150" y="674050"/>
            <a:ext cx="9159600" cy="3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1" name="Google Shape;171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/>
            </a:pPr>
            <a:r>
              <a:t>Title: Layer-wise Analysis of Feature Evolution in Convolutional Neural Networks</a:t>
            </a:r>
          </a:p>
          <a:p>
            <a:pPr>
              <a:defRPr sz="1800"/>
            </a:pPr>
            <a:r>
              <a:t>Subtitle: Understanding Feature Representation and Neural Collapse</a:t>
            </a:r>
          </a:p>
          <a:p>
            <a:pPr>
              <a:defRPr sz="1800"/>
            </a:pPr>
            <a:r>
              <a:t>Author: Aditya Arasamangalam</a:t>
            </a:r>
          </a:p>
          <a:p>
            <a:pPr>
              <a:defRPr sz="1800"/>
            </a:pPr>
            <a:r>
              <a:t>Course: ReU</a:t>
            </a:r>
          </a:p>
          <a:p>
            <a:pPr>
              <a:defRPr sz="1800"/>
            </a:pPr>
            <a:r>
              <a:t>Guide: Sunil Gurlahosur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The Black Box Problem: CNNs achieve high accuracy but lack internal interpretability.</a:t>
            </a:r>
          </a:p>
          <a:p>
            <a:pPr>
              <a:defRPr sz="1800"/>
            </a:pPr>
            <a:r>
              <a:t>Output-Centric Bias: Current research predominantly evaluates final output classifications, ignoring intermediate feature structures.</a:t>
            </a:r>
          </a:p>
          <a:p>
            <a:pPr>
              <a:defRPr sz="1800"/>
            </a:pPr>
            <a:r>
              <a:t>Trust &amp; Explainability: Analyzing how features evolve across hidden layers builds reliable, transparent models for edge deployment.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 &amp; Research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Research Gap: A lack of quantifiable understanding regarding layer-by-layer feature behavior and how dataset geometric complexity influences learning dynamics.</a:t>
            </a:r>
          </a:p>
          <a:p>
            <a:pPr>
              <a:defRPr sz="1800"/>
            </a:pPr>
            <a:r>
              <a:t>Core Question: How do internal features geometrically evolve across convolution layers, and how do dataset properties accelerate or hinder this evolution?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Analyze feature maps across intermediate convolution layers.</a:t>
            </a:r>
          </a:p>
          <a:p>
            <a:pPr>
              <a:defRPr sz="1800"/>
            </a:pPr>
            <a:r>
              <a:t>Quantify progression using Neural Collapse metrics (NC1-NC4).</a:t>
            </a:r>
          </a:p>
          <a:p>
            <a:pPr>
              <a:defRPr sz="1800"/>
            </a:pPr>
            <a:r>
              <a:t>Evaluate Early Exit reliability based on intermediate geometric structure.</a:t>
            </a:r>
          </a:p>
          <a:p>
            <a:pPr>
              <a:defRPr sz="1800"/>
            </a:pPr>
            <a:r>
              <a:t>Compare behavior systematically across datasets with varying structures.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1 — OOD Detection via Neural Collapse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Paper: Liu &amp; Qin, 2025</a:t>
            </a:r>
          </a:p>
          <a:p>
            <a:pPr>
              <a:defRPr sz="1800"/>
            </a:pPr>
            <a:r>
              <a:t>Concept: Terminal-phase deep features form tightly packed clusters. This geometry acts as a strict boundary for Out-of-Distribution (OOD) detection.</a:t>
            </a:r>
          </a:p>
          <a:p>
            <a:pPr>
              <a:defRPr sz="1800"/>
            </a:pPr>
            <a:r>
              <a:t>Limitation Addressed: Focuses only on final layers; our work extends this to early exits.</a:t>
            </a:r>
          </a:p>
        </p:txBody>
      </p:sp>
      <p:pic>
        <p:nvPicPr>
          <p:cNvPr id="4" name="Picture 3" descr="mermaid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3200400"/>
            <a:ext cx="6400800" cy="88462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2 — Debiased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Paper: Wang et al., 2024</a:t>
            </a:r>
          </a:p>
          <a:p>
            <a:pPr>
              <a:defRPr sz="1800"/>
            </a:pPr>
            <a:r>
              <a:t>Concept: Shortcut learning distorts the ideal simplex geometry of Neural Collapse. Explicit geometric regularization ensures fair, unbiased representations.</a:t>
            </a:r>
          </a:p>
          <a:p>
            <a:pPr>
              <a:defRPr sz="1800"/>
            </a:pPr>
            <a:r>
              <a:t>Limitation Addressed: Bias propagation through *intermediate* architectural blocks.</a:t>
            </a:r>
          </a:p>
        </p:txBody>
      </p:sp>
      <p:pic>
        <p:nvPicPr>
          <p:cNvPr id="4" name="Picture 3" descr="mermaid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3200400"/>
            <a:ext cx="6400800" cy="42401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3 — Geometric Complexity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Paper: Munn et al., 2024</a:t>
            </a:r>
          </a:p>
          <a:p>
            <a:pPr>
              <a:defRPr sz="1800"/>
            </a:pPr>
            <a:r>
              <a:t>Concept: Neural Collapse is not guaranteed. It is strictly dependent on the "Geometric Complexity" (target dataset's difficulty).</a:t>
            </a:r>
          </a:p>
          <a:p>
            <a:pPr>
              <a:defRPr sz="1800"/>
            </a:pPr>
            <a:r>
              <a:t>Rationale: Complex, fine-grained datasets yield weak representation overlaps, making them harder to collapse.</a:t>
            </a:r>
          </a:p>
        </p:txBody>
      </p:sp>
      <p:pic>
        <p:nvPicPr>
          <p:cNvPr id="4" name="Picture 3" descr="mermaid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3200400"/>
            <a:ext cx="6400800" cy="674264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4 — Logit Adjustment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Paper: Hasegawa &amp; Sato, 2024</a:t>
            </a:r>
          </a:p>
          <a:p>
            <a:pPr>
              <a:defRPr sz="1800"/>
            </a:pPr>
            <a:r>
              <a:t>Concept: Class imbalance mechanically shifts classification boundaries away from optimal Neural Collapse geometry. Multiplicative scaling can mathematically repair this.</a:t>
            </a:r>
          </a:p>
        </p:txBody>
      </p:sp>
      <p:pic>
        <p:nvPicPr>
          <p:cNvPr id="4" name="Picture 3" descr="mermaid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3200400"/>
            <a:ext cx="6400800" cy="401921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Primary Focus: Oxford Flowers 102</a:t>
            </a:r>
          </a:p>
          <a:p>
            <a:pPr>
              <a:defRPr sz="1400"/>
            </a:pPr>
            <a:r>
              <a:t>Balance: 102 classes with moderate data scale.</a:t>
            </a:r>
          </a:p>
          <a:p>
            <a:pPr>
              <a:defRPr sz="1400"/>
            </a:pPr>
            <a:r>
              <a:t>Complexity: Fine-grained geometry (high inter-class similarity) makes it ideal for testing partial Neural Collapse.</a:t>
            </a:r>
          </a:p>
          <a:p>
            <a:pPr>
              <a:defRPr sz="1400"/>
            </a:pPr>
            <a:r>
              <a:t>Comparative Baselines:</a:t>
            </a:r>
          </a:p>
          <a:p>
            <a:pPr>
              <a:defRPr sz="1400"/>
            </a:pPr>
            <a:r>
              <a:t>Food-101 (Texture-dominant)</a:t>
            </a:r>
          </a:p>
          <a:p>
            <a:pPr>
              <a:defRPr sz="1400"/>
            </a:pPr>
            <a:r>
              <a:t>Stanford Cars (Geometry-dominant)</a:t>
            </a:r>
          </a:p>
          <a:p>
            <a:pPr>
              <a:defRPr sz="1400"/>
            </a:pPr>
            <a:r>
              <a:t>FGVC Aircraft (Spatial/Structure-dominant)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Architecture — ResNet-18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Why ResNet?</a:t>
            </a:r>
          </a:p>
          <a:p>
            <a:pPr>
              <a:defRPr sz="1800"/>
            </a:pPr>
            <a:r>
              <a:t>Residual Connections: Prevents vanishing gradients, allowing stable measurement of deep features.</a:t>
            </a:r>
          </a:p>
          <a:p>
            <a:pPr>
              <a:defRPr sz="1800"/>
            </a:pPr>
            <a:r>
              <a:t>Distinct Hierarchical Blocks: Perfect for strategically attaching intermediate Early Exit classifiers.</a:t>
            </a:r>
          </a:p>
          <a:p>
            <a:pPr>
              <a:defRPr sz="1800"/>
            </a:pPr>
            <a:r>
              <a:t>Comparison: Unlike DenseNet (feature entanglement) or VGG (no residuals), ResNet provides clean architectural benchmarks.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5-Stage Framework</a:t>
            </a:r>
          </a:p>
        </p:txBody>
      </p:sp>
      <p:pic>
        <p:nvPicPr>
          <p:cNvPr id="3" name="Picture 2" descr="mermaid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6400800" cy="14610522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Early Layers: Responsive to raw textures and dense edges. Weak collapse limits prediction confidence.</a:t>
            </a:r>
          </a:p>
          <a:p>
            <a:pPr>
              <a:defRPr sz="1800"/>
            </a:pPr>
            <a:r>
              <a:t>Mid Layers: Capture gradients and shapes. Logit adjustments stabilize boundary distortions.</a:t>
            </a:r>
          </a:p>
          <a:p>
            <a:pPr>
              <a:defRPr sz="1800"/>
            </a:pPr>
            <a:r>
              <a:t>Deep Layers: Form structured semantic geometries. High collapse guarantees reliable, calibration-sound inferences.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Key Contribution: Developing a principled framework linking internal convolutional geometry directly to inference cost-savings (Early Exiting).</a:t>
            </a:r>
          </a:p>
          <a:p>
            <a:pPr>
              <a:defRPr sz="1800"/>
            </a:pPr>
            <a:r>
              <a:t>Future Work:</a:t>
            </a:r>
          </a:p>
          <a:p>
            <a:pPr>
              <a:defRPr sz="1800"/>
            </a:pPr>
            <a:r>
              <a:t>Detailed feature clustering analysis via t-SNE / PCA.</a:t>
            </a:r>
          </a:p>
          <a:p>
            <a:pPr>
              <a:defRPr sz="1800"/>
            </a:pPr>
            <a:r>
              <a:t>Expansion to Vision Transformers (ViTs) to compare spatial architectures against self-attention collapse.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Raveesh Nayak</dc:creator>
</cp:coreProperties>
</file>