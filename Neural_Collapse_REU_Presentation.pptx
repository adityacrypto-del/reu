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Calibri"/>
              </a:defRPr>
            </a:pPr>
            <a:r>
              <a:t>Investigating Neural Collapse Geometry &amp;</a:t>
            </a:r>
            <a:br/>
            <a:r>
              <a:t>Its Implications for Early Exiting in CNNs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B82F6"/>
                </a:solidFill>
                <a:latin typeface="Calibri"/>
              </a:defRPr>
            </a:pPr>
            <a:r>
              <a:t>on Fine-Grained Visual Classification (Oxford Flowers 102)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3192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Aditya Arasamangalam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Research Experience for Undergraduates (REU)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Guide: Sunil Gurlahosur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0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🔍  The Black Box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CNNs achieve high accuracy but their intermediate representations remain opaque. Understanding layer-wise geometry is crucial for trust and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5156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0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⚡  Efficiency via Early Exiting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If intermediate layers develop strong geometric structure, we can halt computation early — saving energy and latency for edge deployment and real-time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5156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50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📊  Neural Collapse as a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NC describes a beautifully structured terminal state (NC1–NC4). All existing work studies it at the FINAL layer. Nobody has systematically tracked it through intermediate layers.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50876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1F5F9"/>
                </a:solidFill>
                <a:latin typeface="Calibri"/>
              </a:defRPr>
            </a:pPr>
            <a:r>
              <a:t>How does Neural Collapse evolve layer-by-layer through a ResNet-18 trained on Oxford Flowers 102?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5156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315468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RQ2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10896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1F5F9"/>
                </a:solidFill>
                <a:latin typeface="Calibri"/>
              </a:defRPr>
            </a:pPr>
            <a:r>
              <a:t>How does the strength of collapse at intermediate layers affect the reliability and accuracy of Early Exit classifiers?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5156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480060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RQ3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754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1F5F9"/>
                </a:solidFill>
                <a:latin typeface="Calibri"/>
              </a:defRPr>
            </a:pPr>
            <a:r>
              <a:t>What is the interplay between geometric complexity, class imbalance, and the completeness of Neural Collapse?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Liu &amp; Qin (CVPR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OOD Detection via Neural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  Strong collapse geometry → reliable distance-based OOD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⚠  Gap: Only studies final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035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Wang et al. (CVPR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Debiased Learning via 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  Shortcut learning distorts ideal simplex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⚠  Gap: No intermediate layer bias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3035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303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Munn et al. (arXiv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Geometric Complexity in Transfer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  Collapse strength depends on dataset geometric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⚠  Gap: No connection to early exiting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3035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40480"/>
            <a:ext cx="53035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77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Hasegawa &amp; Sato (arXiv 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97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Multiplicative Logit Adjustment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634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  Class imbalance distorts collapse; logit scaling repairs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⚠  Gap: Only at the final classifier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NEURAL COLLAPSE METRICS (NC1–NC4)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64008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NC1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Within-Class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Formula: Tr(Σ_W) / Tr(Σ_B)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Target: →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Features collapse to class means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371600"/>
            <a:ext cx="6400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NC2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Simplex ETF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Formula: cos(μ_c, μ_c')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Target: → −1/(C−1)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Class means form equiangular tight 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53035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5303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023360"/>
            <a:ext cx="64008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NC3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Classifier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Formula: cos(W_c, μ_c − μ_G)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Target: → 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Classifier weights align with class means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840480"/>
            <a:ext cx="53035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84048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4023360"/>
            <a:ext cx="6400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NC4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NCC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Formula: argmin ||h − μ_c||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Target: → 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94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Simple distance classifier matches trained classifier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DATASET: OXFORD FLOWERS 102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Fine-Grained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Many flower species share similar petal shapes, colors, textures — creating high geometric complexity (per Munn et al.)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5156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~8,189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Total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Moderate scale — quality of learned geometry genuinely matters. Imbalance effects observable without over-parameterization masking.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5156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  <a:latin typeface="Calibri"/>
              </a:defRPr>
            </a:pPr>
            <a:r>
              <a:t>Rich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Visual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846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Strong low-level features (edges, colors) in early layers → increasingly abstract semantic features (species identity) in deeper layers.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EarlyExitResNet-18: ResNet-18 backbone with 4 early exit classifiers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12801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Features: 64-d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Spatial: 56×56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383280"/>
            <a:ext cx="173736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Exit 1</a:t>
            </a:r>
            <a:br/>
            <a:r>
              <a:t>AdaptivePool → FC(102)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286000" cy="12801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Features: 128-d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Spatial: 28×28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3383280"/>
            <a:ext cx="173736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Exit 2</a:t>
            </a:r>
            <a:br/>
            <a:r>
              <a:t>AdaptivePool → FC(102)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286000" cy="12801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Features: 256-d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Spatial: 14×14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383280"/>
            <a:ext cx="173736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Exit 3</a:t>
            </a:r>
            <a:br/>
            <a:r>
              <a:t>AdaptivePool → FC(102)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286000" cy="128016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286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Features: 512-d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Spatial: 7×7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383280"/>
            <a:ext cx="1737360" cy="8229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Exit 4</a:t>
            </a:r>
            <a:br/>
            <a:r>
              <a:t>AdaptivePool → FC(102)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Why ResNet-18?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✓ Canonical architecture for Neural Collapse literature (directly comparable)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✓ Clean residual blocks → natural layer-wise hierarchy for early exits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✓ Skip connections preserve gradient flow → meaningful features even at early layers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✓ Computationally efficient (11.7M params) → rapid experimentation on Apple Silicon MPS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344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ResNet-18 (pretrained ImageNet) + 4 Early Exit heads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Oxford Flowers 102 (train split → validation on test split)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Adam (lr = 1e-3)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CosineAnnealingLR (T_max = 50 per phase)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461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Cross-Entropy (sum of all 4 exits)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Batch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7490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Epochs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2519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50 (Phase 1) + 50 (Phase 2 — extended) = 100 total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09160"/>
            <a:ext cx="10515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Device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7548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Apple Silicon M5 (MPS backend)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NC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2578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Computed every epoch on validation 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715000"/>
            <a:ext cx="10515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Checkpoints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7607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Saved every epoch (model + optimizer + scheduler + history)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RESULTS: VALIDATION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46888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46888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Exit 1</a:t>
            </a:r>
            <a:br/>
            <a:r>
              <a:t>(Layer 1, 64-d)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  <a:latin typeface="Calibri"/>
              </a:defRPr>
            </a:pPr>
            <a:r>
              <a:t>22.5%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Best @ epoch 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188720"/>
            <a:ext cx="246888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188720"/>
            <a:ext cx="246888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Exit 2</a:t>
            </a:r>
            <a:br/>
            <a:r>
              <a:t>(Layer 2, 128-d)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Best @ epoch 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46888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46888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Exit 3</a:t>
            </a:r>
            <a:br/>
            <a:r>
              <a:t>(Layer 3, 256-d)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77.4%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Best @ epoch 48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188720"/>
            <a:ext cx="246888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188720"/>
            <a:ext cx="246888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Exit 4</a:t>
            </a:r>
            <a:br/>
            <a:r>
              <a:t>(Layer 4, 512-d)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82.7%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Best @ epoch 47</a:t>
            </a:r>
          </a:p>
        </p:txBody>
      </p:sp>
      <p:pic>
        <p:nvPicPr>
          <p:cNvPr id="24" name="Picture 23" descr="accurac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74720"/>
            <a:ext cx="105156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RESULTS: TRAINING &amp; VALIDATION LOSS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RESULTS: LAYER-WISE NEURAL COLLAPSE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RESULTS: FINAL NC METRICS (EPOCH 50)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Layer 1 (64-d)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Layer 2 (128-d)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Layer 3 (256-d)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Layer 4 (512-d)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Trend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10515600" cy="50292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56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NC1 (Sw/Sb) ↓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562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0.783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562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Calibri"/>
              </a:defRPr>
            </a:pPr>
            <a:r>
              <a:t>0.659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562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CC71"/>
                </a:solidFill>
                <a:latin typeface="Calibri"/>
              </a:defRPr>
            </a:pPr>
            <a:r>
              <a:t>0.630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8562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98DB"/>
                </a:solidFill>
                <a:latin typeface="Calibri"/>
              </a:defRPr>
            </a:pPr>
            <a:r>
              <a:t>0.584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8562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✅ Monotonic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31720"/>
            <a:ext cx="105156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404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NC2 (cos sim → −0.0099)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404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0.0138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404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Calibri"/>
              </a:defRPr>
            </a:pPr>
            <a:r>
              <a:t>0.0005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04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CC71"/>
                </a:solidFill>
                <a:latin typeface="Calibri"/>
              </a:defRPr>
            </a:pPr>
            <a:r>
              <a:t>-0.0040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04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98DB"/>
                </a:solidFill>
                <a:latin typeface="Calibri"/>
              </a:defRPr>
            </a:pPr>
            <a:r>
              <a:t>-0.0035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404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✅ Approaching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880360"/>
            <a:ext cx="10515600" cy="50292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95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NC3 (alignment → 1.0)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953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0.657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953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Calibri"/>
              </a:defRPr>
            </a:pPr>
            <a:r>
              <a:t>0.758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953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CC71"/>
                </a:solidFill>
                <a:latin typeface="Calibri"/>
              </a:defRPr>
            </a:pPr>
            <a:r>
              <a:t>0.744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953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98DB"/>
                </a:solidFill>
                <a:latin typeface="Calibri"/>
              </a:defRPr>
            </a:pPr>
            <a:r>
              <a:t>0.709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953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✅ Strong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429000"/>
            <a:ext cx="105156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502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NC4 (NCC acc ↑ better)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502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29.5%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502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Calibri"/>
              </a:defRPr>
            </a:pPr>
            <a:r>
              <a:t>53.2%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502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CC71"/>
                </a:solidFill>
                <a:latin typeface="Calibri"/>
              </a:defRPr>
            </a:pPr>
            <a:r>
              <a:t>78.1%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502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98DB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502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✅ Monotonic 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105156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🔑  KEY FINDING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480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Neural Collapse strengthens monotonically from shallow → deep layers. NC1 decreases (0.783 → 0.584) and NC4 increases (29.5% → 85.5%) across all 4 residual blocks, confirming the progressive collapse hypothesis on a fine-grained dataset.</a:t>
            </a:r>
          </a:p>
        </p:txBody>
      </p:sp>
      <p:pic>
        <p:nvPicPr>
          <p:cNvPr id="42" name="Picture 41" descr="nc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394960"/>
            <a:ext cx="1051560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RESULTS: EARLY EXIT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Avg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Speedup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L1 Exits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L2 Exits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L3 Exits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L4 Exits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10515600" cy="4114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0.50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82.03%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3.20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Calibri"/>
              </a:defRPr>
            </a:pPr>
            <a:r>
              <a:t>1.25×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506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3,895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1,745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148840"/>
            <a:ext cx="105156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82.58%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3.41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Calibri"/>
              </a:defRPr>
            </a:pPr>
            <a:r>
              <a:t>1.17×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196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3,243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2,710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606040"/>
            <a:ext cx="10515600" cy="4114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0.90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82.65%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3.66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Calibri"/>
              </a:defRPr>
            </a:pPr>
            <a:r>
              <a:t>1.09×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2,063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4,067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063240"/>
            <a:ext cx="105156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0.99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82.62%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3.92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Calibri"/>
              </a:defRPr>
            </a:pPr>
            <a:r>
              <a:t>1.02×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502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5,647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3474720"/>
            <a:ext cx="4937760" cy="29260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3657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📊 Key Observations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41148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At τ=0.50: Exit 3 handles 63% of all samples (3,895/6,149)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Accuracy stays stable (~82.6%) across all thresholds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Exit 1 almost never triggers — NC too weak at 64-d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Exit 3 is the "sweet spot" — strong NC, good accuracy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1.25× speedup achievable with &lt;1% accuracy loss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3474720"/>
            <a:ext cx="5303520" cy="29260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🔥 Shannon Entropy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41148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Exit 1:  H = 4.06  (near-random — 102 classes)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Exit 2:  H = 3.24  (still uncertain)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Exit 3:  H = 1.14  (confident decisions)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Exit 4:  H = 0.43  (highly confident)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Entropy drops 10× from Layer 1 → Layer 4,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directly mirroring NC strength progression.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RESULTS: OOD DETECTION (LIU &amp; QIN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In-Distribution: Flowers-102  |  Out-of-Distribution: CIFAR-10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4688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4C3C"/>
                </a:solidFill>
                <a:latin typeface="Calibri"/>
              </a:defRPr>
            </a:pPr>
            <a:r>
              <a:t>Exit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Gap: −0.081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OOD closer than ID!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4688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4688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Exit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Gap: −0.047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OOD still closer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4688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24688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Exit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Gap: +0.056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ID closer — detection works!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737360"/>
            <a:ext cx="24688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737360"/>
            <a:ext cx="24688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874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t>Exit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Gap: +0.139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Strong separation!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1051560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754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🔑  OOD DETECTION VALIDATES PROGRESSIVE COLLAPSE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120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OOD detection ONLY works at Layers 3–4 (positive gap = ID data closer to class centers). Layers 1–2 CANNOT distinguish in-distribution from out-of-distribution data. This directly confirms that OOD detection reliability requires strong Neural Collapse geometry — exactly as Liu &amp; Qin (2025) theorized, but now validated at intermediate layers for the first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0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Progressive Collapse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NC1–NC4 metrics improve monotonically from Layer 1 → Layer 4, confirming that Neural Collapse develops progressively through intermediate residual blocks — not just at the final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5156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50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697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06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NC Strength Predicts Exit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71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Strong positive correlation between NC4 (NCC accuracy) and exit classifier accuracy. Layers with NC4 &gt; 50% produce usable early exits; below that, predictions are unreliable.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5156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50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023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OOD Detection Requires Deep Collapse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97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Distance-based OOD detection fails completely at Layers 1–2 (negative gap) but succeeds at Layers 3–4 (positive gap), providing the first empirical evidence of layer-dependent OOD reliability.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66360"/>
            <a:ext cx="105156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166360"/>
            <a:ext cx="50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534924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257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Exit 3 is the Practical Sweet Spot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623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Layer 3 (256-d) achieves 77.3% accuracy with strong NC metrics, handles 63% of samples at τ=0.50, and provides meaningful OOD detection — making it the optimal early exit point.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FUTURE WORK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3444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Extended Training (100 epochs)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Currently running: Phase 2 training with fresh cosine LR schedule to push accuracy and NC metrics further.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515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8600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CIFAR-10 Comparative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06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Run identical pipeline on CIFAR-10 (10 classes, low geometric complexity) to validate Munn et al.'s prediction that simpler datasets exhibit stronger collapse.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515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3756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Multiplicative Logit Adjustment at Early Exits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Apply Hasegawa &amp; Sato's MLA to intermediate classifiers — does it help underrepresented classes at shallow layers?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10515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8912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t-SNE / PCA Feature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6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Visualize feature clustering at each layer to qualitatively complement the NC1–NC4 quantitative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10515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44068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Architecture Extension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76072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Extend to DenseNet (feature reuse effects), EfficientNet (scaling effects), and ViTs (attention vs convolution).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Aditya Arasamangalam  •  REU  •  Guide: Sunil Gurlahosur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