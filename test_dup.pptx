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2"/>
  </p:sldIdLst>
  <p:sldSz cy="5143500" cx="9144000"/>
  <p:notesSz cx="5143500" cy="9144000"/>
  <p:embeddedFontLst>
    <p:embeddedFont>
      <p:font typeface="Inter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996F48-4C62-4C66-BBC9-E9579EBA44FE}">
  <a:tblStyle styleId="{67996F48-4C62-4C66-BBC9-E9579EBA44F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Inter-bold.fntdata"/><Relationship Id="rId21" Type="http://schemas.openxmlformats.org/officeDocument/2006/relationships/font" Target="fonts/Inter-boldItalic.fntdata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_method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_method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_method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_method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385" cy="66929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914400"/>
            <a:ext cx="8229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Layer-wise Analysis of Feature Evolution 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Convolutional Neural Networks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828800" y="2857500"/>
            <a:ext cx="5486400" cy="36600"/>
          </a:xfrm>
          <a:prstGeom prst="rect">
            <a:avLst/>
          </a:prstGeom>
          <a:solidFill>
            <a:srgbClr val="B5192D"/>
          </a:solidFill>
          <a:ln cap="flat" cmpd="sng" w="12700">
            <a:solidFill>
              <a:srgbClr val="B519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3028950"/>
            <a:ext cx="82296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 xml:space="preserve"> Name:</a:t>
            </a:r>
            <a:r>
              <a:rPr b="1"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Aditya Arasamangalam</a:t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409950"/>
            <a:ext cx="82296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 Research Experience for Undergraduates | Guide: Dr Meena S M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29" name="Google Shape;2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" name="Google Shape;31;p4"/>
          <p:cNvGrpSpPr/>
          <p:nvPr/>
        </p:nvGrpSpPr>
        <p:grpSpPr>
          <a:xfrm>
            <a:off x="381000" y="952500"/>
            <a:ext cx="4095900" cy="1714500"/>
            <a:chOff x="381000" y="952500"/>
            <a:chExt cx="4095900" cy="1714500"/>
          </a:xfrm>
        </p:grpSpPr>
        <p:sp>
          <p:nvSpPr>
            <p:cNvPr id="32" name="Google Shape;32;p4"/>
            <p:cNvSpPr/>
            <p:nvPr/>
          </p:nvSpPr>
          <p:spPr>
            <a:xfrm>
              <a:off x="381000" y="952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81000" y="95250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1A365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 txBox="1"/>
            <p:nvPr/>
          </p:nvSpPr>
          <p:spPr>
            <a:xfrm>
              <a:off x="619125" y="1095375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365D"/>
                  </a:solidFill>
                  <a:latin typeface="Calibri"/>
                  <a:ea typeface="Calibri"/>
                  <a:cs typeface="Calibri"/>
                  <a:sym typeface="Calibri"/>
                </a:rPr>
                <a:t>Accuracy vs Interpretability</a:t>
              </a:r>
              <a:endParaRPr b="1" sz="1800">
                <a:solidFill>
                  <a:srgbClr val="1A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 txBox="1"/>
            <p:nvPr/>
          </p:nvSpPr>
          <p:spPr>
            <a:xfrm>
              <a:off x="619125" y="1524000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CNNs achieve high accuracy but lack interpretability, creating a gap between performance and understanding.</a:t>
              </a:r>
              <a:endParaRPr b="0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4"/>
          <p:cNvGrpSpPr/>
          <p:nvPr/>
        </p:nvGrpSpPr>
        <p:grpSpPr>
          <a:xfrm>
            <a:off x="4667250" y="952500"/>
            <a:ext cx="4095900" cy="1714500"/>
            <a:chOff x="4667250" y="952500"/>
            <a:chExt cx="4095900" cy="1714500"/>
          </a:xfrm>
        </p:grpSpPr>
        <p:sp>
          <p:nvSpPr>
            <p:cNvPr id="37" name="Google Shape;37;p4"/>
            <p:cNvSpPr/>
            <p:nvPr/>
          </p:nvSpPr>
          <p:spPr>
            <a:xfrm>
              <a:off x="4667250" y="952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4667250" y="95250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1A365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 txBox="1"/>
            <p:nvPr/>
          </p:nvSpPr>
          <p:spPr>
            <a:xfrm>
              <a:off x="4905375" y="1095375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365D"/>
                  </a:solidFill>
                  <a:latin typeface="Calibri"/>
                  <a:ea typeface="Calibri"/>
                  <a:cs typeface="Calibri"/>
                  <a:sym typeface="Calibri"/>
                </a:rPr>
                <a:t>Black Box Problem</a:t>
              </a:r>
              <a:endParaRPr b="1" sz="1800">
                <a:solidFill>
                  <a:srgbClr val="1A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 txBox="1"/>
            <p:nvPr/>
          </p:nvSpPr>
          <p:spPr>
            <a:xfrm>
              <a:off x="4905375" y="1524000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Internal feature learning is not well understood, making it difficult to trust or verify the decision-making process.</a:t>
              </a:r>
              <a:endParaRPr b="0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4"/>
          <p:cNvGrpSpPr/>
          <p:nvPr/>
        </p:nvGrpSpPr>
        <p:grpSpPr>
          <a:xfrm>
            <a:off x="381000" y="2857500"/>
            <a:ext cx="4095900" cy="1714500"/>
            <a:chOff x="381000" y="2857500"/>
            <a:chExt cx="4095900" cy="1714500"/>
          </a:xfrm>
        </p:grpSpPr>
        <p:sp>
          <p:nvSpPr>
            <p:cNvPr id="42" name="Google Shape;42;p4"/>
            <p:cNvSpPr/>
            <p:nvPr/>
          </p:nvSpPr>
          <p:spPr>
            <a:xfrm>
              <a:off x="381000" y="2857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381000" y="285750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B519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 txBox="1"/>
            <p:nvPr/>
          </p:nvSpPr>
          <p:spPr>
            <a:xfrm>
              <a:off x="619125" y="3000375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B5192D"/>
                  </a:solidFill>
                  <a:latin typeface="Calibri"/>
                  <a:ea typeface="Calibri"/>
                  <a:cs typeface="Calibri"/>
                  <a:sym typeface="Calibri"/>
                </a:rPr>
                <a:t>Output-Centric View</a:t>
              </a:r>
              <a:endParaRPr b="1" sz="1800">
                <a:solidFill>
                  <a:srgbClr val="B5192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4"/>
            <p:cNvSpPr txBox="1"/>
            <p:nvPr/>
          </p:nvSpPr>
          <p:spPr>
            <a:xfrm>
              <a:off x="619125" y="3429000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Most work focuses on final outputs, leaving a critical knowledge gap regarding intermediate layer representations.</a:t>
              </a:r>
              <a:endParaRPr b="0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4"/>
          <p:cNvGrpSpPr/>
          <p:nvPr/>
        </p:nvGrpSpPr>
        <p:grpSpPr>
          <a:xfrm>
            <a:off x="4667250" y="2857500"/>
            <a:ext cx="4095900" cy="1714500"/>
            <a:chOff x="4667250" y="2857500"/>
            <a:chExt cx="4095900" cy="1714500"/>
          </a:xfrm>
        </p:grpSpPr>
        <p:sp>
          <p:nvSpPr>
            <p:cNvPr id="47" name="Google Shape;47;p4"/>
            <p:cNvSpPr/>
            <p:nvPr/>
          </p:nvSpPr>
          <p:spPr>
            <a:xfrm>
              <a:off x="4667250" y="2857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4667250" y="285750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B519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 txBox="1"/>
            <p:nvPr/>
          </p:nvSpPr>
          <p:spPr>
            <a:xfrm>
              <a:off x="4905375" y="3000375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B5192D"/>
                  </a:solidFill>
                  <a:latin typeface="Calibri"/>
                  <a:ea typeface="Calibri"/>
                  <a:cs typeface="Calibri"/>
                  <a:sym typeface="Calibri"/>
                </a:rPr>
                <a:t>Trust &amp; Explainability</a:t>
              </a:r>
              <a:endParaRPr b="1" sz="1800">
                <a:solidFill>
                  <a:srgbClr val="B5192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4"/>
            <p:cNvSpPr txBox="1"/>
            <p:nvPr/>
          </p:nvSpPr>
          <p:spPr>
            <a:xfrm>
              <a:off x="4905375" y="3429000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Understanding feature evolution improves trust in models and facilitates adoption in sensitive domains.</a:t>
              </a:r>
              <a:endParaRPr b="0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" name="Google Shape;51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5121" y="0"/>
            <a:ext cx="2808879" cy="6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ProblemStatementText"/>
          <p:cNvSpPr txBox="1"/>
          <p:nvPr/>
        </p:nvSpPr>
        <p:spPr>
          <a:xfrm>
            <a:off x="381000" y="900000"/>
            <a:ext cx="8382000" cy="4200000"/>
          </a:xfrm>
          <a:prstGeom prst="rect">
            <a:avLst/>
          </a:prstGeom>
          <a:solidFill>
            <a:srgbClr val="F2F2F2"/>
          </a:solidFill>
          <a:ln>
            <a:solidFill>
              <a:srgbClr val="D0D8E8"/>
            </a:solidFill>
          </a:ln>
        </p:spPr>
        <p:txBody>
          <a:bodyPr anchorCtr="0" anchor="ctr" bIns="182880" lIns="182880" rIns="182880" tIns="182880" wrap="square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365D"/>
                </a:solidFill>
                <a:latin typeface="Calibri"/>
              </a:rPr>
              <a:t>To investigate how internal representations in CNNs evolve across layers and to identify the role of dataset properties in shaping these representations.</a:t>
            </a:r>
          </a:p>
          <a:p>
            <a:pPr indent="0" lvl="0" marL="0" rtl="0" algn="ctr">
              <a:spcBef>
                <a:spcPts val="400"/>
              </a:spcBef>
              <a:buNone/>
            </a:pP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6750"/>
            <a:ext cx="9144000" cy="44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67" name="Google Shape;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Objectives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6"/>
          <p:cNvGrpSpPr/>
          <p:nvPr/>
        </p:nvGrpSpPr>
        <p:grpSpPr>
          <a:xfrm>
            <a:off x="381000" y="1047750"/>
            <a:ext cx="8382000" cy="952500"/>
            <a:chOff x="381000" y="1047750"/>
            <a:chExt cx="8382000" cy="952500"/>
          </a:xfrm>
        </p:grpSpPr>
        <p:sp>
          <p:nvSpPr>
            <p:cNvPr id="70" name="Google Shape;70;p6"/>
            <p:cNvSpPr/>
            <p:nvPr/>
          </p:nvSpPr>
          <p:spPr>
            <a:xfrm>
              <a:off x="381000" y="1047750"/>
              <a:ext cx="83820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381000" y="104775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1A365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 txBox="1"/>
            <p:nvPr/>
          </p:nvSpPr>
          <p:spPr>
            <a:xfrm>
              <a:off x="619125" y="10477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A365D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2800">
                <a:solidFill>
                  <a:srgbClr val="1A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6"/>
            <p:cNvSpPr txBox="1"/>
            <p:nvPr/>
          </p:nvSpPr>
          <p:spPr>
            <a:xfrm>
              <a:off x="1381125" y="1047750"/>
              <a:ext cx="7191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Analyze Hierarchical Feature Maps and Activation Statistics</a:t>
              </a:r>
              <a:endParaRPr b="1"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Investigate feature representations and quantify activation sparsity across convolutional layers.</a:t>
              </a:r>
              <a:endParaRPr b="0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6"/>
          <p:cNvGrpSpPr/>
          <p:nvPr/>
        </p:nvGrpSpPr>
        <p:grpSpPr>
          <a:xfrm>
            <a:off x="381000" y="2190750"/>
            <a:ext cx="8382000" cy="952500"/>
            <a:chOff x="381000" y="2190750"/>
            <a:chExt cx="8382000" cy="952500"/>
          </a:xfrm>
        </p:grpSpPr>
        <p:sp>
          <p:nvSpPr>
            <p:cNvPr id="75" name="Google Shape;75;p6"/>
            <p:cNvSpPr/>
            <p:nvPr/>
          </p:nvSpPr>
          <p:spPr>
            <a:xfrm>
              <a:off x="381000" y="2190750"/>
              <a:ext cx="83820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381000" y="219075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0D6B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6"/>
            <p:cNvSpPr txBox="1"/>
            <p:nvPr/>
          </p:nvSpPr>
          <p:spPr>
            <a:xfrm>
              <a:off x="619125" y="21907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D6B8C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2800">
                <a:solidFill>
                  <a:srgbClr val="0D6B8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6"/>
            <p:cNvSpPr txBox="1"/>
            <p:nvPr/>
          </p:nvSpPr>
          <p:spPr>
            <a:xfrm>
              <a:off x="1381125" y="2190750"/>
              <a:ext cx="7191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Study Cross-Dataset Behavioral Patterns</a:t>
              </a:r>
              <a:endParaRPr b="1"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Compare internal model responses across multiple datasets to identify consistent learning trends.</a:t>
              </a:r>
              <a:endParaRPr b="0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6"/>
          <p:cNvGrpSpPr/>
          <p:nvPr/>
        </p:nvGrpSpPr>
        <p:grpSpPr>
          <a:xfrm>
            <a:off x="381000" y="3333750"/>
            <a:ext cx="8382000" cy="952500"/>
            <a:chOff x="381000" y="3333750"/>
            <a:chExt cx="8382000" cy="952500"/>
          </a:xfrm>
        </p:grpSpPr>
        <p:sp>
          <p:nvSpPr>
            <p:cNvPr id="80" name="Google Shape;80;p6"/>
            <p:cNvSpPr/>
            <p:nvPr/>
          </p:nvSpPr>
          <p:spPr>
            <a:xfrm>
              <a:off x="381000" y="3333750"/>
              <a:ext cx="83820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381000" y="333375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B519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6"/>
            <p:cNvSpPr txBox="1"/>
            <p:nvPr/>
          </p:nvSpPr>
          <p:spPr>
            <a:xfrm>
              <a:off x="619125" y="33337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B5192D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2800">
                <a:solidFill>
                  <a:srgbClr val="B5192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6"/>
            <p:cNvSpPr txBox="1"/>
            <p:nvPr/>
          </p:nvSpPr>
          <p:spPr>
            <a:xfrm>
              <a:off x="1381125" y="3333750"/>
              <a:ext cx="7191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Link Data Properties to Representation Learning</a:t>
              </a:r>
              <a:endParaRPr b="1"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Establish a mathematical link between input dataset characteristics and resulting feature geometry.</a:t>
              </a:r>
              <a:endParaRPr b="0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90" name="Google Shape;9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/>
          <p:nvPr/>
        </p:nvSpPr>
        <p:spPr>
          <a:xfrm>
            <a:off x="666750" y="0"/>
            <a:ext cx="8476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Prevalence of Neural Collapse during the Terminal Phase of Deep Learning Training (2021)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7"/>
          <p:cNvGrpSpPr/>
          <p:nvPr/>
        </p:nvGrpSpPr>
        <p:grpSpPr>
          <a:xfrm>
            <a:off x="285750" y="762000"/>
            <a:ext cx="8572500" cy="381000"/>
            <a:chOff x="285750" y="762000"/>
            <a:chExt cx="8572500" cy="381000"/>
          </a:xfrm>
        </p:grpSpPr>
        <p:sp>
          <p:nvSpPr>
            <p:cNvPr id="93" name="Google Shape;93;p7"/>
            <p:cNvSpPr/>
            <p:nvPr/>
          </p:nvSpPr>
          <p:spPr>
            <a:xfrm>
              <a:off x="285750" y="762000"/>
              <a:ext cx="8572500" cy="3810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7"/>
            <p:cNvSpPr txBox="1"/>
            <p:nvPr/>
          </p:nvSpPr>
          <p:spPr>
            <a:xfrm>
              <a:off x="381000" y="762000"/>
              <a:ext cx="142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PROBLEM STATEMENT</a:t>
              </a:r>
              <a:endParaRPr b="1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7"/>
            <p:cNvSpPr txBox="1"/>
            <p:nvPr/>
          </p:nvSpPr>
          <p:spPr>
            <a:xfrm>
              <a:off x="1905000" y="762000"/>
              <a:ext cx="685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Deep learning models in the terminal training phase show an unexpected geometric phenomenon where class representations collapse into tight clusters, but the mathematical conditions are not fully characterized.</a:t>
              </a:r>
              <a:endPara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7"/>
          <p:cNvGrpSpPr/>
          <p:nvPr/>
        </p:nvGrpSpPr>
        <p:grpSpPr>
          <a:xfrm>
            <a:off x="285750" y="1285875"/>
            <a:ext cx="2667000" cy="1762275"/>
            <a:chOff x="285750" y="1285875"/>
            <a:chExt cx="2667000" cy="1762275"/>
          </a:xfrm>
        </p:grpSpPr>
        <p:sp>
          <p:nvSpPr>
            <p:cNvPr id="97" name="Google Shape;97;p7"/>
            <p:cNvSpPr/>
            <p:nvPr/>
          </p:nvSpPr>
          <p:spPr>
            <a:xfrm>
              <a:off x="285750" y="1285875"/>
              <a:ext cx="2667000" cy="2859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 txBox="1"/>
            <p:nvPr/>
          </p:nvSpPr>
          <p:spPr>
            <a:xfrm>
              <a:off x="285750" y="1285875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OBJECTIVES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85750" y="1619250"/>
              <a:ext cx="2667000" cy="142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7"/>
            <p:cNvSpPr txBox="1"/>
            <p:nvPr/>
          </p:nvSpPr>
          <p:spPr>
            <a:xfrm>
              <a:off x="428625" y="171450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000"/>
                <a:buFont typeface="Calibri"/>
                <a:buChar char="●"/>
              </a:pPr>
              <a:r>
                <a:rPr lang="en-US" sz="100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Identify and characterize neural collapse in deep networks</a:t>
              </a:r>
              <a:endParaRPr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74151"/>
                </a:buClr>
                <a:buSzPts val="1000"/>
                <a:buFont typeface="Calibri"/>
                <a:buChar char="●"/>
              </a:pPr>
              <a:r>
                <a:rPr lang="en-US" sz="100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Analyze geometric structure of final-layer representations</a:t>
              </a:r>
              <a:endParaRPr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74151"/>
                </a:buClr>
                <a:buSzPts val="1000"/>
                <a:buFont typeface="Calibri"/>
                <a:buChar char="●"/>
              </a:pPr>
              <a:r>
                <a:rPr lang="en-US" sz="100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Understand implications for generalization and feature quality</a:t>
              </a:r>
              <a:endParaRPr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7"/>
          <p:cNvGrpSpPr/>
          <p:nvPr/>
        </p:nvGrpSpPr>
        <p:grpSpPr>
          <a:xfrm>
            <a:off x="285750" y="3190875"/>
            <a:ext cx="2667000" cy="1714575"/>
            <a:chOff x="285750" y="3190875"/>
            <a:chExt cx="2667000" cy="1714575"/>
          </a:xfrm>
        </p:grpSpPr>
        <p:sp>
          <p:nvSpPr>
            <p:cNvPr id="102" name="Google Shape;102;p7"/>
            <p:cNvSpPr/>
            <p:nvPr/>
          </p:nvSpPr>
          <p:spPr>
            <a:xfrm>
              <a:off x="285750" y="3190875"/>
              <a:ext cx="2667000" cy="2859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7"/>
            <p:cNvSpPr txBox="1"/>
            <p:nvPr/>
          </p:nvSpPr>
          <p:spPr>
            <a:xfrm>
              <a:off x="285750" y="3190875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METHODOLOGY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285750" y="3524250"/>
              <a:ext cx="2667000" cy="1381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7"/>
            <p:cNvSpPr txBox="1"/>
            <p:nvPr/>
          </p:nvSpPr>
          <p:spPr>
            <a:xfrm>
              <a:off x="428625" y="3619500"/>
              <a:ext cx="2381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Analyze trained deep neural networks at terminal phase. Measure within-class variability vs between-class separation. Study feature geometry using linear discriminant analysis.</a:t>
              </a:r>
              <a:endParaRPr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3238500" y="1285875"/>
            <a:ext cx="2667000" cy="1762275"/>
            <a:chOff x="3238500" y="1285875"/>
            <a:chExt cx="2667000" cy="1762275"/>
          </a:xfrm>
        </p:grpSpPr>
        <p:sp>
          <p:nvSpPr>
            <p:cNvPr id="107" name="Google Shape;107;p7"/>
            <p:cNvSpPr/>
            <p:nvPr/>
          </p:nvSpPr>
          <p:spPr>
            <a:xfrm>
              <a:off x="3238500" y="1285875"/>
              <a:ext cx="2667000" cy="28590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 txBox="1"/>
            <p:nvPr/>
          </p:nvSpPr>
          <p:spPr>
            <a:xfrm>
              <a:off x="3238500" y="1285875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PROPOSED SOLUTION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3238500" y="1619250"/>
              <a:ext cx="2667000" cy="142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3381375" y="171450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Mathematically characterize neural collapse by analyzing class-mean convergence, weight-feature duality, and equinorm clustering across classification tasks and architectures.</a:t>
              </a:r>
              <a:endParaRPr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7"/>
          <p:cNvGrpSpPr/>
          <p:nvPr/>
        </p:nvGrpSpPr>
        <p:grpSpPr>
          <a:xfrm>
            <a:off x="3238500" y="3190875"/>
            <a:ext cx="2667000" cy="1714575"/>
            <a:chOff x="3238500" y="3190875"/>
            <a:chExt cx="2667000" cy="1714575"/>
          </a:xfrm>
        </p:grpSpPr>
        <p:sp>
          <p:nvSpPr>
            <p:cNvPr id="112" name="Google Shape;112;p7"/>
            <p:cNvSpPr/>
            <p:nvPr/>
          </p:nvSpPr>
          <p:spPr>
            <a:xfrm>
              <a:off x="3238500" y="3190875"/>
              <a:ext cx="2667000" cy="285900"/>
            </a:xfrm>
            <a:prstGeom prst="rect">
              <a:avLst/>
            </a:prstGeom>
            <a:solidFill>
              <a:srgbClr val="6B72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7"/>
            <p:cNvSpPr txBox="1"/>
            <p:nvPr/>
          </p:nvSpPr>
          <p:spPr>
            <a:xfrm>
              <a:off x="3238500" y="3190875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CONCLUSION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3238500" y="3524250"/>
              <a:ext cx="2667000" cy="1381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7"/>
            <p:cNvSpPr txBox="1"/>
            <p:nvPr/>
          </p:nvSpPr>
          <p:spPr>
            <a:xfrm>
              <a:off x="3381375" y="3619500"/>
              <a:ext cx="2381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925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Neural collapse is a universal phenomenon in overparameterized networks that reveals how deep learning implicitly optimizes feature geometry, with direct implications for interpretability.</a:t>
              </a:r>
              <a:endParaRPr i="1" sz="925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0" lang="en-US" sz="694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REFERENCE:</a:t>
              </a:r>
              <a:endParaRPr b="1" i="0" sz="694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694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Papyan et al., Prevalence of Neural Collapse during the Terminal Phase of Deep Learning Training, PNAS, 2020.</a:t>
              </a:r>
              <a:endParaRPr b="0" i="1" sz="694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7"/>
          <p:cNvGrpSpPr/>
          <p:nvPr/>
        </p:nvGrpSpPr>
        <p:grpSpPr>
          <a:xfrm>
            <a:off x="6191250" y="1285875"/>
            <a:ext cx="2667000" cy="3619575"/>
            <a:chOff x="6191250" y="1285875"/>
            <a:chExt cx="2667000" cy="3619575"/>
          </a:xfrm>
        </p:grpSpPr>
        <p:sp>
          <p:nvSpPr>
            <p:cNvPr id="117" name="Google Shape;117;p7"/>
            <p:cNvSpPr/>
            <p:nvPr/>
          </p:nvSpPr>
          <p:spPr>
            <a:xfrm>
              <a:off x="6191250" y="1285875"/>
              <a:ext cx="2667000" cy="285900"/>
            </a:xfrm>
            <a:prstGeom prst="rect">
              <a:avLst/>
            </a:prstGeom>
            <a:solidFill>
              <a:srgbClr val="3741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7"/>
            <p:cNvSpPr txBox="1"/>
            <p:nvPr/>
          </p:nvSpPr>
          <p:spPr>
            <a:xfrm>
              <a:off x="6191250" y="1285875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RESULTS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6191250" y="1619250"/>
              <a:ext cx="2667000" cy="3286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" name="Google Shape;120;p7"/>
            <p:cNvGrpSpPr/>
            <p:nvPr/>
          </p:nvGrpSpPr>
          <p:grpSpPr>
            <a:xfrm>
              <a:off x="6343650" y="1714500"/>
              <a:ext cx="2371875" cy="381000"/>
              <a:chOff x="6343650" y="1714500"/>
              <a:chExt cx="2371875" cy="381000"/>
            </a:xfrm>
          </p:grpSpPr>
          <p:sp>
            <p:nvSpPr>
              <p:cNvPr id="121" name="Google Shape;121;p7"/>
              <p:cNvSpPr/>
              <p:nvPr/>
            </p:nvSpPr>
            <p:spPr>
              <a:xfrm>
                <a:off x="6343650" y="1866900"/>
                <a:ext cx="76200" cy="762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7"/>
              <p:cNvSpPr txBox="1"/>
              <p:nvPr/>
            </p:nvSpPr>
            <p:spPr>
              <a:xfrm>
                <a:off x="6524625" y="1714500"/>
                <a:ext cx="2190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37415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Features collapse into tight clusters near terminal training</a:t>
                </a:r>
                <a:endParaRPr sz="95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7"/>
            <p:cNvGrpSpPr/>
            <p:nvPr/>
          </p:nvGrpSpPr>
          <p:grpSpPr>
            <a:xfrm>
              <a:off x="6343650" y="2286000"/>
              <a:ext cx="2371875" cy="381000"/>
              <a:chOff x="6343650" y="2286000"/>
              <a:chExt cx="2371875" cy="381000"/>
            </a:xfrm>
          </p:grpSpPr>
          <p:sp>
            <p:nvSpPr>
              <p:cNvPr id="124" name="Google Shape;124;p7"/>
              <p:cNvSpPr/>
              <p:nvPr/>
            </p:nvSpPr>
            <p:spPr>
              <a:xfrm>
                <a:off x="6343650" y="2438400"/>
                <a:ext cx="76200" cy="762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7"/>
              <p:cNvSpPr txBox="1"/>
              <p:nvPr/>
            </p:nvSpPr>
            <p:spPr>
              <a:xfrm>
                <a:off x="6524625" y="2286000"/>
                <a:ext cx="2190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37415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Between-class separation becomes maximal relative to within-class spread</a:t>
                </a:r>
                <a:endParaRPr sz="95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" name="Google Shape;126;p7"/>
            <p:cNvGrpSpPr/>
            <p:nvPr/>
          </p:nvGrpSpPr>
          <p:grpSpPr>
            <a:xfrm>
              <a:off x="6343650" y="2857500"/>
              <a:ext cx="2371875" cy="381000"/>
              <a:chOff x="6343650" y="2857500"/>
              <a:chExt cx="2371875" cy="381000"/>
            </a:xfrm>
          </p:grpSpPr>
          <p:sp>
            <p:nvSpPr>
              <p:cNvPr id="127" name="Google Shape;127;p7"/>
              <p:cNvSpPr/>
              <p:nvPr/>
            </p:nvSpPr>
            <p:spPr>
              <a:xfrm>
                <a:off x="6343650" y="3009900"/>
                <a:ext cx="76200" cy="762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7"/>
              <p:cNvSpPr txBox="1"/>
              <p:nvPr/>
            </p:nvSpPr>
            <p:spPr>
              <a:xfrm>
                <a:off x="6524625" y="2857500"/>
                <a:ext cx="2190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37415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Neural collapse predicts strong generalization performance</a:t>
                </a:r>
                <a:endParaRPr sz="95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9" name="Google Shape;129;p7"/>
            <p:cNvSpPr/>
            <p:nvPr/>
          </p:nvSpPr>
          <p:spPr>
            <a:xfrm>
              <a:off x="7143750" y="4000500"/>
              <a:ext cx="762000" cy="571500"/>
            </a:xfrm>
            <a:prstGeom prst="roundRect">
              <a:avLst>
                <a:gd fmla="val 6666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7"/>
            <p:cNvSpPr txBox="1"/>
            <p:nvPr/>
          </p:nvSpPr>
          <p:spPr>
            <a:xfrm>
              <a:off x="7143750" y="4053078"/>
              <a:ext cx="76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D1D5D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/>
              </a:r>
              <a:endParaRPr sz="3600">
                <a:solidFill>
                  <a:srgbClr val="D1D5D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pic>
        <p:nvPicPr>
          <p:cNvPr id="999" name="MethodologyDiagram"/>
          <p:cNvPicPr preferRelativeResize="0"/>
          <p:nvPr/>
        </p:nvPicPr>
        <p:blipFill rotWithShape="1">
          <a:blip r:embed="rId5"/>
          <a:stretch/>
        </p:blipFill>
        <p:spPr>
          <a:xfrm>
            <a:off x="6200000" y="3350000"/>
            <a:ext cx="2700000" cy="12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4">
            <a:alphaModFix/>
          </a:blip>
          <a:srcRect b="0" l="11271" r="11263" t="0"/>
          <a:stretch/>
        </p:blipFill>
        <p:spPr>
          <a:xfrm>
            <a:off x="142875" y="9525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/>
          <p:nvPr/>
        </p:nvSpPr>
        <p:spPr>
          <a:xfrm>
            <a:off x="666750" y="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Visualizing and Understanding Convolutional Networks </a:t>
            </a:r>
            <a:r>
              <a:rPr b="0" lang="en-US" sz="14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(Zeiler &amp; Fergus, 2014)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0" y="666750"/>
            <a:ext cx="9144000" cy="47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285750" y="1285875"/>
            <a:ext cx="2762400" cy="285900"/>
          </a:xfrm>
          <a:prstGeom prst="roundRect">
            <a:avLst>
              <a:gd fmla="val 13333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285750" y="1285875"/>
            <a:ext cx="2762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285750" y="1571625"/>
            <a:ext cx="2762400" cy="1428900"/>
          </a:xfrm>
          <a:prstGeom prst="roundRect">
            <a:avLst>
              <a:gd fmla="val 266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428625" y="1666875"/>
            <a:ext cx="24765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Develop techniques to visualize feature detectors at each CNN layer</a:t>
            </a:r>
            <a:endParaRPr b="0"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Understand how input stimuli activate convolutional filters</a:t>
            </a:r>
            <a:endParaRPr b="0"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Use insights to improve CNN architecture design</a:t>
            </a:r>
            <a:endParaRPr b="0"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85750" y="3143250"/>
            <a:ext cx="2762400" cy="285900"/>
          </a:xfrm>
          <a:prstGeom prst="roundRect">
            <a:avLst>
              <a:gd fmla="val 13333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285750" y="3143250"/>
            <a:ext cx="2762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85750" y="3476625"/>
            <a:ext cx="2762400" cy="1381200"/>
          </a:xfrm>
          <a:prstGeom prst="roundRect">
            <a:avLst>
              <a:gd fmla="val 2758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428625" y="3571875"/>
            <a:ext cx="24765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Use deconvolutional networks to project feature activations back to input pixel space. Analyze which image regions maximally activate each filter. Compare learned features across depths.</a:t>
            </a:r>
            <a:endParaRPr b="0"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190875" y="1285875"/>
            <a:ext cx="2762400" cy="285900"/>
          </a:xfrm>
          <a:prstGeom prst="roundRect">
            <a:avLst>
              <a:gd fmla="val 13333" name="adj"/>
            </a:avLst>
          </a:prstGeom>
          <a:solidFill>
            <a:srgbClr val="4D4D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3190875" y="1285875"/>
            <a:ext cx="2762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190875" y="1571625"/>
            <a:ext cx="2762400" cy="1428900"/>
          </a:xfrm>
          <a:prstGeom prst="roundRect">
            <a:avLst>
              <a:gd fmla="val 266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3333750" y="1666875"/>
            <a:ext cx="24765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Introduce deconvnet-based visualization to map activations back to input space, revealing hierarchical feature learning from edges in early layers to semantic concepts in deep layers.</a:t>
            </a:r>
            <a:endParaRPr b="0"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190875" y="3143250"/>
            <a:ext cx="2762400" cy="285900"/>
          </a:xfrm>
          <a:prstGeom prst="roundRect">
            <a:avLst>
              <a:gd fmla="val 13333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3190875" y="3143250"/>
            <a:ext cx="2762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190875" y="3476625"/>
            <a:ext cx="2762400" cy="1381200"/>
          </a:xfrm>
          <a:prstGeom prst="roundRect">
            <a:avLst>
              <a:gd fmla="val 2758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3333750" y="3571875"/>
            <a:ext cx="24765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Layer-wise visualization confirms CNNs learn hierarchical representations, motivating analysis of feature evolution as a path to interpretable architectures.</a:t>
            </a:r>
            <a:endParaRPr b="0" i="1" sz="9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REFERENCE:</a:t>
            </a:r>
            <a:endParaRPr b="1" i="0" sz="8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Zeiler &amp; Fergus, Visualizing and Understanding Convolutional Networks, ECCV, 2014.</a:t>
            </a:r>
            <a:endParaRPr b="0" i="1" sz="8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096000" y="1285875"/>
            <a:ext cx="2762400" cy="285900"/>
          </a:xfrm>
          <a:prstGeom prst="roundRect">
            <a:avLst>
              <a:gd fmla="val 13333" name="adj"/>
            </a:avLst>
          </a:prstGeom>
          <a:solidFill>
            <a:srgbClr val="8080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6096000" y="1285875"/>
            <a:ext cx="2762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096000" y="1571625"/>
            <a:ext cx="2762400" cy="328620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296025" y="191452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6477000" y="1714500"/>
            <a:ext cx="22383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Early layers detect edges and color blobs; deeper layers learn textures and semantic parts</a:t>
            </a:r>
            <a:endParaRPr b="0" sz="9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296025" y="258127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6477000" y="2381250"/>
            <a:ext cx="22383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Layer-wise feature specificity increases with depth</a:t>
            </a:r>
            <a:endParaRPr b="0" sz="9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296025" y="324802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6477000" y="3048000"/>
            <a:ext cx="22383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Visualization guided removal of redundant filters, improving AlexNet accuracy</a:t>
            </a:r>
            <a:endParaRPr b="0" sz="9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0" y="0"/>
            <a:ext cx="952500" cy="762000"/>
          </a:xfrm>
          <a:prstGeom prst="roundRect">
            <a:avLst>
              <a:gd fmla="val 10000" name="adj"/>
            </a:avLst>
          </a:prstGeom>
          <a:solidFill>
            <a:srgbClr val="F9F9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7000875" y="3963670"/>
            <a:ext cx="95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B3B3B3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/>
            </a:r>
            <a:endParaRPr b="0" sz="4000">
              <a:solidFill>
                <a:srgbClr val="B3B3B3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285750" y="666750"/>
            <a:ext cx="1524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1"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1809750" y="666750"/>
            <a:ext cx="704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internal representations learned by CNNs across layers are opaque, making it difficult to understand what features are detected at each depth, limiting model debugging and design.</a:t>
            </a:r>
            <a:endParaRPr b="0"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9" name="MethodologyDiagram"/>
          <p:cNvPicPr preferRelativeResize="0"/>
          <p:nvPr/>
        </p:nvPicPr>
        <p:blipFill rotWithShape="1">
          <a:blip r:embed="rId5"/>
          <a:stretch/>
        </p:blipFill>
        <p:spPr>
          <a:xfrm>
            <a:off x="6200000" y="3350000"/>
            <a:ext cx="2700000" cy="12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175" name="Google Shape;17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Do ImageNet Classifiers Generalize to ImageNet? </a:t>
            </a:r>
            <a:r>
              <a:rPr b="0" lang="en-US" sz="140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(Recht et al., 2019)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0" y="666750"/>
            <a:ext cx="9144000" cy="476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285750" y="666750"/>
            <a:ext cx="1524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1"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809750" y="666750"/>
            <a:ext cx="704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is unclear how dataset properties (distribution, complexity, noise) affect the representations learned by CNNs across layers, limiting understanding of dataset-model interaction and generalization.</a:t>
            </a:r>
            <a:endParaRPr b="0" sz="10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285750" y="1285875"/>
            <a:ext cx="2667000" cy="285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285750" y="1285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285750" y="1571625"/>
            <a:ext cx="2667000" cy="142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28625" y="1666875"/>
            <a:ext cx="23814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Study how dataset distribution shifts affect CNN feature learning</a:t>
            </a:r>
            <a:endParaRPr sz="10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Evaluate whether accuracy reflects quality of learned representations</a:t>
            </a:r>
            <a:endParaRPr sz="10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Understand impact of dataset complexity on generalization</a:t>
            </a:r>
            <a:endParaRPr sz="10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285750" y="3190875"/>
            <a:ext cx="2667000" cy="2859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285750" y="3190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285750" y="3476625"/>
            <a:ext cx="2667000" cy="1381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428625" y="3571875"/>
            <a:ext cx="23814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Create new test sets replicating ImageNet collection methodology. Evaluate standard CNN models on original vs. new sets. Analyze representation differences across dataset variants.</a:t>
            </a:r>
            <a:endParaRPr sz="10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238500" y="1285875"/>
            <a:ext cx="2667000" cy="2859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238500" y="1285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238500" y="1571625"/>
            <a:ext cx="2667000" cy="142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381375" y="1666875"/>
            <a:ext cx="23814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Demonstrate that CNN performance drops on resampled datasets even with identical collection process, suggesting learned features overfit to dataset-specific biases beyond semantic content.</a:t>
            </a:r>
            <a:endParaRPr sz="10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238500" y="3190875"/>
            <a:ext cx="2667000" cy="2859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238500" y="3190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238500" y="3476625"/>
            <a:ext cx="2667000" cy="1381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3381375" y="3571875"/>
            <a:ext cx="23814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25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Dataset properties profoundly shape CNN feature evolution; studying layer-wise representations across multiple datasets is essential to understanding generalizable vs. dataset-specific features.</a:t>
            </a:r>
            <a:endParaRPr i="1" sz="925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74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REFERENCE:</a:t>
            </a:r>
            <a:endParaRPr b="1" sz="74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74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Recht et al., Do ImageNet Classifiers Generalize to ImageNet? ICML, 2019.</a:t>
            </a:r>
            <a:endParaRPr i="1" sz="74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191250" y="1285875"/>
            <a:ext cx="2667000" cy="2859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6191250" y="1285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191250" y="1571625"/>
            <a:ext cx="2667000" cy="328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343650" y="191452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6524625" y="1666875"/>
            <a:ext cx="2190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Model accuracy drops consistently on new test sets (3–15% gap)</a:t>
            </a:r>
            <a:endParaRPr sz="9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343650" y="258127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6524625" y="2333625"/>
            <a:ext cx="2190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Feature representations are more dataset-specific than previously assumed</a:t>
            </a:r>
            <a:endParaRPr sz="9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343650" y="324802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6524625" y="3000375"/>
            <a:ext cx="2190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Dataset complexity and label noise significantly affect what CNN layers learn</a:t>
            </a:r>
            <a:endParaRPr sz="9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7143750" y="4053078"/>
            <a:ext cx="762000" cy="571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D1D5D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/>
            </a:r>
            <a:endParaRPr sz="3600">
              <a:solidFill>
                <a:srgbClr val="D1D5D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999" name="MethodologyDiagram"/>
          <p:cNvPicPr preferRelativeResize="0"/>
          <p:nvPr/>
        </p:nvPicPr>
        <p:blipFill rotWithShape="1">
          <a:blip r:embed="rId5"/>
          <a:stretch/>
        </p:blipFill>
        <p:spPr>
          <a:xfrm>
            <a:off x="6200000" y="3350000"/>
            <a:ext cx="2700000" cy="12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10"/>
          <p:cNvPicPr preferRelativeResize="0"/>
          <p:nvPr/>
        </p:nvPicPr>
        <p:blipFill rotWithShape="1">
          <a:blip r:embed="rId3">
            <a:alphaModFix/>
          </a:blip>
          <a:srcRect b="0" l="11271" r="11263" t="0"/>
          <a:stretch/>
        </p:blipFill>
        <p:spPr>
          <a:xfrm>
            <a:off x="142875" y="9525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/>
          <p:nvPr/>
        </p:nvSpPr>
        <p:spPr>
          <a:xfrm>
            <a:off x="666750" y="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Understanding Deep Neural Networks with Rectified Linear Units </a:t>
            </a:r>
            <a:r>
              <a:rPr b="0" lang="en-US" sz="140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(Arora et al., 2018)</a:t>
            </a:r>
            <a:endParaRPr b="1"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0" y="666750"/>
            <a:ext cx="9144000" cy="47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285750" y="666750"/>
            <a:ext cx="1524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809750" y="666750"/>
            <a:ext cx="704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 relationship between activation statistics in intermediate CNN layers and the quality of learned decision boundaries is not well understood, making interpretability and optimization difficult.</a:t>
            </a:r>
            <a:endParaRPr b="0" sz="10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285750" y="1285875"/>
            <a:ext cx="2667000" cy="285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285750" y="1285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285750" y="1571625"/>
            <a:ext cx="2667000" cy="142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28625" y="1666875"/>
            <a:ext cx="23814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Inter"/>
              <a:buChar char="●"/>
            </a:pPr>
            <a:r>
              <a:rPr lang="en-US" sz="8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Analyze how ReLU activations shape feature geometry across layers</a:t>
            </a:r>
            <a:endParaRPr sz="8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2575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Inter"/>
              <a:buChar char="●"/>
            </a:pPr>
            <a:r>
              <a:rPr lang="en-US" sz="8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Study sparsity patterns and their relationship to decision boundaries</a:t>
            </a:r>
            <a:endParaRPr sz="8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2575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Inter"/>
              <a:buChar char="●"/>
            </a:pPr>
            <a:r>
              <a:rPr lang="en-US" sz="8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Connect activation statistics to model expressivity and generalization</a:t>
            </a:r>
            <a:endParaRPr sz="8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285750" y="3143250"/>
            <a:ext cx="2667000" cy="2859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285750" y="3143250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METHODOLOGY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285750" y="3476625"/>
            <a:ext cx="2667000" cy="1381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28625" y="3571875"/>
            <a:ext cx="23814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Theoretically analyze ReLU networks layer-by-layer. Measure sparsity, mean activation, and variance across layers. Map statistics to piecewise-linear decision regions.</a:t>
            </a:r>
            <a:endParaRPr b="0" sz="10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238500" y="1285875"/>
            <a:ext cx="2667000" cy="285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3238500" y="1285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PROPOSED SOLUTION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238500" y="1571625"/>
            <a:ext cx="2667000" cy="142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381375" y="1666875"/>
            <a:ext cx="23814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Show that ReLU networks create exponentially many linear regions as depth increases, and that activation sparsity patterns in intermediate layers directly determine decision boundary structure.</a:t>
            </a:r>
            <a:endParaRPr b="0" sz="10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238500" y="3143250"/>
            <a:ext cx="2667000" cy="2859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3238500" y="3143250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3238500" y="3476625"/>
            <a:ext cx="2667000" cy="1381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3381375" y="3571875"/>
            <a:ext cx="23814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7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Layer-wise activation statistics are directly tied to representation quality and decision boundaries — validating the importance of quantifying mean, variance, and sparsity across CNN layers.</a:t>
            </a:r>
            <a:endParaRPr i="1" sz="879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74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REFERENCE:</a:t>
            </a:r>
            <a:endParaRPr b="1" sz="74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1" lang="en-US" sz="74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Arora et al., Understanding Deep Neural Networks with Rectified Linear Units, ICLR, 2018.</a:t>
            </a:r>
            <a:endParaRPr i="1" sz="74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191250" y="1285875"/>
            <a:ext cx="2667000" cy="2859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191250" y="1285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RESULTS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191250" y="1571625"/>
            <a:ext cx="2667000" cy="328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6391275" y="191452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572250" y="1714500"/>
            <a:ext cx="2143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Deeper layers produce sparser, more discriminative activations</a:t>
            </a:r>
            <a:endParaRPr b="0" sz="9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391275" y="258127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6572250" y="2381250"/>
            <a:ext cx="2143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Mean and variance of activations correlate with decision boundary complexity</a:t>
            </a:r>
            <a:endParaRPr b="0" sz="9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391275" y="324802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572250" y="3048000"/>
            <a:ext cx="2143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Sparsity is a key indicator of feature specialization and class discrimination</a:t>
            </a:r>
            <a:endParaRPr b="0" sz="9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7048500" y="4020820"/>
            <a:ext cx="95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3B3B3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/>
            </a:r>
            <a:endParaRPr sz="4000">
              <a:solidFill>
                <a:srgbClr val="B3B3B3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999" name="MethodologyDiagram"/>
          <p:cNvPicPr preferRelativeResize="0"/>
          <p:nvPr/>
        </p:nvPicPr>
        <p:blipFill rotWithShape="1">
          <a:blip r:embed="rId4"/>
          <a:stretch/>
        </p:blipFill>
        <p:spPr>
          <a:xfrm>
            <a:off x="6200000" y="3350000"/>
            <a:ext cx="2700000" cy="12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249" name="Google Shape;24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Selection &amp; Analysis</a:t>
            </a:r>
            <a:endParaRPr b="1"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238125" y="952500"/>
            <a:ext cx="2047800" cy="21909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238125" y="952500"/>
            <a:ext cx="2047800" cy="476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238125" y="1190625"/>
            <a:ext cx="2047800" cy="238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238125" y="952500"/>
            <a:ext cx="20478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Food-101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04813" y="1571625"/>
            <a:ext cx="1714500" cy="2859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404813" y="1571625"/>
            <a:ext cx="17145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Texture-heavy</a:t>
            </a:r>
            <a:endParaRPr b="1" i="0" sz="1100" u="none" strike="noStrik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333375" y="2000250"/>
            <a:ext cx="1857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Noisy backgrounds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High intra-class variance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Complex food plating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2428875" y="952500"/>
            <a:ext cx="2047800" cy="21909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2428875" y="952500"/>
            <a:ext cx="2047800" cy="476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2428875" y="1190625"/>
            <a:ext cx="2047800" cy="238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2428875" y="952500"/>
            <a:ext cx="20478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Stanford Cars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595563" y="1571625"/>
            <a:ext cx="17145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2595563" y="1571625"/>
            <a:ext cx="1714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Fine-grained</a:t>
            </a:r>
            <a:endParaRPr b="1" i="0" sz="1100" u="none" strike="noStrik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2524125" y="2000250"/>
            <a:ext cx="1857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Geometry-dominant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Subtle class differences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Varying camera angles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4619625" y="952500"/>
            <a:ext cx="2047800" cy="21909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4619625" y="952500"/>
            <a:ext cx="2047800" cy="476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4619625" y="1190625"/>
            <a:ext cx="2047800" cy="238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4619625" y="952500"/>
            <a:ext cx="20478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FGVC Aircraft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4786313" y="1571625"/>
            <a:ext cx="1714500" cy="285900"/>
          </a:xfrm>
          <a:prstGeom prst="rect">
            <a:avLst/>
          </a:prstGeom>
          <a:solidFill>
            <a:srgbClr val="ECF8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4786313" y="1571625"/>
            <a:ext cx="17145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Structure-heavy</a:t>
            </a:r>
            <a:endParaRPr b="1" i="0" sz="1100" u="none" strike="noStrik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714875" y="2000250"/>
            <a:ext cx="1857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Spatial features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Strong shape priors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Rigid object structure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810375" y="952500"/>
            <a:ext cx="2047800" cy="2190900"/>
          </a:xfrm>
          <a:prstGeom prst="rect">
            <a:avLst/>
          </a:prstGeom>
          <a:solidFill>
            <a:srgbClr val="FFFFFF"/>
          </a:solidFill>
          <a:ln cap="flat" cmpd="sng" w="23825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6810375" y="952500"/>
            <a:ext cx="2047800" cy="476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6810375" y="1190625"/>
            <a:ext cx="2047800" cy="238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6810375" y="952500"/>
            <a:ext cx="20478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Oxford Flowers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977063" y="1571625"/>
            <a:ext cx="1714500" cy="2859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6977063" y="1571625"/>
            <a:ext cx="1714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A365D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endParaRPr b="1" i="0" sz="1100">
              <a:solidFill>
                <a:srgbClr val="1A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905625" y="2000250"/>
            <a:ext cx="1857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Optimal for analysis</a:t>
            </a:r>
            <a:endParaRPr b="1"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Clean class boundaries</a:t>
            </a:r>
            <a:endParaRPr b="1"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Uniform lighting conditions</a:t>
            </a:r>
            <a:endParaRPr b="1"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2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85" name="Google Shape;285;p12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2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Dataset Selection &amp; Analysis</a:t>
              </a:r>
              <a:endParaRPr b="1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12"/>
          <p:cNvGrpSpPr/>
          <p:nvPr/>
        </p:nvGrpSpPr>
        <p:grpSpPr>
          <a:xfrm>
            <a:off x="381000" y="952500"/>
            <a:ext cx="8382000" cy="381000"/>
            <a:chOff x="381000" y="952500"/>
            <a:chExt cx="8382000" cy="381000"/>
          </a:xfrm>
        </p:grpSpPr>
        <p:sp>
          <p:nvSpPr>
            <p:cNvPr id="288" name="Google Shape;288;p12"/>
            <p:cNvSpPr/>
            <p:nvPr/>
          </p:nvSpPr>
          <p:spPr>
            <a:xfrm>
              <a:off x="381000" y="952500"/>
              <a:ext cx="83820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2"/>
            <p:cNvSpPr txBox="1"/>
            <p:nvPr/>
          </p:nvSpPr>
          <p:spPr>
            <a:xfrm>
              <a:off x="381000" y="95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Oxford Flowers 102 — Visual Conditions</a:t>
              </a:r>
              <a:endParaRPr b="1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0" name="Google Shape;290;p12"/>
          <p:cNvPicPr preferRelativeResize="0"/>
          <p:nvPr/>
        </p:nvPicPr>
        <p:blipFill rotWithShape="1">
          <a:blip r:embed="rId3"/>
          <a:stretch>
            <a:fillRect/>
          </a:stretch>
        </p:blipFill>
        <p:spPr>
          <a:xfrm>
            <a:off x="381000" y="1000000"/>
            <a:ext cx="8382000" cy="350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12"/>
          <p:cNvGrpSpPr/>
          <p:nvPr/>
        </p:nvGrpSpPr>
        <p:grpSpPr>
          <a:xfrm>
            <a:off x="0" y="4572000"/>
            <a:ext cx="9144000" cy="571500"/>
            <a:chOff x="0" y="4572000"/>
            <a:chExt cx="9144000" cy="571500"/>
          </a:xfrm>
        </p:grpSpPr>
        <p:sp>
          <p:nvSpPr>
            <p:cNvPr id="292" name="Google Shape;292;p12"/>
            <p:cNvSpPr/>
            <p:nvPr/>
          </p:nvSpPr>
          <p:spPr>
            <a:xfrm>
              <a:off x="0" y="4572000"/>
              <a:ext cx="9144000" cy="5715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2"/>
            <p:cNvSpPr txBox="1"/>
            <p:nvPr/>
          </p:nvSpPr>
          <p:spPr>
            <a:xfrm>
              <a:off x="381000" y="45720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Clean class boundaries • Uniform lighting conditions • Highly balanced distribution</a:t>
              </a:r>
              <a:endParaRPr b="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"/>
          <p:cNvSpPr/>
          <p:nvPr/>
        </p:nvSpPr>
        <p:spPr>
          <a:xfrm>
            <a:off x="0" y="0"/>
            <a:ext cx="9144000" cy="66751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300" name="Google Shape;30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3"/>
          <p:cNvSpPr/>
          <p:nvPr/>
        </p:nvSpPr>
        <p:spPr>
          <a:xfrm>
            <a:off x="667512" y="0"/>
            <a:ext cx="8476488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Architecture: ResNet-18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ResNet-18?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320040" y="1344168"/>
            <a:ext cx="164592" cy="164592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594360" y="1298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Residual connections: y = F(x) + 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320040" y="1965960"/>
            <a:ext cx="164592" cy="164592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594360" y="19202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Prevents vanishing gradient problem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320040" y="2587752"/>
            <a:ext cx="164592" cy="164592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594360" y="2542032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Preserves feature information flow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320040" y="3209544"/>
            <a:ext cx="164592" cy="164592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594360" y="3163824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Enables stable feature propagation across layers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663440" y="804672"/>
            <a:ext cx="4206240" cy="384048"/>
          </a:xfrm>
          <a:prstGeom prst="rect">
            <a:avLst/>
          </a:prstGeom>
          <a:solidFill>
            <a:srgbClr val="0D6B8C"/>
          </a:solidFill>
          <a:ln cap="flat" cmpd="sng" w="12700">
            <a:solidFill>
              <a:srgbClr val="0D6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4663440" y="804672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 with Other Architectures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4" name="Google Shape;314;p13"/>
          <p:cNvGraphicFramePr/>
          <p:nvPr/>
        </p:nvGraphicFramePr>
        <p:xfrm>
          <a:off x="4663440" y="1261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{67996F48-4C62-4C66-BBC9-E9579EBA44FE}</a:tableStyleId>
              </a:tblPr>
              <a:tblGrid>
                <a:gridCol w="2103125"/>
                <a:gridCol w="2103125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VGG-16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residual connections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AlexNet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 depth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DenseNet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 connections, high memory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5" name="Google Shape;315;p13"/>
          <p:cNvSpPr/>
          <p:nvPr/>
        </p:nvSpPr>
        <p:spPr>
          <a:xfrm>
            <a:off x="274320" y="3456432"/>
            <a:ext cx="8595360" cy="914400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411480" y="3456432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A365D"/>
                </a:solidFill>
                <a:latin typeface="Calibri"/>
                <a:ea typeface="Calibri"/>
                <a:cs typeface="Calibri"/>
                <a:sym typeface="Calibri"/>
              </a:rPr>
              <a:t>ResNet-18 is chosen for its balance of depth, interpretability, and stable feature propagation — making it ideal for systematic layer-wise feature analysis research.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p14"/>
          <p:cNvPicPr preferRelativeResize="0"/>
          <p:nvPr/>
        </p:nvPicPr>
        <p:blipFill rotWithShape="1">
          <a:blip r:embed="rId4">
            <a:alphaModFix/>
          </a:blip>
          <a:srcRect b="0" l="11271" r="11263" t="0"/>
          <a:stretch/>
        </p:blipFill>
        <p:spPr>
          <a:xfrm>
            <a:off x="142875" y="9525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4"/>
          <p:cNvSpPr/>
          <p:nvPr/>
        </p:nvSpPr>
        <p:spPr>
          <a:xfrm>
            <a:off x="762000" y="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Solution Framework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285750" y="809625"/>
            <a:ext cx="8572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Research Methodology &amp; Workflow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190500" y="1285875"/>
            <a:ext cx="1666800" cy="3238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190500" y="1285875"/>
            <a:ext cx="1666800" cy="428700"/>
          </a:xfrm>
          <a:prstGeom prst="roundRect">
            <a:avLst>
              <a:gd fmla="val 22216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852488" y="1328738"/>
            <a:ext cx="342900" cy="34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852488" y="1328738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285750" y="1762125"/>
            <a:ext cx="1476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Extraction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285750" y="2333625"/>
            <a:ext cx="14763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Use ResNet-18 pretrained on ImageNet as the analysis backbone</a:t>
            </a:r>
            <a:endParaRPr b="0" sz="12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1971675" y="1285875"/>
            <a:ext cx="1666800" cy="3238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1971675" y="1285875"/>
            <a:ext cx="1666800" cy="428700"/>
          </a:xfrm>
          <a:prstGeom prst="roundRect">
            <a:avLst>
              <a:gd fmla="val 22216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2633663" y="1328738"/>
            <a:ext cx="342900" cy="34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2633663" y="1328738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2066925" y="1762125"/>
            <a:ext cx="1476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Layer-wise Statistical Analysis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2066925" y="2333625"/>
            <a:ext cx="14763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Compute mean activation per layer, variance and sparsity</a:t>
            </a:r>
            <a:endParaRPr b="0" sz="12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3752850" y="1285875"/>
            <a:ext cx="1666800" cy="3238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3752850" y="1285875"/>
            <a:ext cx="1666800" cy="428700"/>
          </a:xfrm>
          <a:prstGeom prst="roundRect">
            <a:avLst>
              <a:gd fmla="val 22216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4414838" y="1328738"/>
            <a:ext cx="342900" cy="34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4414838" y="1328738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3848100" y="1762125"/>
            <a:ext cx="1476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Representation Geometry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3848100" y="2333625"/>
            <a:ext cx="14763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Reduce dimensionality of per-image features. Analyse neural collapse trends</a:t>
            </a:r>
            <a:endParaRPr b="0" sz="12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5534025" y="1285875"/>
            <a:ext cx="1666800" cy="3238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5534025" y="1285875"/>
            <a:ext cx="1666800" cy="428700"/>
          </a:xfrm>
          <a:prstGeom prst="roundRect">
            <a:avLst>
              <a:gd fmla="val 22216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6196013" y="1328738"/>
            <a:ext cx="342900" cy="34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6196013" y="1328738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5629275" y="1762125"/>
            <a:ext cx="1476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Cross-Dataset Comparison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5629275" y="2333625"/>
            <a:ext cx="14763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Repeat for Oxford Flowers 102, Food-101, Stanford Cars, FGVC Aircraft</a:t>
            </a:r>
            <a:endParaRPr b="0" sz="12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7315200" y="1285875"/>
            <a:ext cx="1666800" cy="3238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7315200" y="1285875"/>
            <a:ext cx="1666800" cy="428700"/>
          </a:xfrm>
          <a:prstGeom prst="roundRect">
            <a:avLst>
              <a:gd fmla="val 22216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7977188" y="1328738"/>
            <a:ext cx="342900" cy="34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7977188" y="1328738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7410450" y="1762125"/>
            <a:ext cx="1476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Insights &amp; Interpretability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7410450" y="2333625"/>
            <a:ext cx="14763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Generate heatmaps, visualize feature maps, and motivate design choices</a:t>
            </a:r>
            <a:endParaRPr b="0" sz="12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362" name="Google Shape;36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Experiments &amp; Expected Results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274320" y="1047750"/>
            <a:ext cx="85953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274320" y="762000"/>
            <a:ext cx="85953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Evolution Across Layers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274320" y="1190625"/>
            <a:ext cx="2667000" cy="8574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274320" y="1190625"/>
            <a:ext cx="2667000" cy="285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274320" y="119062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Early Layers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369570" y="1476375"/>
            <a:ext cx="2476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Detect edges &amp; simple patterns</a:t>
            </a:r>
            <a:endParaRPr b="0"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3238500" y="1190625"/>
            <a:ext cx="2667000" cy="8574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3238500" y="1190625"/>
            <a:ext cx="2667000" cy="285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3238500" y="119062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 Layers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3333750" y="1476375"/>
            <a:ext cx="2476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Capture textures &amp; colour gradients</a:t>
            </a:r>
            <a:endParaRPr b="0"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6202680" y="1190625"/>
            <a:ext cx="2667000" cy="8574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6202680" y="1190625"/>
            <a:ext cx="2667000" cy="285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6202680" y="119062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Layers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6297930" y="1476375"/>
            <a:ext cx="2476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Learn semantic representations</a:t>
            </a:r>
            <a:endParaRPr b="0"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274320" y="2571750"/>
            <a:ext cx="85953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274320" y="2286000"/>
            <a:ext cx="85953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 Dependency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274320" y="2762250"/>
            <a:ext cx="95400" cy="47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464820" y="2762250"/>
            <a:ext cx="1371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Food-101:</a:t>
            </a:r>
            <a:endParaRPr b="1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1836420" y="2762250"/>
            <a:ext cx="6953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Strong early-layer response (texture features)</a:t>
            </a:r>
            <a:endParaRPr b="0"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274320" y="3333750"/>
            <a:ext cx="95400" cy="47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464820" y="3333750"/>
            <a:ext cx="1371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Stanford Cars:</a:t>
            </a:r>
            <a:endParaRPr b="1" sz="12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1836420" y="3333750"/>
            <a:ext cx="6953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Deep-layer dependence (fine-grained geometry)</a:t>
            </a:r>
            <a:endParaRPr b="0"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274320" y="3905250"/>
            <a:ext cx="95400" cy="476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464820" y="3905250"/>
            <a:ext cx="1371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Oxford Flowers:</a:t>
            </a:r>
            <a:endParaRPr b="1" sz="12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1836420" y="3905250"/>
            <a:ext cx="6953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Balanced activation across all layers</a:t>
            </a:r>
            <a:endParaRPr b="0"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5" name="Google Shape;395;p16"/>
          <p:cNvPicPr preferRelativeResize="0"/>
          <p:nvPr/>
        </p:nvPicPr>
        <p:blipFill rotWithShape="1">
          <a:blip r:embed="rId4">
            <a:alphaModFix/>
          </a:blip>
          <a:srcRect b="0" l="11271" r="11263" t="0"/>
          <a:stretch/>
        </p:blipFill>
        <p:spPr>
          <a:xfrm>
            <a:off x="142875" y="47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6"/>
          <p:cNvSpPr txBox="1"/>
          <p:nvPr/>
        </p:nvSpPr>
        <p:spPr>
          <a:xfrm>
            <a:off x="762000" y="0"/>
            <a:ext cx="7620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" name="Google Shape;397;p16"/>
          <p:cNvGrpSpPr/>
          <p:nvPr/>
        </p:nvGrpSpPr>
        <p:grpSpPr>
          <a:xfrm>
            <a:off x="285750" y="952500"/>
            <a:ext cx="4191000" cy="2667000"/>
            <a:chOff x="285750" y="952500"/>
            <a:chExt cx="4191000" cy="2667000"/>
          </a:xfrm>
        </p:grpSpPr>
        <p:sp>
          <p:nvSpPr>
            <p:cNvPr id="398" name="Google Shape;398;p16"/>
            <p:cNvSpPr/>
            <p:nvPr/>
          </p:nvSpPr>
          <p:spPr>
            <a:xfrm>
              <a:off x="285750" y="952500"/>
              <a:ext cx="4191000" cy="2667000"/>
            </a:xfrm>
            <a:prstGeom prst="roundRect">
              <a:avLst>
                <a:gd fmla="val 2857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285750" y="952500"/>
              <a:ext cx="4191000" cy="381000"/>
            </a:xfrm>
            <a:prstGeom prst="roundRect">
              <a:avLst>
                <a:gd fmla="val 2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6"/>
            <p:cNvSpPr txBox="1"/>
            <p:nvPr/>
          </p:nvSpPr>
          <p:spPr>
            <a:xfrm>
              <a:off x="285750" y="952500"/>
              <a:ext cx="41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Key Contributions</a:t>
              </a:r>
              <a:endPara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6"/>
            <p:cNvSpPr txBox="1"/>
            <p:nvPr/>
          </p:nvSpPr>
          <p:spPr>
            <a:xfrm>
              <a:off x="476250" y="1428750"/>
              <a:ext cx="3810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Calibri"/>
                <a:buChar char="●"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Developed layer-wise analysis framework for CNNs</a:t>
              </a:r>
              <a:endParaRPr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11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Calibri"/>
                <a:buChar char="●"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Demonstrated dataset–CNN feature interaction across architectures</a:t>
              </a:r>
              <a:endParaRPr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11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Calibri"/>
                <a:buChar char="●"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Improved CNN interpretability through activation statistics</a:t>
              </a:r>
              <a:endParaRPr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6"/>
          <p:cNvGrpSpPr/>
          <p:nvPr/>
        </p:nvGrpSpPr>
        <p:grpSpPr>
          <a:xfrm>
            <a:off x="4667250" y="952500"/>
            <a:ext cx="4191000" cy="2667000"/>
            <a:chOff x="4667250" y="952500"/>
            <a:chExt cx="4191000" cy="2667000"/>
          </a:xfrm>
        </p:grpSpPr>
        <p:sp>
          <p:nvSpPr>
            <p:cNvPr id="403" name="Google Shape;403;p16"/>
            <p:cNvSpPr/>
            <p:nvPr/>
          </p:nvSpPr>
          <p:spPr>
            <a:xfrm>
              <a:off x="4667250" y="952500"/>
              <a:ext cx="4191000" cy="2667000"/>
            </a:xfrm>
            <a:prstGeom prst="roundRect">
              <a:avLst>
                <a:gd fmla="val 2857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4667250" y="952500"/>
              <a:ext cx="4191000" cy="381000"/>
            </a:xfrm>
            <a:prstGeom prst="roundRect">
              <a:avLst>
                <a:gd fmla="val 2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6"/>
            <p:cNvSpPr txBox="1"/>
            <p:nvPr/>
          </p:nvSpPr>
          <p:spPr>
            <a:xfrm>
              <a:off x="4667250" y="952500"/>
              <a:ext cx="41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Future Work</a:t>
              </a:r>
              <a:endPara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6"/>
            <p:cNvSpPr txBox="1"/>
            <p:nvPr/>
          </p:nvSpPr>
          <p:spPr>
            <a:xfrm>
              <a:off x="4857750" y="1428750"/>
              <a:ext cx="3810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Calibri"/>
                <a:buChar char="●"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Neural collapse analysis in greater depth</a:t>
              </a:r>
              <a:endParaRPr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11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Calibri"/>
                <a:buChar char="●"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Early exiting strategies for model efficiency</a:t>
              </a:r>
              <a:endParaRPr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11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Calibri"/>
                <a:buChar char="●"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Feature clustering visualization using t-SNE and PCA</a:t>
              </a:r>
              <a:endParaRPr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7" name="Google Shape;407;p16"/>
          <p:cNvGrpSpPr/>
          <p:nvPr/>
        </p:nvGrpSpPr>
        <p:grpSpPr>
          <a:xfrm>
            <a:off x="285750" y="3810000"/>
            <a:ext cx="8572500" cy="1047900"/>
            <a:chOff x="285750" y="3810000"/>
            <a:chExt cx="8572500" cy="1047900"/>
          </a:xfrm>
        </p:grpSpPr>
        <p:sp>
          <p:nvSpPr>
            <p:cNvPr id="408" name="Google Shape;408;p16"/>
            <p:cNvSpPr/>
            <p:nvPr/>
          </p:nvSpPr>
          <p:spPr>
            <a:xfrm>
              <a:off x="285750" y="3810000"/>
              <a:ext cx="8572500" cy="1047900"/>
            </a:xfrm>
            <a:prstGeom prst="roundRect">
              <a:avLst>
                <a:gd fmla="val 7272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6"/>
            <p:cNvSpPr txBox="1"/>
            <p:nvPr/>
          </p:nvSpPr>
          <p:spPr>
            <a:xfrm>
              <a:off x="571500" y="3810000"/>
              <a:ext cx="800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Understanding how CNNs learn across layers enables better model design, improved interpretability, and more trustworthy AI systems.</a:t>
              </a:r>
              <a:endParaRPr b="0" i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ProblemStatementText"/>
          <p:cNvSpPr txBox="1"/>
          <p:nvPr/>
        </p:nvSpPr>
        <p:spPr>
          <a:xfrm>
            <a:off x="381000" y="900000"/>
            <a:ext cx="8382000" cy="4200000"/>
          </a:xfrm>
          <a:prstGeom prst="rect">
            <a:avLst/>
          </a:prstGeom>
          <a:solidFill>
            <a:srgbClr val="F2F2F2"/>
          </a:solidFill>
          <a:ln>
            <a:solidFill>
              <a:srgbClr val="D0D8E8"/>
            </a:solidFill>
          </a:ln>
        </p:spPr>
        <p:txBody>
          <a:bodyPr anchorCtr="0" anchor="ctr" bIns="182880" lIns="182880" rIns="182880" tIns="182880" wrap="square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365D"/>
                </a:solidFill>
                <a:latin typeface="Calibri"/>
              </a:rPr>
              <a:t>To investigate how internal representations in CNNs evolve across layers and to identify the role of dataset properties in shaping these representations.</a:t>
            </a:r>
          </a:p>
          <a:p>
            <a:pPr indent="0" lvl="0" marL="0" rtl="0" algn="ctr">
              <a:spcBef>
                <a:spcPts val="400"/>
              </a:spcBef>
              <a:buNone/>
            </a:pP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