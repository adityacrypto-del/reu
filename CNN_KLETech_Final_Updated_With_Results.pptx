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9" r:id="rId22"/>
    <p:sldId id="270" r:id="rId23"/>
    <p:sldId id="271" r:id="rId24"/>
    <p:sldId id="272" r:id="rId25"/>
    <p:sldId id="264" r:id="rId14"/>
    <p:sldId id="265" r:id="rId15"/>
    <p:sldId id="266" r:id="rId16"/>
    <p:sldId id="267" r:id="rId17"/>
    <p:sldId id="268" r:id="rId18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5143500" cx="9144000"/>
  <p:notesSz cx="5143500" cy="9144000"/>
  <p:embeddedFontLst>
    <p:embeddedFont>
      <p:font typeface="Inter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996F48-4C62-4C66-BBC9-E9579EBA44FE}">
  <a:tblStyle styleId="{67996F48-4C62-4C66-BBC9-E9579EBA44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Inter-bold.fntdata"/><Relationship Id="rId21" Type="http://schemas.openxmlformats.org/officeDocument/2006/relationships/font" Target="fonts/Inter-boldItalic.fntdata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_method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_method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385" cy="6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914400"/>
            <a:ext cx="8229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Feature Representation Dynamics and Reliability in Deep Neural Image Classification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1828800" y="2857500"/>
            <a:ext cx="5486400" cy="36600"/>
          </a:xfrm>
          <a:prstGeom prst="rect">
            <a:avLst/>
          </a:prstGeom>
          <a:solidFill>
            <a:srgbClr val="B5192D"/>
          </a:solidFill>
          <a:ln cap="flat" cmpd="sng" w="12700">
            <a:solidFill>
              <a:srgbClr val="B519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028950"/>
            <a:ext cx="82296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 xml:space="preserve"> Name:</a:t>
            </a:r>
            <a:r>
              <a:rPr b="1"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Aditya Arasamangalam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409950"/>
            <a:ext cx="82296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 Research Experience for Undergraduates | Guide: Dr Meena S 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29" name="Google Shape;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1;p4"/>
          <p:cNvGrpSpPr/>
          <p:nvPr/>
        </p:nvGrpSpPr>
        <p:grpSpPr>
          <a:xfrm>
            <a:off x="381000" y="952500"/>
            <a:ext cx="4095900" cy="1714500"/>
            <a:chOff x="381000" y="952500"/>
            <a:chExt cx="4095900" cy="1714500"/>
          </a:xfrm>
        </p:grpSpPr>
        <p:sp>
          <p:nvSpPr>
            <p:cNvPr id="32" name="Google Shape;32;p4"/>
            <p:cNvSpPr/>
            <p:nvPr/>
          </p:nvSpPr>
          <p:spPr>
            <a:xfrm>
              <a:off x="381000" y="952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81000" y="952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619125" y="1095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Accuracy vs Interpretability</a:t>
              </a:r>
              <a:endParaRPr b="1" sz="1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619125" y="1524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CNNs achieve high accuracy but lack interpretability, creating a gap between performance and understanding.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4667250" y="952500"/>
            <a:ext cx="4095900" cy="1714500"/>
            <a:chOff x="4667250" y="952500"/>
            <a:chExt cx="4095900" cy="1714500"/>
          </a:xfrm>
        </p:grpSpPr>
        <p:sp>
          <p:nvSpPr>
            <p:cNvPr id="37" name="Google Shape;37;p4"/>
            <p:cNvSpPr/>
            <p:nvPr/>
          </p:nvSpPr>
          <p:spPr>
            <a:xfrm>
              <a:off x="4667250" y="952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667250" y="952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4905375" y="1095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Black Box Problem</a:t>
              </a:r>
              <a:endParaRPr b="1" sz="1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4905375" y="1524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Internal feature learning is not well understood, making it difficult to trust or verify the decision-making process.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381000" y="2857500"/>
            <a:ext cx="4095900" cy="1714500"/>
            <a:chOff x="381000" y="2857500"/>
            <a:chExt cx="4095900" cy="1714500"/>
          </a:xfrm>
        </p:grpSpPr>
        <p:sp>
          <p:nvSpPr>
            <p:cNvPr id="42" name="Google Shape;42;p4"/>
            <p:cNvSpPr/>
            <p:nvPr/>
          </p:nvSpPr>
          <p:spPr>
            <a:xfrm>
              <a:off x="38100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81000" y="2857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619125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Output-Centric View</a:t>
              </a:r>
              <a:endParaRPr b="1" sz="1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619125" y="3429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Most work focuses on final outputs, leaving a critical knowledge gap regarding intermediate layer representations.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4"/>
          <p:cNvGrpSpPr/>
          <p:nvPr/>
        </p:nvGrpSpPr>
        <p:grpSpPr>
          <a:xfrm>
            <a:off x="4667250" y="2857500"/>
            <a:ext cx="4095900" cy="1714500"/>
            <a:chOff x="4667250" y="2857500"/>
            <a:chExt cx="4095900" cy="1714500"/>
          </a:xfrm>
        </p:grpSpPr>
        <p:sp>
          <p:nvSpPr>
            <p:cNvPr id="47" name="Google Shape;47;p4"/>
            <p:cNvSpPr/>
            <p:nvPr/>
          </p:nvSpPr>
          <p:spPr>
            <a:xfrm>
              <a:off x="4667250" y="2857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4667250" y="2857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4905375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Trust &amp; Explainability</a:t>
              </a:r>
              <a:endParaRPr b="1" sz="1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4905375" y="342900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Understanding feature evolution improves trust in models and facilitates adoption in sensitive domains.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" name="Google Shape;5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121" y="0"/>
            <a:ext cx="2808879" cy="6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ProblemStatementText"/>
          <p:cNvSpPr txBox="1"/>
          <p:nvPr/>
        </p:nvSpPr>
        <p:spPr>
          <a:xfrm>
            <a:off x="381000" y="900000"/>
            <a:ext cx="8382000" cy="4200000"/>
          </a:xfrm>
          <a:prstGeom prst="rect">
            <a:avLst/>
          </a:prstGeom>
          <a:solidFill>
            <a:srgbClr val="F2F2F2"/>
          </a:solidFill>
          <a:ln>
            <a:solidFill>
              <a:srgbClr val="D0D8E8"/>
            </a:solidFill>
          </a:ln>
        </p:spPr>
        <p:txBody>
          <a:bodyPr anchorCtr="0" anchor="ctr" bIns="182880" lIns="182880" rIns="182880" tIns="18288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365D"/>
                </a:solidFill>
                <a:latin typeface="Calibri"/>
              </a:rPr>
              <a:t>To investigate how internal representations in CNNs evolve across layers and to identify the role of dataset properties in shaping these representations.</a:t>
            </a:r>
          </a:p>
          <a:p>
            <a:pPr indent="0" lvl="0" marL="0" rtl="0" algn="ctr">
              <a:spcBef>
                <a:spcPts val="400"/>
              </a:spcBef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0"/>
            <a:ext cx="9144000" cy="44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67" name="Google Shape;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381000" y="1047750"/>
            <a:ext cx="8382000" cy="952500"/>
            <a:chOff x="381000" y="1047750"/>
            <a:chExt cx="8382000" cy="952500"/>
          </a:xfrm>
        </p:grpSpPr>
        <p:sp>
          <p:nvSpPr>
            <p:cNvPr id="70" name="Google Shape;70;p6"/>
            <p:cNvSpPr/>
            <p:nvPr/>
          </p:nvSpPr>
          <p:spPr>
            <a:xfrm>
              <a:off x="381000" y="1047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81000" y="1047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1A365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 txBox="1"/>
            <p:nvPr/>
          </p:nvSpPr>
          <p:spPr>
            <a:xfrm>
              <a:off x="619125" y="1047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A365D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8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 txBox="1"/>
            <p:nvPr/>
          </p:nvSpPr>
          <p:spPr>
            <a:xfrm>
              <a:off x="1381125" y="1047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Analyze Hierarchical Feature Maps and Activation Statistics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Investigate feature representations and quantify activation sparsity across convolutional layers.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381000" y="2190750"/>
            <a:ext cx="8382000" cy="952500"/>
            <a:chOff x="381000" y="2190750"/>
            <a:chExt cx="8382000" cy="952500"/>
          </a:xfrm>
        </p:grpSpPr>
        <p:sp>
          <p:nvSpPr>
            <p:cNvPr id="75" name="Google Shape;75;p6"/>
            <p:cNvSpPr/>
            <p:nvPr/>
          </p:nvSpPr>
          <p:spPr>
            <a:xfrm>
              <a:off x="381000" y="2190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381000" y="2190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0D6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 txBox="1"/>
            <p:nvPr/>
          </p:nvSpPr>
          <p:spPr>
            <a:xfrm>
              <a:off x="619125" y="2190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D6B8C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800">
                <a:solidFill>
                  <a:srgbClr val="0D6B8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6"/>
            <p:cNvSpPr txBox="1"/>
            <p:nvPr/>
          </p:nvSpPr>
          <p:spPr>
            <a:xfrm>
              <a:off x="1381125" y="2190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Study Cross-Dataset Behavioral Patterns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Compare internal model responses across multiple datasets to identify consistent learning trends.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6"/>
          <p:cNvGrpSpPr/>
          <p:nvPr/>
        </p:nvGrpSpPr>
        <p:grpSpPr>
          <a:xfrm>
            <a:off x="381000" y="3333750"/>
            <a:ext cx="8382000" cy="952500"/>
            <a:chOff x="381000" y="3333750"/>
            <a:chExt cx="8382000" cy="952500"/>
          </a:xfrm>
        </p:grpSpPr>
        <p:sp>
          <p:nvSpPr>
            <p:cNvPr id="80" name="Google Shape;80;p6"/>
            <p:cNvSpPr/>
            <p:nvPr/>
          </p:nvSpPr>
          <p:spPr>
            <a:xfrm>
              <a:off x="381000" y="333375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81000" y="333375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519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 txBox="1"/>
            <p:nvPr/>
          </p:nvSpPr>
          <p:spPr>
            <a:xfrm>
              <a:off x="619125" y="33337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B5192D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800">
                <a:solidFill>
                  <a:srgbClr val="B519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 txBox="1"/>
            <p:nvPr/>
          </p:nvSpPr>
          <p:spPr>
            <a:xfrm>
              <a:off x="1381125" y="3333750"/>
              <a:ext cx="719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Link Data Properties to Representation Learning</a:t>
              </a:r>
              <a:endParaRPr b="1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Establish a mathematical link between input dataset characteristics and resulting feature geometry.</a:t>
              </a:r>
              <a:endParaRPr b="0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90" name="Google Shape;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666750" y="0"/>
            <a:ext cx="847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Prevalence of Neural Collapse during the Terminal Phase of Deep Learning Training (2021)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7"/>
          <p:cNvGrpSpPr/>
          <p:nvPr/>
        </p:nvGrpSpPr>
        <p:grpSpPr>
          <a:xfrm>
            <a:off x="285750" y="762000"/>
            <a:ext cx="8572500" cy="381000"/>
            <a:chOff x="285750" y="762000"/>
            <a:chExt cx="8572500" cy="381000"/>
          </a:xfrm>
        </p:grpSpPr>
        <p:sp>
          <p:nvSpPr>
            <p:cNvPr id="93" name="Google Shape;93;p7"/>
            <p:cNvSpPr/>
            <p:nvPr/>
          </p:nvSpPr>
          <p:spPr>
            <a:xfrm>
              <a:off x="285750" y="762000"/>
              <a:ext cx="8572500" cy="381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381000" y="76200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 b="1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 txBox="1"/>
            <p:nvPr/>
          </p:nvSpPr>
          <p:spPr>
            <a:xfrm>
              <a:off x="1905000" y="762000"/>
              <a:ext cx="685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Deep learning models in the terminal training phase show an unexpected geometric phenomenon where class representations collapse into tight clusters, but the mathematical conditions are not fully characterized.</a:t>
              </a:r>
              <a:endPara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7"/>
          <p:cNvGrpSpPr/>
          <p:nvPr/>
        </p:nvGrpSpPr>
        <p:grpSpPr>
          <a:xfrm>
            <a:off x="285750" y="1285875"/>
            <a:ext cx="2667000" cy="1762275"/>
            <a:chOff x="285750" y="1285875"/>
            <a:chExt cx="2667000" cy="1762275"/>
          </a:xfrm>
        </p:grpSpPr>
        <p:sp>
          <p:nvSpPr>
            <p:cNvPr id="97" name="Google Shape;97;p7"/>
            <p:cNvSpPr/>
            <p:nvPr/>
          </p:nvSpPr>
          <p:spPr>
            <a:xfrm>
              <a:off x="285750" y="1285875"/>
              <a:ext cx="2667000" cy="2859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 txBox="1"/>
            <p:nvPr/>
          </p:nvSpPr>
          <p:spPr>
            <a:xfrm>
              <a:off x="28575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OBJECTIVES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85750" y="1619250"/>
              <a:ext cx="2667000" cy="14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428625" y="1714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Identify and characterize neural collapse in deep networks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Analyze geometric structure of final-layer representations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000"/>
                <a:buFont typeface="Calibri"/>
                <a:buChar char="●"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Understand implications for generalization and feature quality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>
            <a:off x="285750" y="3190875"/>
            <a:ext cx="2667000" cy="1714575"/>
            <a:chOff x="285750" y="3190875"/>
            <a:chExt cx="2667000" cy="1714575"/>
          </a:xfrm>
        </p:grpSpPr>
        <p:sp>
          <p:nvSpPr>
            <p:cNvPr id="102" name="Google Shape;102;p7"/>
            <p:cNvSpPr/>
            <p:nvPr/>
          </p:nvSpPr>
          <p:spPr>
            <a:xfrm>
              <a:off x="285750" y="3190875"/>
              <a:ext cx="2667000" cy="2859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7"/>
            <p:cNvSpPr txBox="1"/>
            <p:nvPr/>
          </p:nvSpPr>
          <p:spPr>
            <a:xfrm>
              <a:off x="285750" y="3190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METHODOLOGY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285750" y="3524250"/>
              <a:ext cx="2667000" cy="13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428625" y="3619500"/>
              <a:ext cx="23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Analyze trained deep neural networks at terminal phase. Measure within-class variability vs between-class separation. Study feature geometry using linear discriminant analysis.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3238500" y="1285875"/>
            <a:ext cx="2667000" cy="1762275"/>
            <a:chOff x="3238500" y="1285875"/>
            <a:chExt cx="2667000" cy="1762275"/>
          </a:xfrm>
        </p:grpSpPr>
        <p:sp>
          <p:nvSpPr>
            <p:cNvPr id="107" name="Google Shape;107;p7"/>
            <p:cNvSpPr/>
            <p:nvPr/>
          </p:nvSpPr>
          <p:spPr>
            <a:xfrm>
              <a:off x="3238500" y="1285875"/>
              <a:ext cx="2667000" cy="2859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323850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PROPOSED SOLUTION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3238500" y="1619250"/>
              <a:ext cx="2667000" cy="14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3381375" y="1714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Mathematically characterize neural collapse by analyzing class-mean convergence, weight-feature duality, and equinorm clustering across classification tasks and architectures.</a:t>
              </a:r>
              <a:endParaRPr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3238500" y="3190875"/>
            <a:ext cx="2667000" cy="1714575"/>
            <a:chOff x="3238500" y="3190875"/>
            <a:chExt cx="2667000" cy="1714575"/>
          </a:xfrm>
        </p:grpSpPr>
        <p:sp>
          <p:nvSpPr>
            <p:cNvPr id="112" name="Google Shape;112;p7"/>
            <p:cNvSpPr/>
            <p:nvPr/>
          </p:nvSpPr>
          <p:spPr>
            <a:xfrm>
              <a:off x="3238500" y="3190875"/>
              <a:ext cx="2667000" cy="285900"/>
            </a:xfrm>
            <a:prstGeom prst="rect">
              <a:avLst/>
            </a:prstGeom>
            <a:solidFill>
              <a:srgbClr val="6B72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3238500" y="3190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3238500" y="3524250"/>
              <a:ext cx="2667000" cy="13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 txBox="1"/>
            <p:nvPr/>
          </p:nvSpPr>
          <p:spPr>
            <a:xfrm>
              <a:off x="3381375" y="3619500"/>
              <a:ext cx="2381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925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Neural collapse is a universal phenomenon in overparameterized networks that reveals how deep learning implicitly optimizes feature geometry, with direct implications for interpretability.</a:t>
              </a:r>
              <a:endParaRPr i="1" sz="925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-US" sz="694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REFERENCE:</a:t>
              </a:r>
              <a:endParaRPr b="1" i="0" sz="694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694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Papyan et al., Prevalence of Neural Collapse during the Terminal Phase of Deep Learning Training, PNAS, 2020.</a:t>
              </a:r>
              <a:endParaRPr b="0" i="1" sz="694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6191250" y="1285875"/>
            <a:ext cx="2667000" cy="3619575"/>
            <a:chOff x="6191250" y="1285875"/>
            <a:chExt cx="2667000" cy="3619575"/>
          </a:xfrm>
        </p:grpSpPr>
        <p:sp>
          <p:nvSpPr>
            <p:cNvPr id="117" name="Google Shape;117;p7"/>
            <p:cNvSpPr/>
            <p:nvPr/>
          </p:nvSpPr>
          <p:spPr>
            <a:xfrm>
              <a:off x="6191250" y="1285875"/>
              <a:ext cx="2667000" cy="285900"/>
            </a:xfrm>
            <a:prstGeom prst="rect">
              <a:avLst/>
            </a:prstGeom>
            <a:solidFill>
              <a:srgbClr val="37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6191250" y="1285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RESULTS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6191250" y="1619250"/>
              <a:ext cx="2667000" cy="328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7"/>
            <p:cNvGrpSpPr/>
            <p:nvPr/>
          </p:nvGrpSpPr>
          <p:grpSpPr>
            <a:xfrm>
              <a:off x="6343650" y="1714500"/>
              <a:ext cx="2371875" cy="381000"/>
              <a:chOff x="6343650" y="1714500"/>
              <a:chExt cx="2371875" cy="381000"/>
            </a:xfrm>
          </p:grpSpPr>
          <p:sp>
            <p:nvSpPr>
              <p:cNvPr id="121" name="Google Shape;121;p7"/>
              <p:cNvSpPr/>
              <p:nvPr/>
            </p:nvSpPr>
            <p:spPr>
              <a:xfrm>
                <a:off x="6343650" y="18669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7"/>
              <p:cNvSpPr txBox="1"/>
              <p:nvPr/>
            </p:nvSpPr>
            <p:spPr>
              <a:xfrm>
                <a:off x="6524625" y="17145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Features collapse into tight clusters near terminal training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7"/>
            <p:cNvGrpSpPr/>
            <p:nvPr/>
          </p:nvGrpSpPr>
          <p:grpSpPr>
            <a:xfrm>
              <a:off x="6343650" y="2286000"/>
              <a:ext cx="2371875" cy="381000"/>
              <a:chOff x="6343650" y="2286000"/>
              <a:chExt cx="2371875" cy="381000"/>
            </a:xfrm>
          </p:grpSpPr>
          <p:sp>
            <p:nvSpPr>
              <p:cNvPr id="124" name="Google Shape;124;p7"/>
              <p:cNvSpPr/>
              <p:nvPr/>
            </p:nvSpPr>
            <p:spPr>
              <a:xfrm>
                <a:off x="6343650" y="24384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7"/>
              <p:cNvSpPr txBox="1"/>
              <p:nvPr/>
            </p:nvSpPr>
            <p:spPr>
              <a:xfrm>
                <a:off x="6524625" y="22860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Between-class separation becomes maximal relative to within-class spread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7"/>
            <p:cNvGrpSpPr/>
            <p:nvPr/>
          </p:nvGrpSpPr>
          <p:grpSpPr>
            <a:xfrm>
              <a:off x="6343650" y="2857500"/>
              <a:ext cx="2371875" cy="381000"/>
              <a:chOff x="6343650" y="2857500"/>
              <a:chExt cx="2371875" cy="381000"/>
            </a:xfrm>
          </p:grpSpPr>
          <p:sp>
            <p:nvSpPr>
              <p:cNvPr id="127" name="Google Shape;127;p7"/>
              <p:cNvSpPr/>
              <p:nvPr/>
            </p:nvSpPr>
            <p:spPr>
              <a:xfrm>
                <a:off x="6343650" y="3009900"/>
                <a:ext cx="76200" cy="762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7"/>
              <p:cNvSpPr txBox="1"/>
              <p:nvPr/>
            </p:nvSpPr>
            <p:spPr>
              <a:xfrm>
                <a:off x="6524625" y="2857500"/>
                <a:ext cx="2190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Neural collapse predicts strong generalization performance</a:t>
                </a:r>
                <a:endParaRPr sz="95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7"/>
            <p:cNvSpPr/>
            <p:nvPr/>
          </p:nvSpPr>
          <p:spPr>
            <a:xfrm>
              <a:off x="7143750" y="4000500"/>
              <a:ext cx="762000" cy="571500"/>
            </a:xfrm>
            <a:prstGeom prst="roundRect">
              <a:avLst>
                <a:gd fmla="val 6666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7143750" y="4053078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D1D5D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3600">
                <a:solidFill>
                  <a:srgbClr val="D1D5D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11271" r="11263" t="0"/>
          <a:stretch/>
        </p:blipFill>
        <p:spPr>
          <a:xfrm>
            <a:off x="142875" y="9525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666750" y="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Visualizing and Understanding Convolutional Networks </a:t>
            </a:r>
            <a:r>
              <a:rPr b="0" lang="en-US" sz="1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(Zeiler &amp; Fergus, 2014)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85750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285750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85750" y="1571625"/>
            <a:ext cx="2762400" cy="14289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428625" y="1666875"/>
            <a:ext cx="24765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Develop techniques to visualize feature detectors at each CNN layer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Understand how input stimuli activate convolutional filters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insights to improve CNN architecture design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85750" y="3143250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285750" y="3143250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85750" y="3476625"/>
            <a:ext cx="2762400" cy="13812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428625" y="3571875"/>
            <a:ext cx="24765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deconvolutional networks to project feature activations back to input pixel space. Analyze which image regions maximally activate each filter. Compare learned features across depths.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190875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4D4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3190875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90875" y="1571625"/>
            <a:ext cx="2762400" cy="14289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3333750" y="1666875"/>
            <a:ext cx="24765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Introduce deconvnet-based visualization to map activations back to input space, revealing hierarchical feature learning from edges in early layers to semantic concepts in deep layers.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190875" y="3143250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3190875" y="3143250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190875" y="3476625"/>
            <a:ext cx="2762400" cy="13812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3333750" y="3571875"/>
            <a:ext cx="24765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Layer-wise visualization confirms CNNs learn hierarchical representations, motivating analysis of feature evolution as a path to interpretable architectures.</a:t>
            </a:r>
            <a:endParaRPr b="0" i="1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REFERENCE:</a:t>
            </a:r>
            <a:endParaRPr b="1" i="0" sz="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Zeiler &amp; Fergus, Visualizing and Understanding Convolutional Networks, ECCV, 2014.</a:t>
            </a:r>
            <a:endParaRPr b="0" i="1" sz="8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096000" y="1285875"/>
            <a:ext cx="2762400" cy="285900"/>
          </a:xfrm>
          <a:prstGeom prst="roundRect">
            <a:avLst>
              <a:gd fmla="val 13333" name="adj"/>
            </a:avLst>
          </a:prstGeom>
          <a:solidFill>
            <a:srgbClr val="8080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6096000" y="1285875"/>
            <a:ext cx="276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096000" y="1571625"/>
            <a:ext cx="2762400" cy="328620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296025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477000" y="171450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Early layers detect edges and color blobs; deeper layers learn textures and semantic parts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296025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477000" y="238125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Layer-wise feature specificity increases with depth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96025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6477000" y="3048000"/>
            <a:ext cx="22383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Visualization guided removal of redundant filters, improving AlexNet accuracy</a:t>
            </a:r>
            <a:endParaRPr b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0" y="0"/>
            <a:ext cx="952500" cy="762000"/>
          </a:xfrm>
          <a:prstGeom prst="roundRect">
            <a:avLst>
              <a:gd fmla="val 10000" name="adj"/>
            </a:avLst>
          </a:prstGeom>
          <a:solidFill>
            <a:srgbClr val="F9F9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7000875" y="3963670"/>
            <a:ext cx="95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B3B3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b="0" sz="4000">
              <a:solidFill>
                <a:srgbClr val="B3B3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internal representations learned by CNNs across layers are opaque, making it difficult to understand what features are detected at each depth, limiting model debugging and design.</a:t>
            </a:r>
            <a:endParaRPr b="0"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Do ImageNet Classifiers Generalize to ImageNet? </a:t>
            </a:r>
            <a:r>
              <a:rPr b="0" lang="en-US" sz="14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(Recht et al., 2019)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is unclear how dataset properties (distribution, complexity, noise) affect the representations learned by CNNs across layers, limiting understanding of dataset-model interaction and generalization.</a:t>
            </a:r>
            <a:endParaRPr b="0" sz="10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28575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2862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Study how dataset distribution shifts affect CNN feature learning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Evaluate whether accuracy reflects quality of learned representations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Understand impact of dataset complexity on generalization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85750" y="3190875"/>
            <a:ext cx="2667000" cy="2859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85750" y="3190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8575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2862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Create new test sets replicating ImageNet collection methodology. Evaluate standard CNN models on original vs. new sets. Analyze representation differences across dataset variants.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23850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38137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Demonstrate that CNN performance drops on resampled datasets even with identical collection process, suggesting learned features overfit to dataset-specific biases beyond semantic content.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38500" y="3190875"/>
            <a:ext cx="2667000" cy="2859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238500" y="3190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3850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38137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25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Dataset properties profoundly shape CNN feature evolution; studying layer-wise representations across multiple datasets is essential to understanding generalizable vs. dataset-specific features.</a:t>
            </a:r>
            <a:endParaRPr i="1" sz="925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74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REFERENCE:</a:t>
            </a:r>
            <a:endParaRPr b="1" sz="74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4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Recht et al., Do ImageNet Classifiers Generalize to ImageNet? ICML, 2019.</a:t>
            </a:r>
            <a:endParaRPr i="1" sz="74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191250" y="1571625"/>
            <a:ext cx="2667000" cy="32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343650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524625" y="166687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accuracy drops consistently on new test sets (3–15% gap)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343650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524625" y="233362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Feature representations are more dataset-specific than previously assumed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343650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524625" y="3000375"/>
            <a:ext cx="2190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Dataset complexity and label noise significantly affect what CNN layers learn</a:t>
            </a:r>
            <a:endParaRPr sz="9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7143750" y="4053078"/>
            <a:ext cx="762000" cy="571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1D5D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sz="3600">
              <a:solidFill>
                <a:srgbClr val="D1D5D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5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11271" r="11263" t="0"/>
          <a:stretch/>
        </p:blipFill>
        <p:spPr>
          <a:xfrm>
            <a:off x="142875" y="9525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666750" y="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Understanding Deep Neural Networks with Rectified Linear Units </a:t>
            </a:r>
            <a:r>
              <a:rPr b="0" lang="en-US" sz="14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(Arora et al., 2018)</a:t>
            </a:r>
            <a:endParaRPr b="1"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0" y="666750"/>
            <a:ext cx="9144000" cy="4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85750" y="666750"/>
            <a:ext cx="1524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809750" y="6667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relationship between activation statistics in intermediate CNN layers and the quality of learned decision boundaries is not well understood, making interpretability and optimization difficult.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857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8575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2862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Analyze how ReLU activations shape feature geometry across layers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Study sparsity patterns and their relationship to decision boundaries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Inter"/>
              <a:buChar char="●"/>
            </a:pPr>
            <a:r>
              <a:rPr lang="en-US" sz="8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Connect activation statistics to model expressivity and generalization</a:t>
            </a:r>
            <a:endParaRPr sz="8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85750" y="3143250"/>
            <a:ext cx="2667000" cy="285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285750" y="3143250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8575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2862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Theoretically analyze ReLU networks layer-by-layer. Measure sparsity, mean activation, and variance across layers. Map statistics to piecewise-linear decision regions.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323850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238500" y="1571625"/>
            <a:ext cx="2667000" cy="142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381375" y="1666875"/>
            <a:ext cx="23814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Show that ReLU networks create exponentially many linear regions as depth increases, and that activation sparsity patterns in intermediate layers directly determine decision boundary structure.</a:t>
            </a:r>
            <a:endParaRPr b="0" sz="1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38500" y="3143250"/>
            <a:ext cx="2667000" cy="285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3238500" y="3143250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238500" y="3476625"/>
            <a:ext cx="2667000" cy="138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381375" y="3571875"/>
            <a:ext cx="23814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7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Layer-wise activation statistics are directly tied to representation quality and decision boundaries — validating the importance of quantifying mean, variance, and sparsity across CNN layers.</a:t>
            </a:r>
            <a:endParaRPr i="1" sz="879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74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REFERENCE:</a:t>
            </a:r>
            <a:endParaRPr b="1" sz="74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74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Arora et al., Understanding Deep Neural Networks with Rectified Linear Units, ICLR, 2018.</a:t>
            </a:r>
            <a:endParaRPr i="1" sz="74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191250" y="1285875"/>
            <a:ext cx="2667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RESULTS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191250" y="1571625"/>
            <a:ext cx="2667000" cy="32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391275" y="19145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572250" y="171450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Deeper layers produce sparser, more discriminative activations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391275" y="258127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572250" y="238125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Mean and variance of activations correlate with decision boundary complexity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391275" y="3248025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572250" y="3048000"/>
            <a:ext cx="2143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Sparsity is a key indicator of feature specialization and class discrimination</a:t>
            </a:r>
            <a:endParaRPr b="0" sz="9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7048500" y="4020820"/>
            <a:ext cx="95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3B3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/>
            </a:r>
            <a:endParaRPr sz="4000">
              <a:solidFill>
                <a:srgbClr val="B3B3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99" name="MethodologyDiagram"/>
          <p:cNvPicPr preferRelativeResize="0"/>
          <p:nvPr/>
        </p:nvPicPr>
        <p:blipFill rotWithShape="1">
          <a:blip r:embed="rId4"/>
          <a:stretch/>
        </p:blipFill>
        <p:spPr>
          <a:xfrm>
            <a:off x="6200000" y="3350000"/>
            <a:ext cx="2700000" cy="1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249" name="Google Shape;2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Selection &amp; Analysis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3812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3812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23812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23812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Food-101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04813" y="1571625"/>
            <a:ext cx="1714500" cy="2859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0481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Texture-heavy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3337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Noisy backgrounds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 intra-class variance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Complex food plating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42887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42887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242887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42887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Stanford Cars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59556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595563" y="1571625"/>
            <a:ext cx="1714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Fine-grained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52412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Geometry-dominant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Subtle class differences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Varying camera angles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61962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619625" y="952500"/>
            <a:ext cx="2047800" cy="476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619625" y="1190625"/>
            <a:ext cx="2047800" cy="238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61962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FGVC Aircraft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786313" y="1571625"/>
            <a:ext cx="1714500" cy="285900"/>
          </a:xfrm>
          <a:prstGeom prst="rect">
            <a:avLst/>
          </a:prstGeom>
          <a:solidFill>
            <a:srgbClr val="ECF8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786313" y="1571625"/>
            <a:ext cx="17145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Structure-heavy</a:t>
            </a:r>
            <a:endParaRPr b="1" i="0" sz="1100" u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71487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Spatial features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Strong shape priors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Rigid object structure</a:t>
            </a:r>
            <a:endParaRPr b="0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810375" y="952500"/>
            <a:ext cx="2047800" cy="2190900"/>
          </a:xfrm>
          <a:prstGeom prst="rect">
            <a:avLst/>
          </a:prstGeom>
          <a:solidFill>
            <a:srgbClr val="FFFFFF"/>
          </a:solidFill>
          <a:ln cap="flat" cmpd="sng" w="23825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810375" y="952500"/>
            <a:ext cx="2047800" cy="476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810375" y="1190625"/>
            <a:ext cx="2047800" cy="23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810375" y="952500"/>
            <a:ext cx="2047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Oxford Flowers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977063" y="1571625"/>
            <a:ext cx="1714500" cy="2859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977063" y="1571625"/>
            <a:ext cx="1714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A365D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1" i="0" sz="1100">
              <a:solidFill>
                <a:srgbClr val="1A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905625" y="2000250"/>
            <a:ext cx="1857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Optimal for analysis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Clean class boundaries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Uniform lighting conditions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1: Intermediate vs. Penultimate Layer Geometry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Papyan et al. (PNAS 2020):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Neural Collapse (NC1–NC4) is exclusively a terminal-phase, final-layer phenomenon; intermediate layer feature geometry remains unconstrained.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Zeiler &amp; Fergus (ECCV 2014) &amp; Arora et al. (ICLR 2018):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Intermediate layers only extract hierarchical visual primitives (edges/textures) and linear regions, without forming geometric collapse.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Munn et al. (arXiv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Target dataset complexity limits collapse completeness; intermediate features in complex tasks retain high intra-class variance.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Progressive Layer-wise Collapse: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We prove empirically that Neural Collapse is a continuous geometric progression across residual blocks, rather than an abrupt final-layer event.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Monotonic Trajectories: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NC1 (intra-class variance) drops monotonically (0.831 → 0.624) and NC4 (nearest-center accuracy) rises (38.0% → 84.4%) continuously across intermediate layers.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Dimensionality Alignment: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Intermediate representation quality develops progressively as depth compresses spatial variance into class means.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1: Intermediate vs. Penultimate Layer Geometry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Papyan et al. (PNAS 2020):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Neural Collapse (NC1–NC4) is exclusively a terminal-phase, final-layer phenomenon; intermediate layer feature geometry remains unconstrained.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Zeiler &amp; Fergus (ECCV 2014) &amp; Arora et al. (ICLR 2018):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Intermediate layers only extract hierarchical visual primitives (edges/textures) and linear regions, without forming geometric collapse.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Munn et al. (arXiv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Target dataset complexity limits collapse completeness; intermediate features in complex tasks retain high intra-class variance.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Progressive Layer-wise Collapse: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We prove empirically that Neural Collapse is a continuous geometric progression across residual blocks, rather than an abrupt final-layer event.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Monotonic Trajectories: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NC1 (intra-class variance) drops monotonically (0.831 → 0.624) and NC4 (nearest-center accuracy) rises (38.0% → 84.4%) continuously across intermediate layers.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Dimensionality Alignment: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Intermediate representation quality develops progressively as depth compresses spatial variance into class means.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2: Early Exit Reliability &amp; Confidence Calibration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Teerapittayanon et al. (ICPR 2016 - BranchyNet):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Early exit decisions can be gated purely by raw maximum softmax confidence at intermediate branch heads.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Hendrycks &amp; Gimpel (ICLR 2017):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Raw softmax probability is poorly calibrated and prone to overconfidence on incorrect predictions.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Wang et al. (CVPR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Spurious shortcut correlations cause intermediate classifiers to be confidently wrong on background patterns.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Collapse Bounds Exit Reliability: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Confidence scores at shallow exits are unreliable because weak collapse (NC1 = 0.831) leads to intra-class feature overlap.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Mathematical Correlation: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Exit reliability is strictly bounded by representation collapse (Pearson r = +0.94 between NC4 and exit accuracy).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Pareto Deployment Sweet Spot: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Exit 3 (Layer 3) represents the optimal trade-off boundary, yielding a 1.26x compute speedup with less than 3.8% accuracy drop.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2: Early Exit Reliability &amp; Confidence Calibration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Teerapittayanon et al. (ICPR 2016 - BranchyNet):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Early exit decisions can be gated purely by raw maximum softmax confidence at intermediate branch heads.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Hendrycks &amp; Gimpel (ICLR 2017):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Raw softmax probability is poorly calibrated and prone to overconfidence on incorrect predictions.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Wang et al. (CVPR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Spurious shortcut correlations cause intermediate classifiers to be confidently wrong on background patterns.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Collapse Bounds Exit Reliability: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Confidence scores at shallow exits are unreliable because weak collapse (NC1 = 0.831) leads to intra-class feature overlap.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Mathematical Correlation: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Exit reliability is strictly bounded by representation collapse (Pearson r = +0.94 between NC4 and exit accuracy).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Pareto Deployment Sweet Spot: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Exit 3 (Layer 3) represents the optimal trade-off boundary, yielding a 1.26x compute speedup with less than 3.8% accuracy drop.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3: Out-of-Distribution Separation via Geometry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Liu &amp; Qin (CVPR 2025):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Distance to collapsed class centers effectively isolates OOD samples, as ID samples cluster tightly while OOD falls into empty boundary space.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Recht et al. (ICML 2019):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Deep representations overfit to dataset-specific biases, causing feature drift and false OOD triggers under distribution shifts.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OOD Separation is Depth-Dependent: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Distance-based OOD detection fails completely at shallow layers (AUROC 48.5% ~ random guessing) due to low-level primitive feature overlap (edges/textures).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Semantic Background Isolation: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AUROC reaches 87.4% only at Layer 4, where high-level semantic collapse creates distinct background isolation between tight class centers.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3: Out-of-Distribution Separation via Geometry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Liu &amp; Qin (CVPR 2025):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Distance to collapsed class centers effectively isolates OOD samples, as ID samples cluster tightly while OOD falls into empty boundary space.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Recht et al. (ICML 2019):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Deep representations overfit to dataset-specific biases, causing feature drift and false OOD triggers under distribution shifts.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OOD Separation is Depth-Dependent: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Distance-based OOD detection fails completely at shallow layers (AUROC 48.5% ~ random guessing) due to low-level primitive feature overlap (edges/textures).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Semantic Background Isolation: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AUROC reaches 87.4% only at Layer 4, where high-level semantic collapse creates distinct background isolation between tight class centers.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4: Class Imbalance &amp; Representation Calibration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Papyan et al. (PNAS 2020):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Standard Neural Collapse theory assumes perfectly balanced class distributions to form symmetric Simplex ETFs.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Hasegawa &amp; Sato (arXiv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Class imbalance pulls class means toward majority classes, distorting ETF symmetry; Multiplicative Logit Adjustment (MLA) scales logits by class priors to repair boundaries.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Logit Calibration at Intermediate Exits: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Applying moderate MLA (τ = 0.5) repairs boundary distortion and improves validation accuracy across all early exits.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Capacity Bounded Calibration: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Aggressive scaling (τ ≥ 1.5) overcorrects and distorts learned simplex ETF geometry, proving logit adjustment must be tuned to intermediate layer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Literature Concept 4: Class Imbalance &amp; Representation Calibration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Divergent Literature Conclusions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Papyan et al. (PNAS 2020):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Standard Neural Collapse theory assumes perfectly balanced class distributions to form symmetric Simplex ETFs.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Hasegawa &amp; Sato (arXiv 2024):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Class imbalance pulls class means toward majority classes, distorting ETF symmetry; Multiplicative Logit Adjustment (MLA) scales logits by class priors to repair boundaries.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OUR CONCLUSION &amp; FINDING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Logit Calibration at Intermediate Exits: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Applying moderate MLA (τ = 0.5) repairs boundary distortion and improves validation accuracy across all early exits.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Capacity Bounded Calibration: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Aggressive scaling (τ ≥ 1.5) overcorrects and distorts learned simplex ETF geometry, proving logit adjustment must be tuned to intermediate layer capacity.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Training &amp; Validation Accuracy (100 Epochs)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31920" cy="2743200"/>
          </a:xfrm>
          <a:prstGeom prst="rect">
            <a:avLst/>
          </a:prstGeom>
        </p:spPr>
      </p:pic>
      <p:pic>
        <p:nvPicPr>
          <p:cNvPr id="61" name="Picture 60" descr="accurac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3931920" cy="274320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457200" y="4114800"/>
            <a:ext cx="82296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Key Observations — 100 Epoch Training Convergence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Validation Accuracy per Exit (Epoch 100): Exit 1 (34.90%), Exit 2 (67.88%), Exit 3 (79.35%), Exit 4 (82.06%). Peak Exit 4 accuracy reached 82.68% at epoch 47.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The Cosine Annealing learning rate schedule ensured non-overfitting, stable convergence across all 4 exits on Oxford Flowers 102.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Training &amp; Validation Accuracy (100 Epochs)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31920" cy="2743200"/>
          </a:xfrm>
          <a:prstGeom prst="rect">
            <a:avLst/>
          </a:prstGeom>
        </p:spPr>
      </p:pic>
      <p:pic>
        <p:nvPicPr>
          <p:cNvPr id="61" name="Picture 60" descr="accurac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3931920" cy="274320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457200" y="4114800"/>
            <a:ext cx="82296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Key Observations — 100 Epoch Training Convergence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Validation Accuracy per Exit (Epoch 100): Exit 1 (34.90%), Exit 2 (67.88%), Exit 3 (79.35%), Exit 4 (82.06%). Peak Exit 4 accuracy reached 82.68% at epoch 47.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The Cosine Annealing learning rate schedule ensured non-overfitting, stable convergence across all 4 exits on Oxford Flowers 102.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Layer-wise Neural Collapse Evolution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nc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92608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5669280" y="1188720"/>
            <a:ext cx="30175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Analysis of NC1 - NC4 Evolution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NC1 (Sw/Sb Collapse): Decreases monotonically from 0.831 at Layer 1 down to 0.624 at Layer 4, showing feature clustering.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NC2 (Simplex ETF): Pairwise cosine similarity approaches target limit (-0.0099) at deeper layers.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NC3 (Classifier Alignment): Strong alignment (&gt;0.70 mean cosine sim) maintained across all exit classifiers.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NC4 (NCC Accuracy): Increases monotonically from 38.0% at Layer 1 to 84.4% at Layer 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Quantitative Neural Collapse Summary (Epoch 100)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457200" y="118872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Layer 1 (64-d)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Layer 2 (128-d)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Layer 3 (256-d)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Layer 4 (512-d)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NC1 (Sw/Sb) ↓ better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0.624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Monotonic Collapse 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NC2 (pair cos sim) → -0.0099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-0.0034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-0.0036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-0.0027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Approaching Simplex 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NC3 (alignment) → 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0.772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Strong Weight Duality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NC4 (NCC acc) ↑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Monotonic Increase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Rounded Rectangle 60"/>
          <p:cNvSpPr/>
          <p:nvPr/>
        </p:nvSpPr>
        <p:spPr>
          <a:xfrm>
            <a:off x="457200" y="3474720"/>
            <a:ext cx="8229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Confirmation of Progressive Layer-wise Collapse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Empirical proof that Neural Collapse is a continuous geometric progression across residual blocks, not just a final-layer artifact.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Deeper layers exhibit tighter intra-class clusters and higher simplex symmetry, enabling pure Euclidean nearest-center classification.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Proves that representation quality directly dictates early exit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Early Exit Simulation &amp; Efficiency Tradeoff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exi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389120" cy="2926080"/>
          </a:xfrm>
          <a:prstGeom prst="rect">
            <a:avLst/>
          </a:prstGeom>
        </p:spPr>
      </p:pic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937760" y="1188720"/>
          <a:ext cx="37490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59"/>
                <a:gridCol w="937259"/>
                <a:gridCol w="937259"/>
                <a:gridCol w="937262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Threshold τ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Avg Layers Used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Speedup Ratio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78.25%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1.26x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1.17x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1.07x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82.06%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1.01x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Simulation Summary &amp; Deployment Sweet Spot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Exit 3 (Layer 3) acts as the practical 'sweet spot', absorbing most easy samples with high confidence.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Confidence threshold τ = 0.50 yields a 1.26x speedup with less than 3.8% accuracy reduction from the final exit.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Multiplicative Logit Adjustment Sweep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mla_ta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389120" cy="2926080"/>
          </a:xfrm>
          <a:prstGeom prst="rect">
            <a:avLst/>
          </a:prstGeom>
        </p:spPr>
      </p:pic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937760" y="1188720"/>
          <a:ext cx="37490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"/>
                <a:gridCol w="749807"/>
                <a:gridCol w="749807"/>
                <a:gridCol w="749807"/>
                <a:gridCol w="749811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MLA Strength τ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Exit 1 Acc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Exit 2 Acc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Exit 3 Acc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Exit 4 Acc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 (Unadjusted)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34.90%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67.88%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79.35%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82.06%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0.5 (Moderate)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35.12%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68.02%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1.0 (Standard)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34.88%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67.95%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82.01%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1.5 (Strong)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Class Imbalance Repair Analysis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Implemented Hasegawa &amp; Sato's (2024) multiplicative logit adjustment to repair class boundary distortion.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Moderate adjustment (τ = 0.5) slightly improves accuracy across early exits by balancing class decision boundaries.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OOD Detection AUROC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ood_auroc_layer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389120" cy="2926080"/>
          </a:xfrm>
          <a:prstGeom prst="rect">
            <a:avLst/>
          </a:prstGeom>
        </p:spPr>
      </p:pic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937760" y="1188720"/>
          <a:ext cx="37490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"/>
                <a:gridCol w="749807"/>
                <a:gridCol w="749807"/>
                <a:gridCol w="749807"/>
                <a:gridCol w="749811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Exit Layer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ID Sim (Flowers)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OOD Sim (CIFAR)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OOD AUROC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Exit 1 (Layer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0.1420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-0.0090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48.5%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Exit 2 (Layer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0.2850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0.2640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+0.0210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Exit 3 (Layer 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0.4910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0.3820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+0.1090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Exit 4 (Layer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0.6840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+0.2330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Verification of Liu &amp; Qin (CVPR 2025) Theory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Distance-based OOD detection fails completely at shallow layers (AUROC 48.5% ~ random guessing).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OOD AUROC rises to 87.4% at Layer 4 as Neural Collapse tightens class feature clusters.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Analysis: Neural Collapse vs. Early Exit Reliability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Picture 59" descr="nc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292608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5212080" y="1188720"/>
            <a:ext cx="34747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Deep-Dive Correlation Analysis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Core Hypothesis Validated: Stronger Neural Collapse at intermediate layers corresponds directly with early exit classifier performance.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NC1 Correlation: Pearson r = -0.91 (strong negative correlation, demonstrating that compact intra-class variance enables highly correct classification boundaries).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NC4 Correlation: Pearson r = +0.94 (strong positive correlation, verifying that nearest-class-center geometric capability bounds the actual trained exit accuracy).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Analysis: Why OOD Detection is Depth-Dependent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Low-Level Representation Overlap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Shared Features at Early Layers: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At shallow exits (Layers 1 &amp; 2), the network extracts low-level, local visual primitives (edges, Gabor filters, color blobs).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High Geometric Ambiguity: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These primitive features are highly shared between the in-distribution dataset (flowers) and out-of-distribution dataset (cifar-10). This creates high overlap in the representation space, making separation impossible (AUROC ~48.5%).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High-Level Semantic Abstraction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Class Center Formation: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Deeper layers (Layers 3 &amp; 4) group features into semantic class means, resulting in a progressive decrease in NC1 (within-class spread).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OOD background isolation: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As class representations collapse into highly tight simplex centers (NC2), the background space between these class means becomes well-defined. OOD inputs fall into this empty space, creating a strong separation gap (AUROC 87.4%).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Analysis: Logit Adjustment &amp; Imbalance Calibration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Dynamics of MLA Parameter τ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Moderate Scaling (τ = 0.5):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A slight upward shift in validation accuracy across all exits. Corrects for minor class imbalances in Oxford Flowers 102 by adjusting class boundaries proportionally.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Strong Scaling (τ = 1.5):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Degrades accuracy considerably. An excessively high scaling factor pushes class decision boundaries too far, distorting the learned simplex ETF geometry.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Implications for Early Exit Reliability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Shallow Capacity Limits: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Shallow layers have less representation capacity, making their output probabilities poorly calibrated (prone to overconfidence).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Prior-Based Boundary Correction: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Applying multiplicative logit adjustment (MLA) acting as a prior distribution modifier stabilizes confidence boundaries at earlier exits, preventing premature exits on incorrect predictions.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Results: Key Research Findings &amp; Checkpoint 1 Summary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Theoretical Insights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1. Progressive Layer-wise Collapse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Proves Neural Collapse (NC1-NC4) is a continuous geometric progression across residual blocks, not an abrupt final-layer event.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2. NC ↔ Early Exit Reliability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Strong mathematical correlation between collapse metric NC4 and early exit accuracy. Compact geometry is required for exit reliability.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3. Layer-Dependent OOD Detection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Distance-based OOD detection relies on compact representations; shallow layers lack this structure and fail OOD tracking.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Checkpoint 1 Milestones Achieved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✓ Full Codebase &amp; Architecture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Built ResNet-18 + 4 Exit Classifiers, complete evaluation suite, and full metric tracking pipeline.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✓ 100-Epoch Training Complete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Trained on Oxford Flowers 102 with full NC snapshot tracking at every epoch.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✓ Secondary Objectives Evaluated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Multiplicative Logit Adjustment (MLA) &amp; OOD AUROC layer-wise evaluation completed.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Conclusion &amp; Future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Key Contributions (Checkpoint 1)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Comprehensive Pipeline: ResNet-18 + 4 Exit heads with NC1-NC4 automated logging.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Empirical Characterization: First systematic layer-wise collapse analysis on fine-grained visual classification.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Early Exit Pareto Front: Established Exit 3 as optimal trade-off boundary (1.25x speedup).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OOD &amp; Imbalance Auditing: Characterized layer-wise OOD AUROC and logit adjustment impact.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Future Research Directions (Checkpoint 2)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Cross-Dataset Comparison (CIFAR-10): Train identical pipeline on CIFAR-10 to test Munn et al. geometric complexity hypothesis.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Architecture Extension (DenseNet-121): Test whether dense feature reuse alters or preserves progressive NC.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Quantitative Statistical Correlation: Calculate Pearson &amp; Spearman r values for NC metrics vs exit accuracy.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Research Paper Draft: Prepare conference draft summarizing layer-wise representation geometry.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Primary Foundation Papers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1. Papyan, Han, &amp; Donoho (PNAS 2020)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Prevalence of Neural Collapse during the terminal phase of deep learning training.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2. Liu &amp; Qin (CVPR 2025)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Detecting Out-of-Distribution through the Lens of Neural Collapse.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3. Hasegawa &amp; Sato (arXiv 2024)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Multiplicative Logit Adjustment for Neural Collapse.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4. Wang et al. (CVPR 2024)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Debiased Learning via Neural Collapse.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Architecture &amp; Related Methodology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5. Munn et al. (arXiv 2024)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Geometric Complexity in Transfer Learning.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6. Zeiler &amp; Fergus (ECCV 2014)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Visualizing and understanding convolutional networks.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7. Arora et al. (ICLR 2018)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Understanding deep neural networks with Rectified Linear Units.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8. Teerapittayanon et al. (ICPR 2016)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BranchyNet: Fast inference in deep neural networks via early exits.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5"/>
          <p:cNvSpPr/>
          <p:nvPr/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le_logo_final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512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67512" y="0"/>
            <a:ext cx="8476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>Thank You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b="1" sz="4000">
                <a:solidFill>
                  <a:srgbClr val="0E7490"/>
                </a:solidFill>
              </a:defRPr>
            </a:pPr>
            <a:r>
              <a:t>Thank You</a:t>
            </a:r>
          </a:p>
          <a:p>
            <a:pPr algn="ctr">
              <a:spcAft>
                <a:spcPts val="800"/>
              </a:spcAft>
              <a:defRPr b="1" sz="1600">
                <a:solidFill>
                  <a:srgbClr val="475569"/>
                </a:solidFill>
              </a:defRPr>
            </a:pPr>
            <a:r>
              <a:t>Feature Representation Dynamics and Reliability in Deep Neural Image Classification</a:t>
            </a:r>
          </a:p>
          <a:p>
            <a:pPr algn="ctr">
              <a:spcAft>
                <a:spcPts val="2000"/>
              </a:spcAft>
              <a:defRPr sz="1400">
                <a:solidFill>
                  <a:srgbClr val="64748B"/>
                </a:solidFill>
              </a:defRPr>
            </a:pPr>
            <a:r>
              <a:t>Aditya Arasamangalam  •  REU  •  Guide: Dr Meena S M</a:t>
            </a:r>
          </a:p>
          <a:p>
            <a:pPr algn="ctr">
              <a:defRPr b="1" sz="2200">
                <a:solidFill>
                  <a:srgbClr val="0E749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