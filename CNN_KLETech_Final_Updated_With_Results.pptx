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</p:sldIdLst>
  <p:sldSz cy="5143500" cx="9144000"/>
  <p:notesSz cx="5143500" cy="9144000"/>
  <p:embeddedFontLst>
    <p:embeddedFont>
      <p:font typeface="Inter"/>
      <p:bold r:id="rId20"/>
      <p:boldItalic r:id="rId2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7996F48-4C62-4C66-BBC9-E9579EBA44FE}">
  <a:tblStyle styleId="{67996F48-4C62-4C66-BBC9-E9579EBA44F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font" Target="fonts/Inter-bold.fntdata"/><Relationship Id="rId21" Type="http://schemas.openxmlformats.org/officeDocument/2006/relationships/font" Target="fonts/Inter-boldItalic.fntdata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5" name="Google Shape;25;p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" name="Google Shape;26;p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4" name="Google Shape;54;p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" name="Google Shape;62;p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" name="Google Shape;63;p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6" name="Google Shape;86;p5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5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3" name="Google Shape;133;p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71" name="Google Shape;171;p7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7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8" name="Google Shape;208;p8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8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5" name="Google Shape;245;p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81" name="Google Shape;281;p1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2" name="Google Shape;282;p1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96" name="Google Shape;296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p1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19" name="Google Shape;319;p1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1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58" name="Google Shape;358;p13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9" name="Google Shape;359;p13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91" name="Google Shape;391;p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2" name="Google Shape;392;p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9.png"/><Relationship Id="rId4" Type="http://schemas.openxmlformats.org/officeDocument/2006/relationships/image" Target="../media/image6.png"/><Relationship Id="rId5" Type="http://schemas.openxmlformats.org/officeDocument/2006/relationships/image" Target="../media/image_method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Relationship Id="rId4" Type="http://schemas.openxmlformats.org/officeDocument/2006/relationships/image" Target="../media/image_method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17" name="Google Shape;17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385" cy="66929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Department of Computer Science and Engineering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914400"/>
            <a:ext cx="8229600" cy="1554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Layer-wise Analysis of Feature Evolution in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Convolutional Neural Networks</a:t>
            </a:r>
            <a:endParaRPr b="0" i="0" sz="3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3"/>
          <p:cNvSpPr/>
          <p:nvPr/>
        </p:nvSpPr>
        <p:spPr>
          <a:xfrm>
            <a:off x="1828800" y="2857500"/>
            <a:ext cx="5486400" cy="36600"/>
          </a:xfrm>
          <a:prstGeom prst="rect">
            <a:avLst/>
          </a:prstGeom>
          <a:solidFill>
            <a:srgbClr val="B5192D"/>
          </a:solidFill>
          <a:ln cap="flat" cmpd="sng" w="12700">
            <a:solidFill>
              <a:srgbClr val="B5192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3"/>
          <p:cNvSpPr/>
          <p:nvPr/>
        </p:nvSpPr>
        <p:spPr>
          <a:xfrm>
            <a:off x="457200" y="3028950"/>
            <a:ext cx="8229600" cy="365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latin typeface="Calibri"/>
                <a:ea typeface="Calibri"/>
                <a:cs typeface="Calibri"/>
                <a:sym typeface="Calibri"/>
              </a:rPr>
              <a:t xml:space="preserve"> Name:</a:t>
            </a:r>
            <a:r>
              <a:rPr b="1" lang="en-US" sz="15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Aditya Arasamangalam</a:t>
            </a:r>
            <a:endParaRPr b="1" sz="15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457200" y="3409950"/>
            <a:ext cx="8229600" cy="3201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Course: Research Experience for Undergraduates | Guide: Dr Meena S M</a:t>
            </a:r>
            <a:endParaRPr b="1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29" name="Google Shape;29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Motivation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31" name="Google Shape;31;p4"/>
          <p:cNvGrpSpPr/>
          <p:nvPr/>
        </p:nvGrpSpPr>
        <p:grpSpPr>
          <a:xfrm>
            <a:off x="381000" y="952500"/>
            <a:ext cx="4095900" cy="1714500"/>
            <a:chOff x="381000" y="952500"/>
            <a:chExt cx="4095900" cy="1714500"/>
          </a:xfrm>
        </p:grpSpPr>
        <p:sp>
          <p:nvSpPr>
            <p:cNvPr id="32" name="Google Shape;32;p4"/>
            <p:cNvSpPr/>
            <p:nvPr/>
          </p:nvSpPr>
          <p:spPr>
            <a:xfrm>
              <a:off x="381000" y="952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3" name="Google Shape;33;p4"/>
            <p:cNvSpPr/>
            <p:nvPr/>
          </p:nvSpPr>
          <p:spPr>
            <a:xfrm>
              <a:off x="381000" y="952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" name="Google Shape;34;p4"/>
            <p:cNvSpPr txBox="1"/>
            <p:nvPr/>
          </p:nvSpPr>
          <p:spPr>
            <a:xfrm>
              <a:off x="619125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Accuracy vs Interpretability</a:t>
              </a:r>
              <a:endParaRPr b="1" sz="1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5" name="Google Shape;35;p4"/>
            <p:cNvSpPr txBox="1"/>
            <p:nvPr/>
          </p:nvSpPr>
          <p:spPr>
            <a:xfrm>
              <a:off x="619125" y="1524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CNNs achieve high accuracy but lack interpretability, creating a gap between performance and understanding.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36" name="Google Shape;36;p4"/>
          <p:cNvGrpSpPr/>
          <p:nvPr/>
        </p:nvGrpSpPr>
        <p:grpSpPr>
          <a:xfrm>
            <a:off x="4667250" y="952500"/>
            <a:ext cx="4095900" cy="1714500"/>
            <a:chOff x="4667250" y="952500"/>
            <a:chExt cx="4095900" cy="1714500"/>
          </a:xfrm>
        </p:grpSpPr>
        <p:sp>
          <p:nvSpPr>
            <p:cNvPr id="37" name="Google Shape;37;p4"/>
            <p:cNvSpPr/>
            <p:nvPr/>
          </p:nvSpPr>
          <p:spPr>
            <a:xfrm>
              <a:off x="4667250" y="952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8" name="Google Shape;38;p4"/>
            <p:cNvSpPr/>
            <p:nvPr/>
          </p:nvSpPr>
          <p:spPr>
            <a:xfrm>
              <a:off x="4667250" y="952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" name="Google Shape;39;p4"/>
            <p:cNvSpPr txBox="1"/>
            <p:nvPr/>
          </p:nvSpPr>
          <p:spPr>
            <a:xfrm>
              <a:off x="4905375" y="1095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Black Box Problem</a:t>
              </a:r>
              <a:endParaRPr b="1" sz="1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0" name="Google Shape;40;p4"/>
            <p:cNvSpPr txBox="1"/>
            <p:nvPr/>
          </p:nvSpPr>
          <p:spPr>
            <a:xfrm>
              <a:off x="4905375" y="1524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Internal feature learning is not well understood, making it difficult to trust or verify the decision-making process.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1" name="Google Shape;41;p4"/>
          <p:cNvGrpSpPr/>
          <p:nvPr/>
        </p:nvGrpSpPr>
        <p:grpSpPr>
          <a:xfrm>
            <a:off x="381000" y="2857500"/>
            <a:ext cx="4095900" cy="1714500"/>
            <a:chOff x="381000" y="2857500"/>
            <a:chExt cx="4095900" cy="1714500"/>
          </a:xfrm>
        </p:grpSpPr>
        <p:sp>
          <p:nvSpPr>
            <p:cNvPr id="42" name="Google Shape;42;p4"/>
            <p:cNvSpPr/>
            <p:nvPr/>
          </p:nvSpPr>
          <p:spPr>
            <a:xfrm>
              <a:off x="381000" y="2857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4"/>
            <p:cNvSpPr/>
            <p:nvPr/>
          </p:nvSpPr>
          <p:spPr>
            <a:xfrm>
              <a:off x="381000" y="2857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4"/>
            <p:cNvSpPr txBox="1"/>
            <p:nvPr/>
          </p:nvSpPr>
          <p:spPr>
            <a:xfrm>
              <a:off x="619125" y="3000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Output-Centric View</a:t>
              </a:r>
              <a:endParaRPr b="1" sz="1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5" name="Google Shape;45;p4"/>
            <p:cNvSpPr txBox="1"/>
            <p:nvPr/>
          </p:nvSpPr>
          <p:spPr>
            <a:xfrm>
              <a:off x="619125" y="3429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Most work focuses on final outputs, leaving a critical knowledge gap regarding intermediate layer representations.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46" name="Google Shape;46;p4"/>
          <p:cNvGrpSpPr/>
          <p:nvPr/>
        </p:nvGrpSpPr>
        <p:grpSpPr>
          <a:xfrm>
            <a:off x="4667250" y="2857500"/>
            <a:ext cx="4095900" cy="1714500"/>
            <a:chOff x="4667250" y="2857500"/>
            <a:chExt cx="4095900" cy="1714500"/>
          </a:xfrm>
        </p:grpSpPr>
        <p:sp>
          <p:nvSpPr>
            <p:cNvPr id="47" name="Google Shape;47;p4"/>
            <p:cNvSpPr/>
            <p:nvPr/>
          </p:nvSpPr>
          <p:spPr>
            <a:xfrm>
              <a:off x="4667250" y="2857500"/>
              <a:ext cx="4095900" cy="1714500"/>
            </a:xfrm>
            <a:prstGeom prst="roundRect">
              <a:avLst>
                <a:gd fmla="val 6666" name="adj"/>
              </a:avLst>
            </a:prstGeom>
            <a:solidFill>
              <a:srgbClr val="F8FAFC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8" name="Google Shape;48;p4"/>
            <p:cNvSpPr/>
            <p:nvPr/>
          </p:nvSpPr>
          <p:spPr>
            <a:xfrm>
              <a:off x="4667250" y="2857500"/>
              <a:ext cx="76200" cy="1714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4"/>
            <p:cNvSpPr txBox="1"/>
            <p:nvPr/>
          </p:nvSpPr>
          <p:spPr>
            <a:xfrm>
              <a:off x="4905375" y="3000375"/>
              <a:ext cx="36195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Trust &amp; Explainability</a:t>
              </a:r>
              <a:endParaRPr b="1" sz="1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0" name="Google Shape;50;p4"/>
            <p:cNvSpPr txBox="1"/>
            <p:nvPr/>
          </p:nvSpPr>
          <p:spPr>
            <a:xfrm>
              <a:off x="4905375" y="3429000"/>
              <a:ext cx="3619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4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Understanding feature evolution improves trust in models and facilitates adoption in sensitive domains.</a:t>
              </a:r>
              <a:endParaRPr b="0" sz="14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1" name="Google Shape;51;p4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35121" y="0"/>
            <a:ext cx="2808879" cy="66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8" name="ProblemStatementText"/>
          <p:cNvSpPr txBox="1"/>
          <p:nvPr/>
        </p:nvSpPr>
        <p:spPr>
          <a:xfrm>
            <a:off x="381000" y="900000"/>
            <a:ext cx="8382000" cy="4200000"/>
          </a:xfrm>
          <a:prstGeom prst="rect">
            <a:avLst/>
          </a:prstGeom>
          <a:solidFill>
            <a:srgbClr val="F2F2F2"/>
          </a:solidFill>
          <a:ln>
            <a:solidFill>
              <a:srgbClr val="D0D8E8"/>
            </a:solidFill>
          </a:ln>
        </p:spPr>
        <p:txBody>
          <a:bodyPr anchorCtr="0" anchor="ctr" bIns="182880" lIns="182880" rIns="182880" tIns="182880" wrap="square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2000">
                <a:solidFill>
                  <a:srgbClr val="1A365D"/>
                </a:solidFill>
                <a:latin typeface="Calibri"/>
              </a:rPr>
              <a:t>To investigate how internal representations in CNNs evolve across layers and to identify the role of dataset properties in shaping these representations.</a:t>
            </a:r>
          </a:p>
          <a:p>
            <a:pPr indent="0" lvl="0" marL="0" rtl="0" algn="ctr">
              <a:spcBef>
                <a:spcPts val="400"/>
              </a:spcBef>
              <a:buNone/>
            </a:pPr>
            <a:endParaRPr lang="en-US" sz="2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666750"/>
            <a:ext cx="9144000" cy="44769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6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67" name="Google Shape;67;p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6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Research Objectives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69" name="Google Shape;69;p6"/>
          <p:cNvGrpSpPr/>
          <p:nvPr/>
        </p:nvGrpSpPr>
        <p:grpSpPr>
          <a:xfrm>
            <a:off x="381000" y="1047750"/>
            <a:ext cx="8382000" cy="952500"/>
            <a:chOff x="381000" y="1047750"/>
            <a:chExt cx="8382000" cy="952500"/>
          </a:xfrm>
        </p:grpSpPr>
        <p:sp>
          <p:nvSpPr>
            <p:cNvPr id="70" name="Google Shape;70;p6"/>
            <p:cNvSpPr/>
            <p:nvPr/>
          </p:nvSpPr>
          <p:spPr>
            <a:xfrm>
              <a:off x="381000" y="1047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1" name="Google Shape;71;p6"/>
            <p:cNvSpPr/>
            <p:nvPr/>
          </p:nvSpPr>
          <p:spPr>
            <a:xfrm>
              <a:off x="381000" y="1047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1A365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2" name="Google Shape;72;p6"/>
            <p:cNvSpPr txBox="1"/>
            <p:nvPr/>
          </p:nvSpPr>
          <p:spPr>
            <a:xfrm>
              <a:off x="619125" y="1047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1A365D"/>
                  </a:solidFill>
                  <a:latin typeface="Calibri"/>
                  <a:ea typeface="Calibri"/>
                  <a:cs typeface="Calibri"/>
                  <a:sym typeface="Calibri"/>
                </a:rPr>
                <a:t>01</a:t>
              </a:r>
              <a:endParaRPr b="1" sz="28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3" name="Google Shape;73;p6"/>
            <p:cNvSpPr txBox="1"/>
            <p:nvPr/>
          </p:nvSpPr>
          <p:spPr>
            <a:xfrm>
              <a:off x="1381125" y="1047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Analyze Hierarchical Feature Maps and Activation Statistics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Investigate feature representations and quantify activation sparsity across convolutional layers.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4" name="Google Shape;74;p6"/>
          <p:cNvGrpSpPr/>
          <p:nvPr/>
        </p:nvGrpSpPr>
        <p:grpSpPr>
          <a:xfrm>
            <a:off x="381000" y="2190750"/>
            <a:ext cx="8382000" cy="952500"/>
            <a:chOff x="381000" y="2190750"/>
            <a:chExt cx="8382000" cy="952500"/>
          </a:xfrm>
        </p:grpSpPr>
        <p:sp>
          <p:nvSpPr>
            <p:cNvPr id="75" name="Google Shape;75;p6"/>
            <p:cNvSpPr/>
            <p:nvPr/>
          </p:nvSpPr>
          <p:spPr>
            <a:xfrm>
              <a:off x="381000" y="2190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6" name="Google Shape;76;p6"/>
            <p:cNvSpPr/>
            <p:nvPr/>
          </p:nvSpPr>
          <p:spPr>
            <a:xfrm>
              <a:off x="381000" y="2190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0D6B8C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7" name="Google Shape;77;p6"/>
            <p:cNvSpPr txBox="1"/>
            <p:nvPr/>
          </p:nvSpPr>
          <p:spPr>
            <a:xfrm>
              <a:off x="619125" y="2190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0D6B8C"/>
                  </a:solidFill>
                  <a:latin typeface="Calibri"/>
                  <a:ea typeface="Calibri"/>
                  <a:cs typeface="Calibri"/>
                  <a:sym typeface="Calibri"/>
                </a:rPr>
                <a:t>02</a:t>
              </a:r>
              <a:endParaRPr b="1" sz="2800">
                <a:solidFill>
                  <a:srgbClr val="0D6B8C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8" name="Google Shape;78;p6"/>
            <p:cNvSpPr txBox="1"/>
            <p:nvPr/>
          </p:nvSpPr>
          <p:spPr>
            <a:xfrm>
              <a:off x="1381125" y="2190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Study Cross-Dataset Behavioral Patterns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Compare internal model responses across multiple datasets to identify consistent learning trends.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79" name="Google Shape;79;p6"/>
          <p:cNvGrpSpPr/>
          <p:nvPr/>
        </p:nvGrpSpPr>
        <p:grpSpPr>
          <a:xfrm>
            <a:off x="381000" y="3333750"/>
            <a:ext cx="8382000" cy="952500"/>
            <a:chOff x="381000" y="3333750"/>
            <a:chExt cx="8382000" cy="952500"/>
          </a:xfrm>
        </p:grpSpPr>
        <p:sp>
          <p:nvSpPr>
            <p:cNvPr id="80" name="Google Shape;80;p6"/>
            <p:cNvSpPr/>
            <p:nvPr/>
          </p:nvSpPr>
          <p:spPr>
            <a:xfrm>
              <a:off x="381000" y="3333750"/>
              <a:ext cx="8382000" cy="952500"/>
            </a:xfrm>
            <a:prstGeom prst="roundRect">
              <a:avLst>
                <a:gd fmla="val 8000" name="adj"/>
              </a:avLst>
            </a:prstGeom>
            <a:solidFill>
              <a:srgbClr val="FFFFFF"/>
            </a:solidFill>
            <a:ln cap="flat" cmpd="sng" w="9525">
              <a:solidFill>
                <a:srgbClr val="E2E8F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1" name="Google Shape;81;p6"/>
            <p:cNvSpPr/>
            <p:nvPr/>
          </p:nvSpPr>
          <p:spPr>
            <a:xfrm>
              <a:off x="381000" y="3333750"/>
              <a:ext cx="57300" cy="952500"/>
            </a:xfrm>
            <a:prstGeom prst="roundRect">
              <a:avLst>
                <a:gd fmla="val 50000" name="adj"/>
              </a:avLst>
            </a:prstGeom>
            <a:solidFill>
              <a:srgbClr val="B5192D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2" name="Google Shape;82;p6"/>
            <p:cNvSpPr txBox="1"/>
            <p:nvPr/>
          </p:nvSpPr>
          <p:spPr>
            <a:xfrm>
              <a:off x="619125" y="3333750"/>
              <a:ext cx="5715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B5192D"/>
                  </a:solidFill>
                  <a:latin typeface="Calibri"/>
                  <a:ea typeface="Calibri"/>
                  <a:cs typeface="Calibri"/>
                  <a:sym typeface="Calibri"/>
                </a:rPr>
                <a:t>03</a:t>
              </a:r>
              <a:endParaRPr b="1" sz="2800">
                <a:solidFill>
                  <a:srgbClr val="B5192D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3" name="Google Shape;83;p6"/>
            <p:cNvSpPr txBox="1"/>
            <p:nvPr/>
          </p:nvSpPr>
          <p:spPr>
            <a:xfrm>
              <a:off x="1381125" y="3333750"/>
              <a:ext cx="7191300" cy="952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800">
                  <a:solidFill>
                    <a:srgbClr val="334155"/>
                  </a:solidFill>
                  <a:latin typeface="Calibri"/>
                  <a:ea typeface="Calibri"/>
                  <a:cs typeface="Calibri"/>
                  <a:sym typeface="Calibri"/>
                </a:rPr>
                <a:t>Link Data Properties to Representation Learning</a:t>
              </a:r>
              <a:endParaRPr b="1" sz="1800">
                <a:solidFill>
                  <a:srgbClr val="334155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300"/>
                </a:spcBef>
                <a:spcAft>
                  <a:spcPts val="0"/>
                </a:spcAft>
                <a:buNone/>
              </a:pPr>
              <a:r>
                <a:rPr b="0" lang="en-US" sz="1300">
                  <a:solidFill>
                    <a:srgbClr val="64748B"/>
                  </a:solidFill>
                  <a:latin typeface="Calibri"/>
                  <a:ea typeface="Calibri"/>
                  <a:cs typeface="Calibri"/>
                  <a:sym typeface="Calibri"/>
                </a:rPr>
                <a:t>Establish a mathematical link between input dataset characteristics and resulting feature geometry.</a:t>
              </a:r>
              <a:endParaRPr b="0" sz="13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7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90" name="Google Shape;90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7"/>
          <p:cNvSpPr/>
          <p:nvPr/>
        </p:nvSpPr>
        <p:spPr>
          <a:xfrm>
            <a:off x="666750" y="0"/>
            <a:ext cx="84765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Prevalence of Neural Collapse during the Terminal Phase of Deep Learning Training (2021)</a:t>
            </a:r>
            <a:endParaRPr b="1" sz="1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2" name="Google Shape;92;p7"/>
          <p:cNvGrpSpPr/>
          <p:nvPr/>
        </p:nvGrpSpPr>
        <p:grpSpPr>
          <a:xfrm>
            <a:off x="285750" y="762000"/>
            <a:ext cx="8572500" cy="381000"/>
            <a:chOff x="285750" y="762000"/>
            <a:chExt cx="8572500" cy="381000"/>
          </a:xfrm>
        </p:grpSpPr>
        <p:sp>
          <p:nvSpPr>
            <p:cNvPr id="93" name="Google Shape;93;p7"/>
            <p:cNvSpPr/>
            <p:nvPr/>
          </p:nvSpPr>
          <p:spPr>
            <a:xfrm>
              <a:off x="285750" y="762000"/>
              <a:ext cx="8572500" cy="381000"/>
            </a:xfrm>
            <a:prstGeom prst="rect">
              <a:avLst/>
            </a:prstGeom>
            <a:solidFill>
              <a:srgbClr val="F3F4F6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4" name="Google Shape;94;p7"/>
            <p:cNvSpPr txBox="1"/>
            <p:nvPr/>
          </p:nvSpPr>
          <p:spPr>
            <a:xfrm>
              <a:off x="381000" y="762000"/>
              <a:ext cx="14289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0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PROBLEM STATEMENT</a:t>
              </a:r>
              <a:endParaRPr b="1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5" name="Google Shape;95;p7"/>
            <p:cNvSpPr txBox="1"/>
            <p:nvPr/>
          </p:nvSpPr>
          <p:spPr>
            <a:xfrm>
              <a:off x="1905000" y="762000"/>
              <a:ext cx="6858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0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Deep learning models in the terminal training phase show an unexpected geometric phenomenon where class representations collapse into tight clusters, but the mathematical conditions are not fully characterized.</a:t>
              </a:r>
              <a:endParaRPr b="0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96" name="Google Shape;96;p7"/>
          <p:cNvGrpSpPr/>
          <p:nvPr/>
        </p:nvGrpSpPr>
        <p:grpSpPr>
          <a:xfrm>
            <a:off x="285750" y="1285875"/>
            <a:ext cx="2667000" cy="1762275"/>
            <a:chOff x="285750" y="1285875"/>
            <a:chExt cx="2667000" cy="1762275"/>
          </a:xfrm>
        </p:grpSpPr>
        <p:sp>
          <p:nvSpPr>
            <p:cNvPr id="97" name="Google Shape;97;p7"/>
            <p:cNvSpPr/>
            <p:nvPr/>
          </p:nvSpPr>
          <p:spPr>
            <a:xfrm>
              <a:off x="285750" y="1285875"/>
              <a:ext cx="2667000" cy="2859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7"/>
            <p:cNvSpPr txBox="1"/>
            <p:nvPr/>
          </p:nvSpPr>
          <p:spPr>
            <a:xfrm>
              <a:off x="28575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OBJECTIVES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99" name="Google Shape;99;p7"/>
            <p:cNvSpPr/>
            <p:nvPr/>
          </p:nvSpPr>
          <p:spPr>
            <a:xfrm>
              <a:off x="285750" y="1619250"/>
              <a:ext cx="2667000" cy="14289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0" name="Google Shape;100;p7"/>
            <p:cNvSpPr txBox="1"/>
            <p:nvPr/>
          </p:nvSpPr>
          <p:spPr>
            <a:xfrm>
              <a:off x="428625" y="1714500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-292100" lvl="0" marL="457200" rtl="0" algn="l">
                <a:spcBef>
                  <a:spcPts val="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Identify and characterize neural collapse in deep networks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Analyze geometric structure of final-layer representations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-292100" lvl="0" marL="457200" rtl="0" algn="l">
                <a:spcBef>
                  <a:spcPts val="600"/>
                </a:spcBef>
                <a:spcAft>
                  <a:spcPts val="0"/>
                </a:spcAft>
                <a:buClr>
                  <a:srgbClr val="374151"/>
                </a:buClr>
                <a:buSzPts val="1000"/>
                <a:buFont typeface="Calibri"/>
                <a:buChar char="●"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Understand implications for generalization and feature quality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1" name="Google Shape;101;p7"/>
          <p:cNvGrpSpPr/>
          <p:nvPr/>
        </p:nvGrpSpPr>
        <p:grpSpPr>
          <a:xfrm>
            <a:off x="285750" y="3190875"/>
            <a:ext cx="2667000" cy="1714575"/>
            <a:chOff x="285750" y="3190875"/>
            <a:chExt cx="2667000" cy="1714575"/>
          </a:xfrm>
        </p:grpSpPr>
        <p:sp>
          <p:nvSpPr>
            <p:cNvPr id="102" name="Google Shape;102;p7"/>
            <p:cNvSpPr/>
            <p:nvPr/>
          </p:nvSpPr>
          <p:spPr>
            <a:xfrm>
              <a:off x="285750" y="3190875"/>
              <a:ext cx="2667000" cy="285900"/>
            </a:xfrm>
            <a:prstGeom prst="rect">
              <a:avLst/>
            </a:prstGeom>
            <a:solidFill>
              <a:srgbClr val="4B5563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7"/>
            <p:cNvSpPr txBox="1"/>
            <p:nvPr/>
          </p:nvSpPr>
          <p:spPr>
            <a:xfrm>
              <a:off x="285750" y="3190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METHODOLOGY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4" name="Google Shape;104;p7"/>
            <p:cNvSpPr/>
            <p:nvPr/>
          </p:nvSpPr>
          <p:spPr>
            <a:xfrm>
              <a:off x="285750" y="3524250"/>
              <a:ext cx="2667000" cy="1381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7"/>
            <p:cNvSpPr txBox="1"/>
            <p:nvPr/>
          </p:nvSpPr>
          <p:spPr>
            <a:xfrm>
              <a:off x="428625" y="3619500"/>
              <a:ext cx="2381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Analyze trained deep neural networks at terminal phase. Measure within-class variability vs between-class separation. Study feature geometry using linear discriminant analysis.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06" name="Google Shape;106;p7"/>
          <p:cNvGrpSpPr/>
          <p:nvPr/>
        </p:nvGrpSpPr>
        <p:grpSpPr>
          <a:xfrm>
            <a:off x="3238500" y="1285875"/>
            <a:ext cx="2667000" cy="1762275"/>
            <a:chOff x="3238500" y="1285875"/>
            <a:chExt cx="2667000" cy="1762275"/>
          </a:xfrm>
        </p:grpSpPr>
        <p:sp>
          <p:nvSpPr>
            <p:cNvPr id="107" name="Google Shape;107;p7"/>
            <p:cNvSpPr/>
            <p:nvPr/>
          </p:nvSpPr>
          <p:spPr>
            <a:xfrm>
              <a:off x="3238500" y="1285875"/>
              <a:ext cx="2667000" cy="285900"/>
            </a:xfrm>
            <a:prstGeom prst="rect">
              <a:avLst/>
            </a:prstGeom>
            <a:solidFill>
              <a:srgbClr val="1F2937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7"/>
            <p:cNvSpPr txBox="1"/>
            <p:nvPr/>
          </p:nvSpPr>
          <p:spPr>
            <a:xfrm>
              <a:off x="323850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PROPOSED SOLUTION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9" name="Google Shape;109;p7"/>
            <p:cNvSpPr/>
            <p:nvPr/>
          </p:nvSpPr>
          <p:spPr>
            <a:xfrm>
              <a:off x="3238500" y="1619250"/>
              <a:ext cx="2667000" cy="14289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7"/>
            <p:cNvSpPr txBox="1"/>
            <p:nvPr/>
          </p:nvSpPr>
          <p:spPr>
            <a:xfrm>
              <a:off x="3381375" y="1714500"/>
              <a:ext cx="2381400" cy="12384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00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Mathematically characterize neural collapse by analyzing class-mean convergence, weight-feature duality, and equinorm clustering across classification tasks and architectures.</a:t>
              </a:r>
              <a:endParaRPr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1" name="Google Shape;111;p7"/>
          <p:cNvGrpSpPr/>
          <p:nvPr/>
        </p:nvGrpSpPr>
        <p:grpSpPr>
          <a:xfrm>
            <a:off x="3238500" y="3190875"/>
            <a:ext cx="2667000" cy="1714575"/>
            <a:chOff x="3238500" y="3190875"/>
            <a:chExt cx="2667000" cy="1714575"/>
          </a:xfrm>
        </p:grpSpPr>
        <p:sp>
          <p:nvSpPr>
            <p:cNvPr id="112" name="Google Shape;112;p7"/>
            <p:cNvSpPr/>
            <p:nvPr/>
          </p:nvSpPr>
          <p:spPr>
            <a:xfrm>
              <a:off x="3238500" y="3190875"/>
              <a:ext cx="2667000" cy="285900"/>
            </a:xfrm>
            <a:prstGeom prst="rect">
              <a:avLst/>
            </a:prstGeom>
            <a:solidFill>
              <a:srgbClr val="6B728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3" name="Google Shape;113;p7"/>
            <p:cNvSpPr txBox="1"/>
            <p:nvPr/>
          </p:nvSpPr>
          <p:spPr>
            <a:xfrm>
              <a:off x="3238500" y="3190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CONCLUSION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4" name="Google Shape;114;p7"/>
            <p:cNvSpPr/>
            <p:nvPr/>
          </p:nvSpPr>
          <p:spPr>
            <a:xfrm>
              <a:off x="3238500" y="3524250"/>
              <a:ext cx="2667000" cy="1381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5" name="Google Shape;115;p7"/>
            <p:cNvSpPr txBox="1"/>
            <p:nvPr/>
          </p:nvSpPr>
          <p:spPr>
            <a:xfrm>
              <a:off x="3381375" y="3619500"/>
              <a:ext cx="2381400" cy="1190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i="1" lang="en-US" sz="925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rPr>
                <a:t>Neural collapse is a universal phenomenon in overparameterized networks that reveals how deep learning implicitly optimizes feature geometry, with direct implications for interpretability.</a:t>
              </a:r>
              <a:endParaRPr i="1" sz="925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900"/>
                </a:spcBef>
                <a:spcAft>
                  <a:spcPts val="0"/>
                </a:spcAft>
                <a:buNone/>
              </a:pPr>
              <a:r>
                <a:rPr b="1" i="0" lang="en-US" sz="694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REFERENCE:</a:t>
              </a:r>
              <a:endParaRPr b="1" i="0" sz="694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1" lang="en-US" sz="694">
                  <a:solidFill>
                    <a:srgbClr val="9CA3AF"/>
                  </a:solidFill>
                  <a:latin typeface="Calibri"/>
                  <a:ea typeface="Calibri"/>
                  <a:cs typeface="Calibri"/>
                  <a:sym typeface="Calibri"/>
                </a:rPr>
                <a:t>Papyan et al., Prevalence of Neural Collapse during the Terminal Phase of Deep Learning Training, PNAS, 2020.</a:t>
              </a:r>
              <a:endParaRPr b="0" i="1" sz="694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6" name="Google Shape;116;p7"/>
          <p:cNvGrpSpPr/>
          <p:nvPr/>
        </p:nvGrpSpPr>
        <p:grpSpPr>
          <a:xfrm>
            <a:off x="6191250" y="1285875"/>
            <a:ext cx="2667000" cy="3619575"/>
            <a:chOff x="6191250" y="1285875"/>
            <a:chExt cx="2667000" cy="3619575"/>
          </a:xfrm>
        </p:grpSpPr>
        <p:sp>
          <p:nvSpPr>
            <p:cNvPr id="117" name="Google Shape;117;p7"/>
            <p:cNvSpPr/>
            <p:nvPr/>
          </p:nvSpPr>
          <p:spPr>
            <a:xfrm>
              <a:off x="6191250" y="1285875"/>
              <a:ext cx="2667000" cy="285900"/>
            </a:xfrm>
            <a:prstGeom prst="rect">
              <a:avLst/>
            </a:prstGeom>
            <a:solidFill>
              <a:srgbClr val="374151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8" name="Google Shape;118;p7"/>
            <p:cNvSpPr txBox="1"/>
            <p:nvPr/>
          </p:nvSpPr>
          <p:spPr>
            <a:xfrm>
              <a:off x="6191250" y="1285875"/>
              <a:ext cx="2667000" cy="285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RESULTS</a:t>
              </a:r>
              <a:endParaRPr b="1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9" name="Google Shape;119;p7"/>
            <p:cNvSpPr/>
            <p:nvPr/>
          </p:nvSpPr>
          <p:spPr>
            <a:xfrm>
              <a:off x="6191250" y="1619250"/>
              <a:ext cx="2667000" cy="3286200"/>
            </a:xfrm>
            <a:prstGeom prst="rect">
              <a:avLst/>
            </a:prstGeom>
            <a:solidFill>
              <a:srgbClr val="FFFFFF"/>
            </a:solidFill>
            <a:ln cap="flat" cmpd="sng" w="9525">
              <a:solidFill>
                <a:srgbClr val="E5E7EB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grpSp>
          <p:nvGrpSpPr>
            <p:cNvPr id="120" name="Google Shape;120;p7"/>
            <p:cNvGrpSpPr/>
            <p:nvPr/>
          </p:nvGrpSpPr>
          <p:grpSpPr>
            <a:xfrm>
              <a:off x="6343650" y="1714500"/>
              <a:ext cx="2371875" cy="381000"/>
              <a:chOff x="6343650" y="1714500"/>
              <a:chExt cx="2371875" cy="381000"/>
            </a:xfrm>
          </p:grpSpPr>
          <p:sp>
            <p:nvSpPr>
              <p:cNvPr id="121" name="Google Shape;121;p7"/>
              <p:cNvSpPr/>
              <p:nvPr/>
            </p:nvSpPr>
            <p:spPr>
              <a:xfrm>
                <a:off x="6343650" y="18669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2" name="Google Shape;122;p7"/>
              <p:cNvSpPr txBox="1"/>
              <p:nvPr/>
            </p:nvSpPr>
            <p:spPr>
              <a:xfrm>
                <a:off x="6524625" y="17145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Features collapse into tight clusters near terminal training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3" name="Google Shape;123;p7"/>
            <p:cNvGrpSpPr/>
            <p:nvPr/>
          </p:nvGrpSpPr>
          <p:grpSpPr>
            <a:xfrm>
              <a:off x="6343650" y="2286000"/>
              <a:ext cx="2371875" cy="381000"/>
              <a:chOff x="6343650" y="2286000"/>
              <a:chExt cx="2371875" cy="381000"/>
            </a:xfrm>
          </p:grpSpPr>
          <p:sp>
            <p:nvSpPr>
              <p:cNvPr id="124" name="Google Shape;124;p7"/>
              <p:cNvSpPr/>
              <p:nvPr/>
            </p:nvSpPr>
            <p:spPr>
              <a:xfrm>
                <a:off x="6343650" y="24384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5" name="Google Shape;125;p7"/>
              <p:cNvSpPr txBox="1"/>
              <p:nvPr/>
            </p:nvSpPr>
            <p:spPr>
              <a:xfrm>
                <a:off x="6524625" y="22860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Between-class separation becomes maximal relative to within-class spread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grpSp>
          <p:nvGrpSpPr>
            <p:cNvPr id="126" name="Google Shape;126;p7"/>
            <p:cNvGrpSpPr/>
            <p:nvPr/>
          </p:nvGrpSpPr>
          <p:grpSpPr>
            <a:xfrm>
              <a:off x="6343650" y="2857500"/>
              <a:ext cx="2371875" cy="381000"/>
              <a:chOff x="6343650" y="2857500"/>
              <a:chExt cx="2371875" cy="381000"/>
            </a:xfrm>
          </p:grpSpPr>
          <p:sp>
            <p:nvSpPr>
              <p:cNvPr id="127" name="Google Shape;127;p7"/>
              <p:cNvSpPr/>
              <p:nvPr/>
            </p:nvSpPr>
            <p:spPr>
              <a:xfrm>
                <a:off x="6343650" y="3009900"/>
                <a:ext cx="76200" cy="76200"/>
              </a:xfrm>
              <a:prstGeom prst="ellipse">
                <a:avLst/>
              </a:prstGeom>
              <a:solidFill>
                <a:srgbClr val="000000"/>
              </a:solidFill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t/>
                </a:r>
                <a:endParaRPr/>
              </a:p>
            </p:txBody>
          </p:sp>
          <p:sp>
            <p:nvSpPr>
              <p:cNvPr id="128" name="Google Shape;128;p7"/>
              <p:cNvSpPr txBox="1"/>
              <p:nvPr/>
            </p:nvSpPr>
            <p:spPr>
              <a:xfrm>
                <a:off x="6524625" y="2857500"/>
                <a:ext cx="2190900" cy="381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ctr" bIns="0" lIns="0" spcFirstLastPara="1" rIns="0" wrap="square" tIns="0">
                <a:noAutofit/>
              </a:bodyPr>
              <a:lstStyle/>
              <a:p>
                <a:pPr indent="0" lvl="0" marL="0" rtl="0" algn="l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-US" sz="950">
                    <a:solidFill>
                      <a:srgbClr val="374151"/>
                    </a:solidFill>
                    <a:latin typeface="Calibri"/>
                    <a:ea typeface="Calibri"/>
                    <a:cs typeface="Calibri"/>
                    <a:sym typeface="Calibri"/>
                  </a:rPr>
                  <a:t>Neural collapse predicts strong generalization performance</a:t>
                </a:r>
                <a:endParaRPr sz="950">
                  <a:solidFill>
                    <a:srgbClr val="37415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  <p:sp>
          <p:nvSpPr>
            <p:cNvPr id="129" name="Google Shape;129;p7"/>
            <p:cNvSpPr/>
            <p:nvPr/>
          </p:nvSpPr>
          <p:spPr>
            <a:xfrm>
              <a:off x="7143750" y="4000500"/>
              <a:ext cx="762000" cy="571500"/>
            </a:xfrm>
            <a:prstGeom prst="roundRect">
              <a:avLst>
                <a:gd fmla="val 6666" name="adj"/>
              </a:avLst>
            </a:prstGeom>
            <a:solidFill>
              <a:srgbClr val="F9FAFB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0" name="Google Shape;130;p7"/>
            <p:cNvSpPr txBox="1"/>
            <p:nvPr/>
          </p:nvSpPr>
          <p:spPr>
            <a:xfrm>
              <a:off x="7143750" y="4053078"/>
              <a:ext cx="76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3600">
                  <a:solidFill>
                    <a:srgbClr val="D1D5DB"/>
                  </a:solidFill>
                  <a:latin typeface="Material Icons"/>
                  <a:ea typeface="Material Icons"/>
                  <a:cs typeface="Material Icons"/>
                  <a:sym typeface="Material Icons"/>
                </a:rPr>
                <a:t/>
              </a:r>
              <a:endParaRPr sz="3600">
                <a:solidFill>
                  <a:srgbClr val="D1D5DB"/>
                </a:solidFill>
                <a:latin typeface="Material Icons"/>
                <a:ea typeface="Material Icons"/>
                <a:cs typeface="Material Icons"/>
                <a:sym typeface="Material Icons"/>
              </a:endParaRPr>
            </a:p>
          </p:txBody>
        </p:sp>
      </p:grp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37" name="Google Shape;137;p8"/>
          <p:cNvPicPr preferRelativeResize="0"/>
          <p:nvPr/>
        </p:nvPicPr>
        <p:blipFill rotWithShape="1">
          <a:blip r:embed="rId4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138" name="Google Shape;138;p8"/>
          <p:cNvSpPr/>
          <p:nvPr/>
        </p:nvSpPr>
        <p:spPr>
          <a:xfrm>
            <a:off x="66675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Visualizing and Understanding Convolutional Networks </a:t>
            </a:r>
            <a:r>
              <a:rPr b="0" lang="en-US" sz="1400">
                <a:solidFill>
                  <a:srgbClr val="CCCCCC"/>
                </a:solidFill>
                <a:latin typeface="Calibri"/>
                <a:ea typeface="Calibri"/>
                <a:cs typeface="Calibri"/>
                <a:sym typeface="Calibri"/>
              </a:rPr>
              <a:t>(Zeiler &amp; Fergus, 2014)</a:t>
            </a:r>
            <a:endParaRPr b="1" sz="20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8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0" name="Google Shape;140;p8"/>
          <p:cNvSpPr/>
          <p:nvPr/>
        </p:nvSpPr>
        <p:spPr>
          <a:xfrm>
            <a:off x="285750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p8"/>
          <p:cNvSpPr txBox="1"/>
          <p:nvPr/>
        </p:nvSpPr>
        <p:spPr>
          <a:xfrm>
            <a:off x="285750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8"/>
          <p:cNvSpPr/>
          <p:nvPr/>
        </p:nvSpPr>
        <p:spPr>
          <a:xfrm>
            <a:off x="285750" y="1571625"/>
            <a:ext cx="2762400" cy="1428900"/>
          </a:xfrm>
          <a:prstGeom prst="roundRect">
            <a:avLst>
              <a:gd fmla="val 2666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"/>
          <p:cNvSpPr txBox="1"/>
          <p:nvPr/>
        </p:nvSpPr>
        <p:spPr>
          <a:xfrm>
            <a:off x="428625" y="1666875"/>
            <a:ext cx="2476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Develop techniques to visualize feature detectors at each CNN layer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Understand how input stimuli activate convolutional filters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1000"/>
              <a:buFont typeface="Calibri"/>
              <a:buChar char="●"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Use insights to improve CNN architecture design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8"/>
          <p:cNvSpPr/>
          <p:nvPr/>
        </p:nvSpPr>
        <p:spPr>
          <a:xfrm>
            <a:off x="285750" y="3143250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33333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"/>
          <p:cNvSpPr txBox="1"/>
          <p:nvPr/>
        </p:nvSpPr>
        <p:spPr>
          <a:xfrm>
            <a:off x="285750" y="3143250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8"/>
          <p:cNvSpPr/>
          <p:nvPr/>
        </p:nvSpPr>
        <p:spPr>
          <a:xfrm>
            <a:off x="285750" y="3476625"/>
            <a:ext cx="2762400" cy="1381200"/>
          </a:xfrm>
          <a:prstGeom prst="roundRect">
            <a:avLst>
              <a:gd fmla="val 2758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8"/>
          <p:cNvSpPr txBox="1"/>
          <p:nvPr/>
        </p:nvSpPr>
        <p:spPr>
          <a:xfrm>
            <a:off x="428625" y="3571875"/>
            <a:ext cx="24765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Use deconvolutional networks to project feature activations back to input pixel space. Analyze which image regions maximally activate each filter. Compare learned features across depths.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8"/>
          <p:cNvSpPr/>
          <p:nvPr/>
        </p:nvSpPr>
        <p:spPr>
          <a:xfrm>
            <a:off x="3190875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4D4D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"/>
          <p:cNvSpPr txBox="1"/>
          <p:nvPr/>
        </p:nvSpPr>
        <p:spPr>
          <a:xfrm>
            <a:off x="3190875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8"/>
          <p:cNvSpPr/>
          <p:nvPr/>
        </p:nvSpPr>
        <p:spPr>
          <a:xfrm>
            <a:off x="3190875" y="1571625"/>
            <a:ext cx="2762400" cy="1428900"/>
          </a:xfrm>
          <a:prstGeom prst="roundRect">
            <a:avLst>
              <a:gd fmla="val 2666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8"/>
          <p:cNvSpPr txBox="1"/>
          <p:nvPr/>
        </p:nvSpPr>
        <p:spPr>
          <a:xfrm>
            <a:off x="3333750" y="1666875"/>
            <a:ext cx="24765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Introduce deconvnet-based visualization to map activations back to input space, revealing hierarchical feature learning from edges in early layers to semantic concepts in deep layers.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8"/>
          <p:cNvSpPr/>
          <p:nvPr/>
        </p:nvSpPr>
        <p:spPr>
          <a:xfrm>
            <a:off x="3190875" y="3143250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3" name="Google Shape;153;p8"/>
          <p:cNvSpPr txBox="1"/>
          <p:nvPr/>
        </p:nvSpPr>
        <p:spPr>
          <a:xfrm>
            <a:off x="3190875" y="3143250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8"/>
          <p:cNvSpPr/>
          <p:nvPr/>
        </p:nvSpPr>
        <p:spPr>
          <a:xfrm>
            <a:off x="3190875" y="3476625"/>
            <a:ext cx="2762400" cy="1381200"/>
          </a:xfrm>
          <a:prstGeom prst="roundRect">
            <a:avLst>
              <a:gd fmla="val 2758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8"/>
          <p:cNvSpPr txBox="1"/>
          <p:nvPr/>
        </p:nvSpPr>
        <p:spPr>
          <a:xfrm>
            <a:off x="3333750" y="3571875"/>
            <a:ext cx="24765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Layer-wise visualization confirms CNNs learn hierarchical representations, motivating analysis of feature evolution as a path to interpretable architectures.</a:t>
            </a:r>
            <a:endParaRPr b="0" i="1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i="0" lang="en-US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REFERENCE:</a:t>
            </a:r>
            <a:endParaRPr b="1" i="0" sz="8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1" lang="en-US" sz="8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Zeiler &amp; Fergus, Visualizing and Understanding Convolutional Networks, ECCV, 2014.</a:t>
            </a:r>
            <a:endParaRPr b="0" i="1" sz="8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8"/>
          <p:cNvSpPr/>
          <p:nvPr/>
        </p:nvSpPr>
        <p:spPr>
          <a:xfrm>
            <a:off x="6096000" y="1285875"/>
            <a:ext cx="2762400" cy="285900"/>
          </a:xfrm>
          <a:prstGeom prst="roundRect">
            <a:avLst>
              <a:gd fmla="val 13333" name="adj"/>
            </a:avLst>
          </a:prstGeom>
          <a:solidFill>
            <a:srgbClr val="8080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8"/>
          <p:cNvSpPr txBox="1"/>
          <p:nvPr/>
        </p:nvSpPr>
        <p:spPr>
          <a:xfrm>
            <a:off x="6096000" y="1285875"/>
            <a:ext cx="27624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8"/>
          <p:cNvSpPr/>
          <p:nvPr/>
        </p:nvSpPr>
        <p:spPr>
          <a:xfrm>
            <a:off x="6096000" y="1571625"/>
            <a:ext cx="2762400" cy="3286200"/>
          </a:xfrm>
          <a:prstGeom prst="roundRect">
            <a:avLst>
              <a:gd fmla="val 1379" name="adj"/>
            </a:avLst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8"/>
          <p:cNvSpPr/>
          <p:nvPr/>
        </p:nvSpPr>
        <p:spPr>
          <a:xfrm>
            <a:off x="6296025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8"/>
          <p:cNvSpPr txBox="1"/>
          <p:nvPr/>
        </p:nvSpPr>
        <p:spPr>
          <a:xfrm>
            <a:off x="6477000" y="171450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Early layers detect edges and color blobs; deeper layers learn textures and semantic parts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8"/>
          <p:cNvSpPr/>
          <p:nvPr/>
        </p:nvSpPr>
        <p:spPr>
          <a:xfrm>
            <a:off x="6296025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2" name="Google Shape;162;p8"/>
          <p:cNvSpPr txBox="1"/>
          <p:nvPr/>
        </p:nvSpPr>
        <p:spPr>
          <a:xfrm>
            <a:off x="6477000" y="238125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Layer-wise feature specificity increases with depth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3" name="Google Shape;163;p8"/>
          <p:cNvSpPr/>
          <p:nvPr/>
        </p:nvSpPr>
        <p:spPr>
          <a:xfrm>
            <a:off x="6296025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8"/>
          <p:cNvSpPr txBox="1"/>
          <p:nvPr/>
        </p:nvSpPr>
        <p:spPr>
          <a:xfrm>
            <a:off x="6477000" y="3048000"/>
            <a:ext cx="22383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Visualization guided removal of redundant filters, improving AlexNet accuracy</a:t>
            </a:r>
            <a:endParaRPr b="0" sz="95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8"/>
          <p:cNvSpPr/>
          <p:nvPr/>
        </p:nvSpPr>
        <p:spPr>
          <a:xfrm>
            <a:off x="0" y="0"/>
            <a:ext cx="952500" cy="762000"/>
          </a:xfrm>
          <a:prstGeom prst="roundRect">
            <a:avLst>
              <a:gd fmla="val 10000" name="adj"/>
            </a:avLst>
          </a:prstGeom>
          <a:solidFill>
            <a:srgbClr val="F9F9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8"/>
          <p:cNvSpPr txBox="1"/>
          <p:nvPr/>
        </p:nvSpPr>
        <p:spPr>
          <a:xfrm>
            <a:off x="7000875" y="3963670"/>
            <a:ext cx="95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4000">
                <a:solidFill>
                  <a:srgbClr val="B3B3B3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b="0" sz="4000">
              <a:solidFill>
                <a:srgbClr val="B3B3B3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sp>
        <p:nvSpPr>
          <p:cNvPr id="167" name="Google Shape;167;p8"/>
          <p:cNvSpPr txBox="1"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1"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8"/>
          <p:cNvSpPr txBox="1"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The internal representations learned by CNNs across layers are opaque, making it difficult to understand what features are detected at each depth, limiting model debugging and design.</a:t>
            </a:r>
            <a:endParaRPr b="0" sz="10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9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175" name="Google Shape;175;p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176" name="Google Shape;176;p9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2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 xml:space="preserve">Do ImageNet Classifiers Generalize to ImageNet? </a:t>
            </a:r>
            <a:r>
              <a:rPr b="0" lang="en-US" sz="1400">
                <a:solidFill>
                  <a:srgbClr val="E5E7EB"/>
                </a:solidFill>
                <a:latin typeface="Calibri"/>
                <a:ea typeface="Calibri"/>
                <a:cs typeface="Calibri"/>
                <a:sym typeface="Calibri"/>
              </a:rPr>
              <a:t>(Recht et al., 2019)</a:t>
            </a:r>
            <a:endParaRPr b="1" sz="22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9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3F4F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9"/>
          <p:cNvSpPr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PROBLEM STATEMENT</a:t>
            </a:r>
            <a:endParaRPr b="1" sz="10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9"/>
          <p:cNvSpPr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1F2937"/>
                </a:solidFill>
                <a:latin typeface="Calibri"/>
                <a:ea typeface="Calibri"/>
                <a:cs typeface="Calibri"/>
                <a:sym typeface="Calibri"/>
              </a:rPr>
              <a:t>It is unclear how dataset properties (distribution, complexity, noise) affect the representations learned by CNNs across layers, limiting understanding of dataset-model interaction and generalization.</a:t>
            </a:r>
            <a:endParaRPr b="0" sz="1000">
              <a:solidFill>
                <a:srgbClr val="1F293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9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1" name="Google Shape;181;p9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OBJECTIVES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9"/>
          <p:cNvSpPr/>
          <p:nvPr/>
        </p:nvSpPr>
        <p:spPr>
          <a:xfrm>
            <a:off x="28575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3" name="Google Shape;183;p9"/>
          <p:cNvSpPr/>
          <p:nvPr/>
        </p:nvSpPr>
        <p:spPr>
          <a:xfrm>
            <a:off x="42862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95250" spcFirstLastPara="1" rIns="0" wrap="square" tIns="0">
            <a:noAutofit/>
          </a:bodyPr>
          <a:lstStyle/>
          <a:p>
            <a:pPr indent="-292100" lvl="0" marL="457200" rtl="0" algn="l">
              <a:spcBef>
                <a:spcPts val="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Study how dataset distribution shifts affect CNN feature learning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Evaluate whether accuracy reflects quality of learned representations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92100" lvl="0" marL="457200" rtl="0" algn="l">
              <a:spcBef>
                <a:spcPts val="800"/>
              </a:spcBef>
              <a:spcAft>
                <a:spcPts val="0"/>
              </a:spcAft>
              <a:buClr>
                <a:srgbClr val="374151"/>
              </a:buClr>
              <a:buSzPts val="1000"/>
              <a:buFont typeface="Calibri"/>
              <a:buChar char="●"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Understand impact of dataset complexity on generalization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9"/>
          <p:cNvSpPr/>
          <p:nvPr/>
        </p:nvSpPr>
        <p:spPr>
          <a:xfrm>
            <a:off x="285750" y="3190875"/>
            <a:ext cx="2667000" cy="285900"/>
          </a:xfrm>
          <a:prstGeom prst="rect">
            <a:avLst/>
          </a:prstGeom>
          <a:solidFill>
            <a:srgbClr val="4B556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5" name="Google Shape;185;p9"/>
          <p:cNvSpPr/>
          <p:nvPr/>
        </p:nvSpPr>
        <p:spPr>
          <a:xfrm>
            <a:off x="285750" y="3190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9"/>
          <p:cNvSpPr/>
          <p:nvPr/>
        </p:nvSpPr>
        <p:spPr>
          <a:xfrm>
            <a:off x="28575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7" name="Google Shape;187;p9"/>
          <p:cNvSpPr/>
          <p:nvPr/>
        </p:nvSpPr>
        <p:spPr>
          <a:xfrm>
            <a:off x="42862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Create new test sets replicating ImageNet collection methodology. Evaluate standard CNN models on original vs. new sets. Analyze representation differences across dataset variants.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9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1F2937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9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9"/>
          <p:cNvSpPr/>
          <p:nvPr/>
        </p:nvSpPr>
        <p:spPr>
          <a:xfrm>
            <a:off x="323850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9"/>
          <p:cNvSpPr/>
          <p:nvPr/>
        </p:nvSpPr>
        <p:spPr>
          <a:xfrm>
            <a:off x="338137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Demonstrate that CNN performance drops on resampled datasets even with identical collection process, suggesting learned features overfit to dataset-specific biases beyond semantic content.</a:t>
            </a:r>
            <a:endParaRPr sz="100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9"/>
          <p:cNvSpPr/>
          <p:nvPr/>
        </p:nvSpPr>
        <p:spPr>
          <a:xfrm>
            <a:off x="3238500" y="3190875"/>
            <a:ext cx="2667000" cy="285900"/>
          </a:xfrm>
          <a:prstGeom prst="rect">
            <a:avLst/>
          </a:prstGeom>
          <a:solidFill>
            <a:srgbClr val="6B72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9"/>
          <p:cNvSpPr/>
          <p:nvPr/>
        </p:nvSpPr>
        <p:spPr>
          <a:xfrm>
            <a:off x="3238500" y="3190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9"/>
          <p:cNvSpPr/>
          <p:nvPr/>
        </p:nvSpPr>
        <p:spPr>
          <a:xfrm>
            <a:off x="323850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5" name="Google Shape;195;p9"/>
          <p:cNvSpPr/>
          <p:nvPr/>
        </p:nvSpPr>
        <p:spPr>
          <a:xfrm>
            <a:off x="338137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925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Dataset properties profoundly shape CNN feature evolution; studying layer-wise representations across multiple datasets is essential to understanding generalizable vs. dataset-specific features.</a:t>
            </a:r>
            <a:endParaRPr i="1" sz="925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74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REFERENCE:</a:t>
            </a:r>
            <a:endParaRPr b="1" sz="740">
              <a:solidFill>
                <a:srgbClr val="9CA3A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740">
                <a:solidFill>
                  <a:srgbClr val="9CA3AF"/>
                </a:solidFill>
                <a:latin typeface="Calibri"/>
                <a:ea typeface="Calibri"/>
                <a:cs typeface="Calibri"/>
                <a:sym typeface="Calibri"/>
              </a:rPr>
              <a:t>Recht et al., Do ImageNet Classifiers Generalize to ImageNet? ICML, 2019.</a:t>
            </a:r>
            <a:endParaRPr i="1" sz="740">
              <a:solidFill>
                <a:srgbClr val="9CA3A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9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374151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7" name="Google Shape;197;p9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9"/>
          <p:cNvSpPr/>
          <p:nvPr/>
        </p:nvSpPr>
        <p:spPr>
          <a:xfrm>
            <a:off x="6191250" y="1571625"/>
            <a:ext cx="2667000" cy="328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5E7EB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9" name="Google Shape;199;p9"/>
          <p:cNvSpPr/>
          <p:nvPr/>
        </p:nvSpPr>
        <p:spPr>
          <a:xfrm>
            <a:off x="6343650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9"/>
          <p:cNvSpPr/>
          <p:nvPr/>
        </p:nvSpPr>
        <p:spPr>
          <a:xfrm>
            <a:off x="6524625" y="166687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Model accuracy drops consistently on new test sets (3–15% gap)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p9"/>
          <p:cNvSpPr/>
          <p:nvPr/>
        </p:nvSpPr>
        <p:spPr>
          <a:xfrm>
            <a:off x="6343650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9"/>
          <p:cNvSpPr/>
          <p:nvPr/>
        </p:nvSpPr>
        <p:spPr>
          <a:xfrm>
            <a:off x="6524625" y="233362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Feature representations are more dataset-specific than previously assumed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9"/>
          <p:cNvSpPr/>
          <p:nvPr/>
        </p:nvSpPr>
        <p:spPr>
          <a:xfrm>
            <a:off x="6343650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4" name="Google Shape;204;p9"/>
          <p:cNvSpPr/>
          <p:nvPr/>
        </p:nvSpPr>
        <p:spPr>
          <a:xfrm>
            <a:off x="6524625" y="3000375"/>
            <a:ext cx="21909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50">
                <a:solidFill>
                  <a:srgbClr val="374151"/>
                </a:solidFill>
                <a:latin typeface="Calibri"/>
                <a:ea typeface="Calibri"/>
                <a:cs typeface="Calibri"/>
                <a:sym typeface="Calibri"/>
              </a:rPr>
              <a:t>Dataset complexity and label noise significantly affect what CNN layers learn</a:t>
            </a:r>
            <a:endParaRPr sz="950">
              <a:solidFill>
                <a:srgbClr val="37415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9"/>
          <p:cNvSpPr txBox="1"/>
          <p:nvPr/>
        </p:nvSpPr>
        <p:spPr>
          <a:xfrm>
            <a:off x="7143750" y="4053078"/>
            <a:ext cx="762000" cy="571500"/>
          </a:xfrm>
          <a:prstGeom prst="rect">
            <a:avLst/>
          </a:prstGeom>
          <a:solidFill>
            <a:srgbClr val="F9FA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>
                <a:solidFill>
                  <a:srgbClr val="D1D5DB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sz="3600">
              <a:solidFill>
                <a:srgbClr val="D1D5DB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5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0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12" name="Google Shape;212;p10"/>
          <p:cNvPicPr preferRelativeResize="0"/>
          <p:nvPr/>
        </p:nvPicPr>
        <p:blipFill rotWithShape="1">
          <a:blip r:embed="rId3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10"/>
          <p:cNvSpPr/>
          <p:nvPr/>
        </p:nvSpPr>
        <p:spPr>
          <a:xfrm>
            <a:off x="66675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 xml:space="preserve">Understanding Deep Neural Networks with Rectified Linear Units </a:t>
            </a:r>
            <a:r>
              <a:rPr b="0" lang="en-US" sz="1400">
                <a:solidFill>
                  <a:srgbClr val="CCCCCC"/>
                </a:solidFill>
                <a:latin typeface="Inter"/>
                <a:ea typeface="Inter"/>
                <a:cs typeface="Inter"/>
                <a:sym typeface="Inter"/>
              </a:rPr>
              <a:t>(Arora et al., 2018)</a:t>
            </a:r>
            <a:endParaRPr b="1" sz="20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4" name="Google Shape;214;p10"/>
          <p:cNvSpPr/>
          <p:nvPr/>
        </p:nvSpPr>
        <p:spPr>
          <a:xfrm>
            <a:off x="0" y="666750"/>
            <a:ext cx="9144000" cy="47640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0"/>
          <p:cNvSpPr/>
          <p:nvPr/>
        </p:nvSpPr>
        <p:spPr>
          <a:xfrm>
            <a:off x="285750" y="666750"/>
            <a:ext cx="15240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PROBLEM STATEMENT</a:t>
            </a:r>
            <a:endParaRPr b="1" sz="100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6" name="Google Shape;216;p10"/>
          <p:cNvSpPr/>
          <p:nvPr/>
        </p:nvSpPr>
        <p:spPr>
          <a:xfrm>
            <a:off x="1809750" y="666750"/>
            <a:ext cx="7048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The relationship between activation statistics in intermediate CNN layers and the quality of learned decision boundaries is not well understood, making interpretability and optimization difficult.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7" name="Google Shape;217;p10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0"/>
          <p:cNvSpPr/>
          <p:nvPr/>
        </p:nvSpPr>
        <p:spPr>
          <a:xfrm>
            <a:off x="2857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OBJECTIVES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19" name="Google Shape;219;p10"/>
          <p:cNvSpPr/>
          <p:nvPr/>
        </p:nvSpPr>
        <p:spPr>
          <a:xfrm>
            <a:off x="28575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0" name="Google Shape;220;p10"/>
          <p:cNvSpPr/>
          <p:nvPr/>
        </p:nvSpPr>
        <p:spPr>
          <a:xfrm>
            <a:off x="42862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-282575" lvl="0" marL="457200" rtl="0" algn="l">
              <a:spcBef>
                <a:spcPts val="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Analyze how ReLU activations shape feature geometry across layers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2575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Study sparsity patterns and their relationship to decision boundaries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-282575" lvl="0" marL="457200" rtl="0" algn="l">
              <a:spcBef>
                <a:spcPts val="800"/>
              </a:spcBef>
              <a:spcAft>
                <a:spcPts val="0"/>
              </a:spcAft>
              <a:buClr>
                <a:srgbClr val="333333"/>
              </a:buClr>
              <a:buSzPts val="850"/>
              <a:buFont typeface="Inter"/>
              <a:buChar char="●"/>
            </a:pPr>
            <a:r>
              <a:rPr lang="en-US" sz="8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Connect activation statistics to model expressivity and generalization</a:t>
            </a:r>
            <a:endParaRPr sz="8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1" name="Google Shape;221;p10"/>
          <p:cNvSpPr/>
          <p:nvPr/>
        </p:nvSpPr>
        <p:spPr>
          <a:xfrm>
            <a:off x="285750" y="3143250"/>
            <a:ext cx="2667000" cy="2859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0"/>
          <p:cNvSpPr/>
          <p:nvPr/>
        </p:nvSpPr>
        <p:spPr>
          <a:xfrm>
            <a:off x="285750" y="3143250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METHODOLOGY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3" name="Google Shape;223;p10"/>
          <p:cNvSpPr/>
          <p:nvPr/>
        </p:nvSpPr>
        <p:spPr>
          <a:xfrm>
            <a:off x="28575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10"/>
          <p:cNvSpPr/>
          <p:nvPr/>
        </p:nvSpPr>
        <p:spPr>
          <a:xfrm>
            <a:off x="42862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Theoretically analyze ReLU networks layer-by-layer. Measure sparsity, mean activation, and variance across layers. Map statistics to piecewise-linear decision regions.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5" name="Google Shape;225;p10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4D4D4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6" name="Google Shape;226;p10"/>
          <p:cNvSpPr/>
          <p:nvPr/>
        </p:nvSpPr>
        <p:spPr>
          <a:xfrm>
            <a:off x="323850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PROPOSED SOLUTION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7" name="Google Shape;227;p10"/>
          <p:cNvSpPr/>
          <p:nvPr/>
        </p:nvSpPr>
        <p:spPr>
          <a:xfrm>
            <a:off x="3238500" y="1571625"/>
            <a:ext cx="2667000" cy="14289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10"/>
          <p:cNvSpPr/>
          <p:nvPr/>
        </p:nvSpPr>
        <p:spPr>
          <a:xfrm>
            <a:off x="3381375" y="1666875"/>
            <a:ext cx="2381400" cy="1238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00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Show that ReLU networks create exponentially many linear regions as depth increases, and that activation sparsity patterns in intermediate layers directly determine decision boundary structure.</a:t>
            </a:r>
            <a:endParaRPr b="0" sz="100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29" name="Google Shape;229;p10"/>
          <p:cNvSpPr/>
          <p:nvPr/>
        </p:nvSpPr>
        <p:spPr>
          <a:xfrm>
            <a:off x="3238500" y="3143250"/>
            <a:ext cx="2667000" cy="2859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10"/>
          <p:cNvSpPr/>
          <p:nvPr/>
        </p:nvSpPr>
        <p:spPr>
          <a:xfrm>
            <a:off x="3238500" y="3143250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CONCLUSION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1" name="Google Shape;231;p10"/>
          <p:cNvSpPr/>
          <p:nvPr/>
        </p:nvSpPr>
        <p:spPr>
          <a:xfrm>
            <a:off x="3238500" y="3476625"/>
            <a:ext cx="2667000" cy="1381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0"/>
          <p:cNvSpPr/>
          <p:nvPr/>
        </p:nvSpPr>
        <p:spPr>
          <a:xfrm>
            <a:off x="3381375" y="3571875"/>
            <a:ext cx="2381400" cy="11907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-US" sz="879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Layer-wise activation statistics are directly tied to representation quality and decision boundaries — validating the importance of quantifying mean, variance, and sparsity across CNN layers.</a:t>
            </a:r>
            <a:endParaRPr i="1" sz="879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-US" sz="74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REFERENCE:</a:t>
            </a:r>
            <a:endParaRPr b="1" sz="74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200"/>
              </a:spcBef>
              <a:spcAft>
                <a:spcPts val="0"/>
              </a:spcAft>
              <a:buNone/>
            </a:pPr>
            <a:r>
              <a:rPr i="1" lang="en-US" sz="740">
                <a:solidFill>
                  <a:srgbClr val="999999"/>
                </a:solidFill>
                <a:latin typeface="Inter"/>
                <a:ea typeface="Inter"/>
                <a:cs typeface="Inter"/>
                <a:sym typeface="Inter"/>
              </a:rPr>
              <a:t>Arora et al., Understanding Deep Neural Networks with Rectified Linear Units, ICLR, 2018.</a:t>
            </a:r>
            <a:endParaRPr i="1" sz="740">
              <a:solidFill>
                <a:srgbClr val="99999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3" name="Google Shape;233;p10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80808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10"/>
          <p:cNvSpPr/>
          <p:nvPr/>
        </p:nvSpPr>
        <p:spPr>
          <a:xfrm>
            <a:off x="6191250" y="128587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RESULTS</a:t>
            </a:r>
            <a:endParaRPr b="1" sz="11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5" name="Google Shape;235;p10"/>
          <p:cNvSpPr/>
          <p:nvPr/>
        </p:nvSpPr>
        <p:spPr>
          <a:xfrm>
            <a:off x="6191250" y="1571625"/>
            <a:ext cx="2667000" cy="32862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E0E0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6" name="Google Shape;236;p10"/>
          <p:cNvSpPr/>
          <p:nvPr/>
        </p:nvSpPr>
        <p:spPr>
          <a:xfrm>
            <a:off x="6391275" y="19145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p10"/>
          <p:cNvSpPr/>
          <p:nvPr/>
        </p:nvSpPr>
        <p:spPr>
          <a:xfrm>
            <a:off x="6572250" y="171450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Deeper layers produce sparser, more discriminative activations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38" name="Google Shape;238;p10"/>
          <p:cNvSpPr/>
          <p:nvPr/>
        </p:nvSpPr>
        <p:spPr>
          <a:xfrm>
            <a:off x="6391275" y="258127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9" name="Google Shape;239;p10"/>
          <p:cNvSpPr/>
          <p:nvPr/>
        </p:nvSpPr>
        <p:spPr>
          <a:xfrm>
            <a:off x="6572250" y="238125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Mean and variance of activations correlate with decision boundary complexity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0" name="Google Shape;240;p10"/>
          <p:cNvSpPr/>
          <p:nvPr/>
        </p:nvSpPr>
        <p:spPr>
          <a:xfrm>
            <a:off x="6391275" y="3248025"/>
            <a:ext cx="76200" cy="76200"/>
          </a:xfrm>
          <a:prstGeom prst="ellipse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1" name="Google Shape;241;p10"/>
          <p:cNvSpPr/>
          <p:nvPr/>
        </p:nvSpPr>
        <p:spPr>
          <a:xfrm>
            <a:off x="6572250" y="3048000"/>
            <a:ext cx="21432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333333"/>
                </a:solidFill>
                <a:latin typeface="Inter"/>
                <a:ea typeface="Inter"/>
                <a:cs typeface="Inter"/>
                <a:sym typeface="Inter"/>
              </a:rPr>
              <a:t>Sparsity is a key indicator of feature specialization and class discrimination</a:t>
            </a:r>
            <a:endParaRPr b="0" sz="950">
              <a:solidFill>
                <a:srgbClr val="333333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242" name="Google Shape;242;p10"/>
          <p:cNvSpPr txBox="1"/>
          <p:nvPr/>
        </p:nvSpPr>
        <p:spPr>
          <a:xfrm>
            <a:off x="7048500" y="4020820"/>
            <a:ext cx="952500" cy="762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000">
                <a:solidFill>
                  <a:srgbClr val="B3B3B3"/>
                </a:solidFill>
                <a:latin typeface="Material Icons"/>
                <a:ea typeface="Material Icons"/>
                <a:cs typeface="Material Icons"/>
                <a:sym typeface="Material Icons"/>
              </a:rPr>
              <a:t/>
            </a:r>
            <a:endParaRPr sz="4000">
              <a:solidFill>
                <a:srgbClr val="B3B3B3"/>
              </a:solidFill>
              <a:latin typeface="Material Icons"/>
              <a:ea typeface="Material Icons"/>
              <a:cs typeface="Material Icons"/>
              <a:sym typeface="Material Icons"/>
            </a:endParaRPr>
          </a:p>
        </p:txBody>
      </p:sp>
      <p:pic>
        <p:nvPicPr>
          <p:cNvPr id="999" name="MethodologyDiagram"/>
          <p:cNvPicPr preferRelativeResize="0"/>
          <p:nvPr/>
        </p:nvPicPr>
        <p:blipFill rotWithShape="1">
          <a:blip r:embed="rId4"/>
          <a:stretch/>
        </p:blipFill>
        <p:spPr>
          <a:xfrm>
            <a:off x="6200000" y="3350000"/>
            <a:ext cx="2700000" cy="1200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249" name="Google Shape;249;p1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250" name="Google Shape;250;p11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6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Selection &amp; Analysis</a:t>
            </a:r>
            <a:endParaRPr b="1" sz="26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23812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11"/>
          <p:cNvSpPr/>
          <p:nvPr/>
        </p:nvSpPr>
        <p:spPr>
          <a:xfrm>
            <a:off x="23812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1"/>
          <p:cNvSpPr/>
          <p:nvPr/>
        </p:nvSpPr>
        <p:spPr>
          <a:xfrm>
            <a:off x="23812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4" name="Google Shape;254;p11"/>
          <p:cNvSpPr/>
          <p:nvPr/>
        </p:nvSpPr>
        <p:spPr>
          <a:xfrm>
            <a:off x="23812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Food-101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1"/>
          <p:cNvSpPr/>
          <p:nvPr/>
        </p:nvSpPr>
        <p:spPr>
          <a:xfrm>
            <a:off x="404813" y="1571625"/>
            <a:ext cx="1714500" cy="285900"/>
          </a:xfrm>
          <a:prstGeom prst="rect">
            <a:avLst/>
          </a:prstGeom>
          <a:solidFill>
            <a:srgbClr val="FDF2F2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11"/>
          <p:cNvSpPr/>
          <p:nvPr/>
        </p:nvSpPr>
        <p:spPr>
          <a:xfrm>
            <a:off x="40481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Texture-heavy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1"/>
          <p:cNvSpPr/>
          <p:nvPr/>
        </p:nvSpPr>
        <p:spPr>
          <a:xfrm>
            <a:off x="33337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Noisy backgrounds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High intra-class variance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Complex food plating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11"/>
          <p:cNvSpPr/>
          <p:nvPr/>
        </p:nvSpPr>
        <p:spPr>
          <a:xfrm>
            <a:off x="242887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9" name="Google Shape;259;p11"/>
          <p:cNvSpPr/>
          <p:nvPr/>
        </p:nvSpPr>
        <p:spPr>
          <a:xfrm>
            <a:off x="242887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0" name="Google Shape;260;p11"/>
          <p:cNvSpPr/>
          <p:nvPr/>
        </p:nvSpPr>
        <p:spPr>
          <a:xfrm>
            <a:off x="242887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1"/>
          <p:cNvSpPr/>
          <p:nvPr/>
        </p:nvSpPr>
        <p:spPr>
          <a:xfrm>
            <a:off x="242887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Stanford Cars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2" name="Google Shape;262;p11"/>
          <p:cNvSpPr/>
          <p:nvPr/>
        </p:nvSpPr>
        <p:spPr>
          <a:xfrm>
            <a:off x="259556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11"/>
          <p:cNvSpPr/>
          <p:nvPr/>
        </p:nvSpPr>
        <p:spPr>
          <a:xfrm>
            <a:off x="2595563" y="1571625"/>
            <a:ext cx="1714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Fine-grained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1"/>
          <p:cNvSpPr/>
          <p:nvPr/>
        </p:nvSpPr>
        <p:spPr>
          <a:xfrm>
            <a:off x="252412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Geometry-dominant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Subtle class differences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Varying camera angles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1"/>
          <p:cNvSpPr/>
          <p:nvPr/>
        </p:nvSpPr>
        <p:spPr>
          <a:xfrm>
            <a:off x="461962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11"/>
          <p:cNvSpPr/>
          <p:nvPr/>
        </p:nvSpPr>
        <p:spPr>
          <a:xfrm>
            <a:off x="4619625" y="952500"/>
            <a:ext cx="2047800" cy="4764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1"/>
          <p:cNvSpPr/>
          <p:nvPr/>
        </p:nvSpPr>
        <p:spPr>
          <a:xfrm>
            <a:off x="4619625" y="1190625"/>
            <a:ext cx="2047800" cy="238200"/>
          </a:xfrm>
          <a:prstGeom prst="rect">
            <a:avLst/>
          </a:prstGeom>
          <a:solidFill>
            <a:srgbClr val="47556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8" name="Google Shape;268;p11"/>
          <p:cNvSpPr/>
          <p:nvPr/>
        </p:nvSpPr>
        <p:spPr>
          <a:xfrm>
            <a:off x="461962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FGVC Aircraft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9" name="Google Shape;269;p11"/>
          <p:cNvSpPr/>
          <p:nvPr/>
        </p:nvSpPr>
        <p:spPr>
          <a:xfrm>
            <a:off x="4786313" y="1571625"/>
            <a:ext cx="1714500" cy="285900"/>
          </a:xfrm>
          <a:prstGeom prst="rect">
            <a:avLst/>
          </a:prstGeom>
          <a:solidFill>
            <a:srgbClr val="ECF8FB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0" name="Google Shape;270;p11"/>
          <p:cNvSpPr/>
          <p:nvPr/>
        </p:nvSpPr>
        <p:spPr>
          <a:xfrm>
            <a:off x="4786313" y="1571625"/>
            <a:ext cx="1714500" cy="285900"/>
          </a:xfrm>
          <a:prstGeom prst="rect">
            <a:avLst/>
          </a:prstGeom>
          <a:solidFill>
            <a:srgbClr val="F1F5F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strike="noStrike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Structure-heavy</a:t>
            </a:r>
            <a:endParaRPr b="1" i="0" sz="1100" u="none" strike="noStrike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1"/>
          <p:cNvSpPr/>
          <p:nvPr/>
        </p:nvSpPr>
        <p:spPr>
          <a:xfrm>
            <a:off x="471487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Spatial features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Strong shape priors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475569"/>
                </a:solidFill>
                <a:latin typeface="Calibri"/>
                <a:ea typeface="Calibri"/>
                <a:cs typeface="Calibri"/>
                <a:sym typeface="Calibri"/>
              </a:rPr>
              <a:t>Rigid object structure</a:t>
            </a:r>
            <a:endParaRPr b="0" sz="1100">
              <a:solidFill>
                <a:srgbClr val="47556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2" name="Google Shape;272;p11"/>
          <p:cNvSpPr/>
          <p:nvPr/>
        </p:nvSpPr>
        <p:spPr>
          <a:xfrm>
            <a:off x="6810375" y="952500"/>
            <a:ext cx="2047800" cy="2190900"/>
          </a:xfrm>
          <a:prstGeom prst="rect">
            <a:avLst/>
          </a:prstGeom>
          <a:solidFill>
            <a:srgbClr val="FFFFFF"/>
          </a:solidFill>
          <a:ln cap="flat" cmpd="sng" w="23825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3" name="Google Shape;273;p11"/>
          <p:cNvSpPr/>
          <p:nvPr/>
        </p:nvSpPr>
        <p:spPr>
          <a:xfrm>
            <a:off x="6810375" y="952500"/>
            <a:ext cx="2047800" cy="4764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4" name="Google Shape;274;p11"/>
          <p:cNvSpPr/>
          <p:nvPr/>
        </p:nvSpPr>
        <p:spPr>
          <a:xfrm>
            <a:off x="6810375" y="1190625"/>
            <a:ext cx="2047800" cy="238200"/>
          </a:xfrm>
          <a:prstGeom prst="rect">
            <a:avLst/>
          </a:prstGeom>
          <a:solidFill>
            <a:srgbClr val="1A365D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5" name="Google Shape;275;p11"/>
          <p:cNvSpPr/>
          <p:nvPr/>
        </p:nvSpPr>
        <p:spPr>
          <a:xfrm>
            <a:off x="6810375" y="952500"/>
            <a:ext cx="20478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Oxford Flowers</a:t>
            </a:r>
            <a:endParaRPr b="1" sz="15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11"/>
          <p:cNvSpPr/>
          <p:nvPr/>
        </p:nvSpPr>
        <p:spPr>
          <a:xfrm>
            <a:off x="6977063" y="1571625"/>
            <a:ext cx="1714500" cy="285900"/>
          </a:xfrm>
          <a:prstGeom prst="rect">
            <a:avLst/>
          </a:prstGeom>
          <a:solidFill>
            <a:srgbClr val="F0F4F8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11"/>
          <p:cNvSpPr/>
          <p:nvPr/>
        </p:nvSpPr>
        <p:spPr>
          <a:xfrm>
            <a:off x="6977063" y="1571625"/>
            <a:ext cx="17145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rPr>
              <a:t>Balanced</a:t>
            </a:r>
            <a:endParaRPr b="1" i="0" sz="1100">
              <a:solidFill>
                <a:srgbClr val="1A365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11"/>
          <p:cNvSpPr/>
          <p:nvPr/>
        </p:nvSpPr>
        <p:spPr>
          <a:xfrm>
            <a:off x="6905625" y="2000250"/>
            <a:ext cx="18573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Optimal for analysis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Clean class boundaries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B"/>
                </a:solidFill>
                <a:latin typeface="Calibri"/>
                <a:ea typeface="Calibri"/>
                <a:cs typeface="Calibri"/>
                <a:sym typeface="Calibri"/>
              </a:rPr>
              <a:t>Uniform lighting conditions</a:t>
            </a:r>
            <a:endParaRPr b="1" sz="1100">
              <a:solidFill>
                <a:srgbClr val="1E293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84" name="Google Shape;284;p12"/>
          <p:cNvGrpSpPr/>
          <p:nvPr/>
        </p:nvGrpSpPr>
        <p:grpSpPr>
          <a:xfrm>
            <a:off x="0" y="0"/>
            <a:ext cx="9144000" cy="762000"/>
            <a:chOff x="0" y="0"/>
            <a:chExt cx="9144000" cy="762000"/>
          </a:xfrm>
        </p:grpSpPr>
        <p:sp>
          <p:nvSpPr>
            <p:cNvPr id="285" name="Google Shape;285;p12"/>
            <p:cNvSpPr/>
            <p:nvPr/>
          </p:nvSpPr>
          <p:spPr>
            <a:xfrm>
              <a:off x="0" y="0"/>
              <a:ext cx="9144000" cy="7620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6" name="Google Shape;286;p12"/>
            <p:cNvSpPr txBox="1"/>
            <p:nvPr/>
          </p:nvSpPr>
          <p:spPr>
            <a:xfrm>
              <a:off x="381000" y="0"/>
              <a:ext cx="8382000" cy="762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28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Dataset Selection &amp; Analysis</a:t>
              </a:r>
              <a:endParaRPr b="1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87" name="Google Shape;287;p12"/>
          <p:cNvGrpSpPr/>
          <p:nvPr/>
        </p:nvGrpSpPr>
        <p:grpSpPr>
          <a:xfrm>
            <a:off x="381000" y="952500"/>
            <a:ext cx="8382000" cy="381000"/>
            <a:chOff x="381000" y="952500"/>
            <a:chExt cx="8382000" cy="381000"/>
          </a:xfrm>
        </p:grpSpPr>
        <p:sp>
          <p:nvSpPr>
            <p:cNvPr id="288" name="Google Shape;288;p12"/>
            <p:cNvSpPr/>
            <p:nvPr/>
          </p:nvSpPr>
          <p:spPr>
            <a:xfrm>
              <a:off x="381000" y="952500"/>
              <a:ext cx="8382000" cy="381000"/>
            </a:xfrm>
            <a:prstGeom prst="rect">
              <a:avLst/>
            </a:prstGeom>
            <a:solidFill>
              <a:srgbClr val="F2F2F2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89" name="Google Shape;289;p12"/>
            <p:cNvSpPr txBox="1"/>
            <p:nvPr/>
          </p:nvSpPr>
          <p:spPr>
            <a:xfrm>
              <a:off x="381000" y="952500"/>
              <a:ext cx="8382000" cy="3810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142875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US" sz="1600">
                  <a:solidFill>
                    <a:srgbClr val="000000"/>
                  </a:solidFill>
                  <a:latin typeface="Calibri"/>
                  <a:ea typeface="Calibri"/>
                  <a:cs typeface="Calibri"/>
                  <a:sym typeface="Calibri"/>
                </a:rPr>
                <a:t>Oxford Flowers 102 — Visual Conditions</a:t>
              </a:r>
              <a:endParaRPr b="1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90" name="Google Shape;290;p12"/>
          <p:cNvPicPr preferRelativeResize="0"/>
          <p:nvPr/>
        </p:nvPicPr>
        <p:blipFill rotWithShape="1">
          <a:blip r:embed="rId3"/>
          <a:stretch>
            <a:fillRect/>
          </a:stretch>
        </p:blipFill>
        <p:spPr>
          <a:xfrm>
            <a:off x="381000" y="1000000"/>
            <a:ext cx="8382000" cy="35000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91" name="Google Shape;291;p12"/>
          <p:cNvGrpSpPr/>
          <p:nvPr/>
        </p:nvGrpSpPr>
        <p:grpSpPr>
          <a:xfrm>
            <a:off x="0" y="4572000"/>
            <a:ext cx="9144000" cy="571500"/>
            <a:chOff x="0" y="4572000"/>
            <a:chExt cx="9144000" cy="571500"/>
          </a:xfrm>
        </p:grpSpPr>
        <p:sp>
          <p:nvSpPr>
            <p:cNvPr id="292" name="Google Shape;292;p12"/>
            <p:cNvSpPr/>
            <p:nvPr/>
          </p:nvSpPr>
          <p:spPr>
            <a:xfrm>
              <a:off x="0" y="4572000"/>
              <a:ext cx="9144000" cy="571500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93" name="Google Shape;293;p12"/>
            <p:cNvSpPr txBox="1"/>
            <p:nvPr/>
          </p:nvSpPr>
          <p:spPr>
            <a:xfrm>
              <a:off x="381000" y="4572000"/>
              <a:ext cx="8382000" cy="5715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lang="en-US" sz="1100">
                  <a:solidFill>
                    <a:srgbClr val="FFFFFF"/>
                  </a:solidFill>
                  <a:latin typeface="Calibri"/>
                  <a:ea typeface="Calibri"/>
                  <a:cs typeface="Calibri"/>
                  <a:sym typeface="Calibri"/>
                </a:rPr>
                <a:t>Clean class boundaries • Uniform lighting conditions • Highly balanced distribution</a:t>
              </a:r>
              <a:endParaRPr b="0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FFF"/>
        </a:solidFill>
      </p:bgPr>
    </p:bg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3"/>
          <p:cNvSpPr/>
          <p:nvPr/>
        </p:nvSpPr>
        <p:spPr>
          <a:xfrm>
            <a:off x="0" y="0"/>
            <a:ext cx="9144000" cy="667512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300" name="Google Shape;300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13"/>
          <p:cNvSpPr/>
          <p:nvPr/>
        </p:nvSpPr>
        <p:spPr>
          <a:xfrm>
            <a:off x="667512" y="0"/>
            <a:ext cx="8476488" cy="66751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rPr b="1" i="0" lang="en-US" sz="2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Model Architecture: ResNet-18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2" name="Google Shape;302;p13"/>
          <p:cNvSpPr/>
          <p:nvPr/>
        </p:nvSpPr>
        <p:spPr>
          <a:xfrm>
            <a:off x="274320" y="804672"/>
            <a:ext cx="4114800" cy="384048"/>
          </a:xfrm>
          <a:prstGeom prst="rect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13"/>
          <p:cNvSpPr/>
          <p:nvPr/>
        </p:nvSpPr>
        <p:spPr>
          <a:xfrm>
            <a:off x="274320" y="804672"/>
            <a:ext cx="41148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524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Calibri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Why ResNet-18?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13"/>
          <p:cNvSpPr/>
          <p:nvPr/>
        </p:nvSpPr>
        <p:spPr>
          <a:xfrm>
            <a:off x="320040" y="1344168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5" name="Google Shape;305;p13"/>
          <p:cNvSpPr/>
          <p:nvPr/>
        </p:nvSpPr>
        <p:spPr>
          <a:xfrm>
            <a:off x="594360" y="1298448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Residual connections: y = F(x) + x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3"/>
          <p:cNvSpPr/>
          <p:nvPr/>
        </p:nvSpPr>
        <p:spPr>
          <a:xfrm>
            <a:off x="320040" y="1965960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3"/>
          <p:cNvSpPr/>
          <p:nvPr/>
        </p:nvSpPr>
        <p:spPr>
          <a:xfrm>
            <a:off x="594360" y="192024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Prevents vanishing gradient problem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8" name="Google Shape;308;p13"/>
          <p:cNvSpPr/>
          <p:nvPr/>
        </p:nvSpPr>
        <p:spPr>
          <a:xfrm>
            <a:off x="320040" y="2587752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3"/>
          <p:cNvSpPr/>
          <p:nvPr/>
        </p:nvSpPr>
        <p:spPr>
          <a:xfrm>
            <a:off x="594360" y="2542032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Preserves feature information flow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0" name="Google Shape;310;p13"/>
          <p:cNvSpPr/>
          <p:nvPr/>
        </p:nvSpPr>
        <p:spPr>
          <a:xfrm>
            <a:off x="320040" y="3209544"/>
            <a:ext cx="164592" cy="164592"/>
          </a:xfrm>
          <a:prstGeom prst="ellipse">
            <a:avLst/>
          </a:prstGeom>
          <a:solidFill>
            <a:srgbClr val="1A365D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1" name="Google Shape;311;p13"/>
          <p:cNvSpPr/>
          <p:nvPr/>
        </p:nvSpPr>
        <p:spPr>
          <a:xfrm>
            <a:off x="594360" y="3163824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222222"/>
              </a:buClr>
              <a:buSzPts val="1250"/>
              <a:buFont typeface="Calibri"/>
              <a:buNone/>
            </a:pPr>
            <a:r>
              <a:rPr b="0" i="0" lang="en-US" sz="1250" u="none" cap="none" strike="noStrike">
                <a:solidFill>
                  <a:srgbClr val="222222"/>
                </a:solidFill>
                <a:latin typeface="Calibri"/>
                <a:ea typeface="Calibri"/>
                <a:cs typeface="Calibri"/>
                <a:sym typeface="Calibri"/>
              </a:rPr>
              <a:t>Enables stable feature propagation across layers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13"/>
          <p:cNvSpPr/>
          <p:nvPr/>
        </p:nvSpPr>
        <p:spPr>
          <a:xfrm>
            <a:off x="4663440" y="804672"/>
            <a:ext cx="4206240" cy="384048"/>
          </a:xfrm>
          <a:prstGeom prst="rect">
            <a:avLst/>
          </a:prstGeom>
          <a:solidFill>
            <a:srgbClr val="0D6B8C"/>
          </a:solidFill>
          <a:ln cap="flat" cmpd="sng" w="12700">
            <a:solidFill>
              <a:srgbClr val="0D6B8C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3" name="Google Shape;313;p13"/>
          <p:cNvSpPr/>
          <p:nvPr/>
        </p:nvSpPr>
        <p:spPr>
          <a:xfrm>
            <a:off x="4663440" y="804672"/>
            <a:ext cx="4206240" cy="38404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1270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Calibri"/>
              <a:buNone/>
            </a:pPr>
            <a:r>
              <a:rPr b="1" i="0" lang="en-US" sz="1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Comparison with Other Architectures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314" name="Google Shape;314;p13"/>
          <p:cNvGraphicFramePr/>
          <p:nvPr/>
        </p:nvGraphicFramePr>
        <p:xfrm>
          <a:off x="4663440" y="1261872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{67996F48-4C62-4C66-BBC9-E9579EBA44FE}</a:tableStyleId>
              </a:tblPr>
              <a:tblGrid>
                <a:gridCol w="2103125"/>
                <a:gridCol w="2103125"/>
              </a:tblGrid>
              <a:tr h="475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Architecture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365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FFFF"/>
                        </a:buClr>
                        <a:buSzPts val="1200"/>
                        <a:buFont typeface="Calibri"/>
                        <a:buNone/>
                      </a:pPr>
                      <a:r>
                        <a:rPr b="1" lang="en-US" sz="1200" u="none" cap="none" strike="noStrik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Limitation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1A365D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VGG-16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No residual connections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AlexNet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Limited depth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  <a:tr h="4755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DenseNet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200"/>
                        <a:buFont typeface="Calibri"/>
                        <a:buNone/>
                      </a:pPr>
                      <a:r>
                        <a:rPr lang="en-US" sz="12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Complex connections, high memory</a:t>
                      </a:r>
                      <a:endParaRPr sz="1200" u="none" cap="none" strike="noStrike"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45725" marB="45725" marR="91450" marL="91450">
                    <a:lnL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rgbClr val="CCCCCC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5" name="Google Shape;315;p13"/>
          <p:cNvSpPr/>
          <p:nvPr/>
        </p:nvSpPr>
        <p:spPr>
          <a:xfrm>
            <a:off x="274320" y="3456432"/>
            <a:ext cx="8595360" cy="914400"/>
          </a:xfrm>
          <a:prstGeom prst="rect">
            <a:avLst/>
          </a:prstGeom>
          <a:solidFill>
            <a:srgbClr val="EEF2F7"/>
          </a:solidFill>
          <a:ln cap="flat" cmpd="sng" w="12700">
            <a:solidFill>
              <a:srgbClr val="1A365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p13"/>
          <p:cNvSpPr/>
          <p:nvPr/>
        </p:nvSpPr>
        <p:spPr>
          <a:xfrm>
            <a:off x="411480" y="3456432"/>
            <a:ext cx="832104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1A365D"/>
              </a:buClr>
              <a:buSzPts val="1250"/>
              <a:buFont typeface="Calibri"/>
              <a:buNone/>
            </a:pPr>
            <a:r>
              <a:rPr b="0" i="1" lang="en-US" sz="1250" u="none" cap="none" strike="noStrike">
                <a:solidFill>
                  <a:srgbClr val="1A365D"/>
                </a:solidFill>
                <a:latin typeface="Calibri"/>
                <a:ea typeface="Calibri"/>
                <a:cs typeface="Calibri"/>
                <a:sym typeface="Calibri"/>
              </a:rPr>
              <a:t>ResNet-18 is chosen for its balance of depth, interpretability, and stable feature propagation — making it ideal for systematic layer-wise feature analysis research.</a:t>
            </a:r>
            <a:endParaRPr b="0" i="0" sz="125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14"/>
          <p:cNvSpPr/>
          <p:nvPr/>
        </p:nvSpPr>
        <p:spPr>
          <a:xfrm>
            <a:off x="0" y="0"/>
            <a:ext cx="9144000" cy="666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23" name="Google Shape;323;p14"/>
          <p:cNvPicPr preferRelativeResize="0"/>
          <p:nvPr/>
        </p:nvPicPr>
        <p:blipFill rotWithShape="1">
          <a:blip r:embed="rId4">
            <a:alphaModFix/>
          </a:blip>
          <a:srcRect b="0" l="11271" r="11263" t="0"/>
          <a:stretch/>
        </p:blipFill>
        <p:spPr>
          <a:xfrm>
            <a:off x="142875" y="95250"/>
            <a:ext cx="476400" cy="476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4" name="Google Shape;324;p14"/>
          <p:cNvSpPr/>
          <p:nvPr/>
        </p:nvSpPr>
        <p:spPr>
          <a:xfrm>
            <a:off x="762000" y="0"/>
            <a:ext cx="8382000" cy="666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Proposed Solution Framework</a:t>
            </a:r>
            <a:endParaRPr b="1" sz="2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14"/>
          <p:cNvSpPr/>
          <p:nvPr/>
        </p:nvSpPr>
        <p:spPr>
          <a:xfrm>
            <a:off x="285750" y="809625"/>
            <a:ext cx="8572500" cy="381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Research Methodology &amp; Workflow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6" name="Google Shape;326;p14"/>
          <p:cNvSpPr/>
          <p:nvPr/>
        </p:nvSpPr>
        <p:spPr>
          <a:xfrm>
            <a:off x="190500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7" name="Google Shape;327;p14"/>
          <p:cNvSpPr/>
          <p:nvPr/>
        </p:nvSpPr>
        <p:spPr>
          <a:xfrm>
            <a:off x="190500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8" name="Google Shape;328;p14"/>
          <p:cNvSpPr/>
          <p:nvPr/>
        </p:nvSpPr>
        <p:spPr>
          <a:xfrm>
            <a:off x="852488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9" name="Google Shape;329;p14"/>
          <p:cNvSpPr/>
          <p:nvPr/>
        </p:nvSpPr>
        <p:spPr>
          <a:xfrm>
            <a:off x="852488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0" name="Google Shape;330;p14"/>
          <p:cNvSpPr/>
          <p:nvPr/>
        </p:nvSpPr>
        <p:spPr>
          <a:xfrm>
            <a:off x="285750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 Extraction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1" name="Google Shape;331;p14"/>
          <p:cNvSpPr/>
          <p:nvPr/>
        </p:nvSpPr>
        <p:spPr>
          <a:xfrm>
            <a:off x="285750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Use ResNet-18 pretrained on ImageNet as the analysis backbone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2" name="Google Shape;332;p14"/>
          <p:cNvSpPr/>
          <p:nvPr/>
        </p:nvSpPr>
        <p:spPr>
          <a:xfrm>
            <a:off x="1971675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3" name="Google Shape;333;p14"/>
          <p:cNvSpPr/>
          <p:nvPr/>
        </p:nvSpPr>
        <p:spPr>
          <a:xfrm>
            <a:off x="1971675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4" name="Google Shape;334;p14"/>
          <p:cNvSpPr/>
          <p:nvPr/>
        </p:nvSpPr>
        <p:spPr>
          <a:xfrm>
            <a:off x="2633663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5" name="Google Shape;335;p14"/>
          <p:cNvSpPr/>
          <p:nvPr/>
        </p:nvSpPr>
        <p:spPr>
          <a:xfrm>
            <a:off x="2633663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6" name="Google Shape;336;p14"/>
          <p:cNvSpPr/>
          <p:nvPr/>
        </p:nvSpPr>
        <p:spPr>
          <a:xfrm>
            <a:off x="2066925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Layer-wise Statistical Analysis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14"/>
          <p:cNvSpPr/>
          <p:nvPr/>
        </p:nvSpPr>
        <p:spPr>
          <a:xfrm>
            <a:off x="2066925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Compute mean activation per layer, variance and sparsity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p14"/>
          <p:cNvSpPr/>
          <p:nvPr/>
        </p:nvSpPr>
        <p:spPr>
          <a:xfrm>
            <a:off x="3752850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14"/>
          <p:cNvSpPr/>
          <p:nvPr/>
        </p:nvSpPr>
        <p:spPr>
          <a:xfrm>
            <a:off x="3752850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0" name="Google Shape;340;p14"/>
          <p:cNvSpPr/>
          <p:nvPr/>
        </p:nvSpPr>
        <p:spPr>
          <a:xfrm>
            <a:off x="4414838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1" name="Google Shape;341;p14"/>
          <p:cNvSpPr/>
          <p:nvPr/>
        </p:nvSpPr>
        <p:spPr>
          <a:xfrm>
            <a:off x="4414838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2" name="Google Shape;342;p14"/>
          <p:cNvSpPr/>
          <p:nvPr/>
        </p:nvSpPr>
        <p:spPr>
          <a:xfrm>
            <a:off x="3848100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Representation Geometry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14"/>
          <p:cNvSpPr/>
          <p:nvPr/>
        </p:nvSpPr>
        <p:spPr>
          <a:xfrm>
            <a:off x="3848100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Reduce dimensionality of per-image features. Analyse neural collapse trends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4" name="Google Shape;344;p14"/>
          <p:cNvSpPr/>
          <p:nvPr/>
        </p:nvSpPr>
        <p:spPr>
          <a:xfrm>
            <a:off x="5534025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5" name="Google Shape;345;p14"/>
          <p:cNvSpPr/>
          <p:nvPr/>
        </p:nvSpPr>
        <p:spPr>
          <a:xfrm>
            <a:off x="5534025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14"/>
          <p:cNvSpPr/>
          <p:nvPr/>
        </p:nvSpPr>
        <p:spPr>
          <a:xfrm>
            <a:off x="6196013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7" name="Google Shape;347;p14"/>
          <p:cNvSpPr/>
          <p:nvPr/>
        </p:nvSpPr>
        <p:spPr>
          <a:xfrm>
            <a:off x="6196013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8" name="Google Shape;348;p14"/>
          <p:cNvSpPr/>
          <p:nvPr/>
        </p:nvSpPr>
        <p:spPr>
          <a:xfrm>
            <a:off x="5629275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Cross-Dataset Comparison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14"/>
          <p:cNvSpPr/>
          <p:nvPr/>
        </p:nvSpPr>
        <p:spPr>
          <a:xfrm>
            <a:off x="5629275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Repeat for Oxford Flowers 102, Food-101, Stanford Cars, FGVC Aircraft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0" name="Google Shape;350;p14"/>
          <p:cNvSpPr/>
          <p:nvPr/>
        </p:nvSpPr>
        <p:spPr>
          <a:xfrm>
            <a:off x="7315200" y="1285875"/>
            <a:ext cx="1666800" cy="3238500"/>
          </a:xfrm>
          <a:prstGeom prst="roundRect">
            <a:avLst>
              <a:gd fmla="val 5714" name="adj"/>
            </a:avLst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1" name="Google Shape;351;p14"/>
          <p:cNvSpPr/>
          <p:nvPr/>
        </p:nvSpPr>
        <p:spPr>
          <a:xfrm>
            <a:off x="7315200" y="1285875"/>
            <a:ext cx="1666800" cy="428700"/>
          </a:xfrm>
          <a:prstGeom prst="roundRect">
            <a:avLst>
              <a:gd fmla="val 22216" name="adj"/>
            </a:avLst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14"/>
          <p:cNvSpPr/>
          <p:nvPr/>
        </p:nvSpPr>
        <p:spPr>
          <a:xfrm>
            <a:off x="7977188" y="1328738"/>
            <a:ext cx="342900" cy="3429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3" name="Google Shape;353;p14"/>
          <p:cNvSpPr/>
          <p:nvPr/>
        </p:nvSpPr>
        <p:spPr>
          <a:xfrm>
            <a:off x="7977188" y="1328738"/>
            <a:ext cx="342900" cy="342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6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1" sz="16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14"/>
          <p:cNvSpPr/>
          <p:nvPr/>
        </p:nvSpPr>
        <p:spPr>
          <a:xfrm>
            <a:off x="7410450" y="1762125"/>
            <a:ext cx="1476300" cy="571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Insights &amp; Interpretability</a:t>
            </a:r>
            <a:endParaRPr b="1" sz="11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5" name="Google Shape;355;p14"/>
          <p:cNvSpPr/>
          <p:nvPr/>
        </p:nvSpPr>
        <p:spPr>
          <a:xfrm>
            <a:off x="7410450" y="2333625"/>
            <a:ext cx="1476300" cy="19050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9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444444"/>
                </a:solidFill>
                <a:latin typeface="Calibri"/>
                <a:ea typeface="Calibri"/>
                <a:cs typeface="Calibri"/>
                <a:sym typeface="Calibri"/>
              </a:rPr>
              <a:t>Generate heatmaps, visualize feature maps, and motivate design choices</a:t>
            </a:r>
            <a:endParaRPr b="0" sz="1200">
              <a:solidFill>
                <a:srgbClr val="4444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blipFill>
          <a:blip r:embed="rId3">
            <a:alphaModFix/>
          </a:blip>
          <a:stretch>
            <a:fillRect/>
          </a:stretch>
        </a:blipFill>
      </p:bgPr>
    </p:bg>
    <p:spTree>
      <p:nvGrpSpPr>
        <p:cNvPr id="360" name="Shape 3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1" name="Google Shape;361;p1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362" name="Google Shape;362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363" name="Google Shape;363;p1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Experiments &amp; Expected Results</a:t>
            </a:r>
            <a:endParaRPr b="1" sz="24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4" name="Google Shape;364;p15"/>
          <p:cNvSpPr/>
          <p:nvPr/>
        </p:nvSpPr>
        <p:spPr>
          <a:xfrm>
            <a:off x="274320" y="1047750"/>
            <a:ext cx="8595300" cy="1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5" name="Google Shape;365;p15"/>
          <p:cNvSpPr/>
          <p:nvPr/>
        </p:nvSpPr>
        <p:spPr>
          <a:xfrm>
            <a:off x="274320" y="762000"/>
            <a:ext cx="85953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Feature Evolution Across Layers</a:t>
            </a:r>
            <a:endParaRPr b="1" sz="1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6" name="Google Shape;366;p15"/>
          <p:cNvSpPr/>
          <p:nvPr/>
        </p:nvSpPr>
        <p:spPr>
          <a:xfrm>
            <a:off x="274320" y="1190625"/>
            <a:ext cx="26670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5"/>
          <p:cNvSpPr/>
          <p:nvPr/>
        </p:nvSpPr>
        <p:spPr>
          <a:xfrm>
            <a:off x="274320" y="119062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8" name="Google Shape;368;p15"/>
          <p:cNvSpPr/>
          <p:nvPr/>
        </p:nvSpPr>
        <p:spPr>
          <a:xfrm>
            <a:off x="274320" y="119062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Early Layers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9" name="Google Shape;369;p15"/>
          <p:cNvSpPr/>
          <p:nvPr/>
        </p:nvSpPr>
        <p:spPr>
          <a:xfrm>
            <a:off x="369570" y="1476375"/>
            <a:ext cx="2476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Detect edges &amp; simple patterns</a:t>
            </a:r>
            <a:endParaRPr b="0" sz="11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3238500" y="1190625"/>
            <a:ext cx="26670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3238500" y="119062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5"/>
          <p:cNvSpPr/>
          <p:nvPr/>
        </p:nvSpPr>
        <p:spPr>
          <a:xfrm>
            <a:off x="3238500" y="119062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Mid Layers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3" name="Google Shape;373;p15"/>
          <p:cNvSpPr/>
          <p:nvPr/>
        </p:nvSpPr>
        <p:spPr>
          <a:xfrm>
            <a:off x="3333750" y="1476375"/>
            <a:ext cx="2476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Capture textures &amp; colour gradients</a:t>
            </a:r>
            <a:endParaRPr b="0" sz="11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5"/>
          <p:cNvSpPr/>
          <p:nvPr/>
        </p:nvSpPr>
        <p:spPr>
          <a:xfrm>
            <a:off x="6202680" y="1190625"/>
            <a:ext cx="2667000" cy="857400"/>
          </a:xfrm>
          <a:prstGeom prst="rect">
            <a:avLst/>
          </a:prstGeom>
          <a:solidFill>
            <a:srgbClr val="FFFFFF"/>
          </a:solidFill>
          <a:ln cap="flat" cmpd="sng" w="143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5" name="Google Shape;375;p15"/>
          <p:cNvSpPr/>
          <p:nvPr/>
        </p:nvSpPr>
        <p:spPr>
          <a:xfrm>
            <a:off x="6202680" y="1190625"/>
            <a:ext cx="2667000" cy="2859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6" name="Google Shape;376;p15"/>
          <p:cNvSpPr/>
          <p:nvPr/>
        </p:nvSpPr>
        <p:spPr>
          <a:xfrm>
            <a:off x="6202680" y="1190625"/>
            <a:ext cx="26670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Deep Layers</a:t>
            </a:r>
            <a:endParaRPr b="1"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7" name="Google Shape;377;p15"/>
          <p:cNvSpPr/>
          <p:nvPr/>
        </p:nvSpPr>
        <p:spPr>
          <a:xfrm>
            <a:off x="6297930" y="1476375"/>
            <a:ext cx="24765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1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Learn semantic representations</a:t>
            </a:r>
            <a:endParaRPr b="0" sz="11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5"/>
          <p:cNvSpPr/>
          <p:nvPr/>
        </p:nvSpPr>
        <p:spPr>
          <a:xfrm>
            <a:off x="274320" y="2571750"/>
            <a:ext cx="8595300" cy="192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9" name="Google Shape;379;p15"/>
          <p:cNvSpPr/>
          <p:nvPr/>
        </p:nvSpPr>
        <p:spPr>
          <a:xfrm>
            <a:off x="274320" y="2286000"/>
            <a:ext cx="8595300" cy="285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4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Dataset Dependency</a:t>
            </a:r>
            <a:endParaRPr b="1" sz="14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274320" y="2762250"/>
            <a:ext cx="95400" cy="4764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5"/>
          <p:cNvSpPr/>
          <p:nvPr/>
        </p:nvSpPr>
        <p:spPr>
          <a:xfrm>
            <a:off x="464820" y="2762250"/>
            <a:ext cx="1371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Food-101:</a:t>
            </a:r>
            <a:endParaRPr b="1" sz="1200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5"/>
          <p:cNvSpPr/>
          <p:nvPr/>
        </p:nvSpPr>
        <p:spPr>
          <a:xfrm>
            <a:off x="1836420" y="2762250"/>
            <a:ext cx="69534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Strong early-layer response (texture features)</a:t>
            </a:r>
            <a:endParaRPr b="0" sz="12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5"/>
          <p:cNvSpPr/>
          <p:nvPr/>
        </p:nvSpPr>
        <p:spPr>
          <a:xfrm>
            <a:off x="274320" y="3333750"/>
            <a:ext cx="95400" cy="4764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4" name="Google Shape;384;p15"/>
          <p:cNvSpPr/>
          <p:nvPr/>
        </p:nvSpPr>
        <p:spPr>
          <a:xfrm>
            <a:off x="464820" y="3333750"/>
            <a:ext cx="1371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Stanford Cars:</a:t>
            </a:r>
            <a:endParaRPr b="1" sz="1200">
              <a:solidFill>
                <a:srgbClr val="666666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5" name="Google Shape;385;p15"/>
          <p:cNvSpPr/>
          <p:nvPr/>
        </p:nvSpPr>
        <p:spPr>
          <a:xfrm>
            <a:off x="1836420" y="3333750"/>
            <a:ext cx="69534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Deep-layer dependence (fine-grained geometry)</a:t>
            </a:r>
            <a:endParaRPr b="0" sz="12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5"/>
          <p:cNvSpPr/>
          <p:nvPr/>
        </p:nvSpPr>
        <p:spPr>
          <a:xfrm>
            <a:off x="274320" y="3905250"/>
            <a:ext cx="95400" cy="476400"/>
          </a:xfrm>
          <a:prstGeom prst="rect">
            <a:avLst/>
          </a:prstGeom>
          <a:solidFill>
            <a:srgbClr val="999999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7" name="Google Shape;387;p15"/>
          <p:cNvSpPr/>
          <p:nvPr/>
        </p:nvSpPr>
        <p:spPr>
          <a:xfrm>
            <a:off x="464820" y="3905250"/>
            <a:ext cx="13716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99999"/>
                </a:solidFill>
                <a:latin typeface="Calibri"/>
                <a:ea typeface="Calibri"/>
                <a:cs typeface="Calibri"/>
                <a:sym typeface="Calibri"/>
              </a:rPr>
              <a:t>Oxford Flowers:</a:t>
            </a:r>
            <a:endParaRPr b="1" sz="1200">
              <a:solidFill>
                <a:srgbClr val="999999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8" name="Google Shape;388;p15"/>
          <p:cNvSpPr/>
          <p:nvPr/>
        </p:nvSpPr>
        <p:spPr>
          <a:xfrm>
            <a:off x="1836420" y="3905250"/>
            <a:ext cx="6953400" cy="4764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1200">
                <a:solidFill>
                  <a:srgbClr val="333333"/>
                </a:solidFill>
                <a:latin typeface="Calibri"/>
                <a:ea typeface="Calibri"/>
                <a:cs typeface="Calibri"/>
                <a:sym typeface="Calibri"/>
              </a:rPr>
              <a:t>Balanced activation across all layers</a:t>
            </a:r>
            <a:endParaRPr b="0" sz="1200">
              <a:solidFill>
                <a:srgbClr val="333333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Validation Loss &amp; Accuracy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743200"/>
          </a:xfrm>
          <a:prstGeom prst="rect">
            <a:avLst/>
          </a:prstGeom>
        </p:spPr>
      </p:pic>
      <p:pic>
        <p:nvPicPr>
          <p:cNvPr id="61" name="Picture 60" descr="accurac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931920" cy="274320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57200" y="4114800"/>
            <a:ext cx="82296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Observations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Validation accuracy converges cleanly. Final accuracy values: Exit 1 (34.90%), Exit 2 (67.88%), Exit 3 (79.35%), Exit 4 (82.06%).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model achieves stable, non-overfitting convergence across all 100 epochs, benefiting from learning rate restart.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Validation Loss &amp; Accuracy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loss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3931920" cy="2743200"/>
          </a:xfrm>
          <a:prstGeom prst="rect">
            <a:avLst/>
          </a:prstGeom>
        </p:spPr>
      </p:pic>
      <p:pic>
        <p:nvPicPr>
          <p:cNvPr id="61" name="Picture 60" descr="accuracy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1188720"/>
            <a:ext cx="3931920" cy="2743200"/>
          </a:xfrm>
          <a:prstGeom prst="rect">
            <a:avLst/>
          </a:prstGeom>
        </p:spPr>
      </p:pic>
      <p:sp>
        <p:nvSpPr>
          <p:cNvPr id="62" name="Rounded Rectangle 61"/>
          <p:cNvSpPr/>
          <p:nvPr/>
        </p:nvSpPr>
        <p:spPr>
          <a:xfrm>
            <a:off x="457200" y="4114800"/>
            <a:ext cx="8229600" cy="868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Observations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Validation accuracy converges cleanly. Final accuracy values: Exit 1 (34.90%), Exit 2 (67.88%), Exit 3 (79.35%), Exit 4 (82.06%).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model achieves stable, non-overfitting convergence across all 100 epochs, benefiting from learning rate restart.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Neural Collapse Metric Evolution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nc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5029200" cy="2926080"/>
          </a:xfrm>
          <a:prstGeom prst="rect">
            <a:avLst/>
          </a:prstGeom>
        </p:spPr>
      </p:pic>
      <p:sp>
        <p:nvSpPr>
          <p:cNvPr id="61" name="Rounded Rectangle 60"/>
          <p:cNvSpPr/>
          <p:nvPr/>
        </p:nvSpPr>
        <p:spPr>
          <a:xfrm>
            <a:off x="5669280" y="1188720"/>
            <a:ext cx="3017520" cy="29260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Analysis of NC1 - NC4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NC1 (Sw/Sb): Decreases monotonically down to 0.624 at Layer 4, showing tight class feature clustering.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NC2 (ETF Geometry): Pairwise cosine similarity approaches target simplex limit (-0.0099) at deeper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NC3 (Classifier Alignment): Strong alignment (mean cos sim &gt; 0.71) across all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NC4 (NCC Accuracy): Monotonically increases to 84.4% at Layer 4, showing distance classifier equivalence.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Final Neural Collapse Metrics (Epoch 100)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457200" y="118872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1 (64-d)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2 (128-d)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3 (256-d)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Layer 4 (512-d)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Trend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NC1 (Sw/Sb) ↓ better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0.831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0.624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✅ Monotonic Decrease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NC2 (pair cos sim) → -0.0099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0.0047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-0.0036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-0.0027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✅ Approaching Target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NC3 (alignment) → 1.0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0.734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0.772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0.738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✅ Strong Alignment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NC4 (NCC acc) ↑ better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38.0%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66.2%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79.7%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84.4%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✅ Monotonic Increase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Rounded Rectangle 60"/>
          <p:cNvSpPr/>
          <p:nvPr/>
        </p:nvSpPr>
        <p:spPr>
          <a:xfrm>
            <a:off x="457200" y="3474720"/>
            <a:ext cx="8229600" cy="1097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Confirmation of Progressive Collapse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Neural Collapse strength is highly layer-dependent, developing progressively through convolution layers.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Deeper layers exhibit much more compact representation geometries, making distance classification highly accurate.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NC-vs-Accuracy scatter correlation confirms that collapse strength dictates exit reliability.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Early Exit Simulation Sweep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60" name="Picture 59" descr="exi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4389120" cy="2926080"/>
          </a:xfrm>
          <a:prstGeom prst="rect">
            <a:avLst/>
          </a:prstGeom>
        </p:spPr>
      </p:pic>
      <p:graphicFrame>
        <p:nvGraphicFramePr>
          <p:cNvPr id="61" name="Table 60"/>
          <p:cNvGraphicFramePr>
            <a:graphicFrameLocks noGrp="1"/>
          </p:cNvGraphicFramePr>
          <p:nvPr/>
        </p:nvGraphicFramePr>
        <p:xfrm>
          <a:off x="4937760" y="1188720"/>
          <a:ext cx="3749039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68629"/>
                <a:gridCol w="468629"/>
                <a:gridCol w="468629"/>
                <a:gridCol w="468629"/>
                <a:gridCol w="468629"/>
                <a:gridCol w="468629"/>
                <a:gridCol w="468629"/>
                <a:gridCol w="468636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Threshold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Avg Layers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Speedup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L1 Exits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L2 Exits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L3 Exits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L4 Exits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0.50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80.31%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2.60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1.54x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255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2807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2199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888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2.93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1.36x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1937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2456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1675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0.90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82.08%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3.30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1.21x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842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2608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2697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82.06%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3.69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1.08x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1707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4339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Rounded Rectangle 61"/>
          <p:cNvSpPr/>
          <p:nvPr/>
        </p:nvSpPr>
        <p:spPr>
          <a:xfrm>
            <a:off x="457200" y="4206240"/>
            <a:ext cx="8229600" cy="82296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Simulation Summary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Exit 3 (Layer 3) is the practical "sweet spot", handling 35.8% of samples at threshold 0.50.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Achieving a 1.54x compute speedup is possible with only 1.76% accuracy change from exit 4.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Out-of-Distribution (OOD) Detection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60" name="Table 59"/>
          <p:cNvGraphicFramePr>
            <a:graphicFrameLocks noGrp="1"/>
          </p:cNvGraphicFramePr>
          <p:nvPr/>
        </p:nvGraphicFramePr>
        <p:xfrm>
          <a:off x="457200" y="1188720"/>
          <a:ext cx="82296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02336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Exit Layer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ID Center Sim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OOD Center Sim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Gap (ID - OOD)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Detection Valid</a:t>
                      </a:r>
                    </a:p>
                  </a:txBody>
                  <a:tcPr>
                    <a:solidFill>
                      <a:srgbClr val="0E7490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1 (Layer 1)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0.0984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0.1611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-0.0627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✗ No (OOD closer than ID)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2 (Layer 2)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0.0796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0.0781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+0.0015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✓ Yes (ID closer to centers)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3 (Layer 3)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0.0782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0.0162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+0.0619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✓ Yes (ID closer to centers)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Exit 4 (Layer 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0.2196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0.1107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+0.1089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0F172A"/>
                          </a:solidFill>
                        </a:defRPr>
                      </a:pPr>
                      <a:r>
                        <a:t>✓ Yes (Strong separation)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1" name="Rounded Rectangle 60"/>
          <p:cNvSpPr/>
          <p:nvPr/>
        </p:nvSpPr>
        <p:spPr>
          <a:xfrm>
            <a:off x="457200" y="3474720"/>
            <a:ext cx="8229600" cy="10972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Verification of Liu &amp; Qin (2025) Theory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Distance-based OOD detection is highly layer-dependent, failing completely at shallow layers (1 &amp; 2).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The OOD gap becomes positive and strong only at deeper layers (3 &amp; 4) where Neural Collapse has developed.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This confirms that intermediate layers must achieve strong collapse to make reliable OOD decisions.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Results: Key Research Findings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Theoretical Insights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1. Progressive Collapse Confirmed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NC metrics improve monotonically through the network layers, proving Neural Collapse is a continuous geometric evolution rather than an abrupt final-layer event.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2. NC and Inference Reliability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There is a direct mathematical correlation between collapse metric NC4 and early exit accuracy. Strong representation collapse is a prerequisite for reliable classification.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3. Layer-Dependent OOD Detection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Distance-based OOD detection relies on compact representations; shallow layers lack this structure and cannot distinguish in-distribution from out-of-distribution.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Practical Applications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1. Early Exit Optimization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Our sweep proves Exit 3 is the ideal deployment point, offering 79.35% accuracy while exiting over 60% of easy samples at threshold 0.50.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2. Latency vs Accuracy Tradeoffs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We demonstrate that early exiting yields a 1.25x speedup with negligible accuracy degradation, providing design guidelines for resource-constrained edge systems.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3. Validation of Geometry-Aware Nets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Validates that monitoring representation statistics (NC1-NC4) acts as an excellent, training-free diagnostic for model calibration and confidence.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Conclusion &amp; Future Work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Rounded Rectangle 59"/>
          <p:cNvSpPr/>
          <p:nvPr/>
        </p:nvSpPr>
        <p:spPr>
          <a:xfrm>
            <a:off x="45720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Key Contributions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Framework Development: Built a complete pipeline to hook ResNet-18, compute NC1-NC4, and simulate exits.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Empirical Validation: Proven layer-wise progressive collapse on the fine-grained Oxford Flowers 102 dataset.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Tradeoff Mapping: Mapped accuracy vs speedup Pareto front, establishing Exit 3 as the optimal threshold boundary.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OOD Mapping: Confirmed that intermediate representation depth bounds distance-based OOD reliability.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754880" y="1188720"/>
            <a:ext cx="3931920" cy="347472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600"/>
              </a:spcAft>
              <a:defRPr b="1" sz="1200">
                <a:solidFill>
                  <a:srgbClr val="0F172A"/>
                </a:solidFill>
              </a:defRPr>
            </a:pPr>
            <a:r>
              <a:t>Current Status &amp; Next Steps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Extended Training (100 Epochs): Successfully completed to study asymptotic collapse and final validation accuracy limits.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Cross-Dataset Comparison: Implement and run identical pipeline on CIFAR-10 baseline to study geometric complexity impact.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Logit Adjustments (MLA): Apply Hasegawa &amp; Sato's adjustment at early exits to fix boundary distortions from class imbalance.</a:t>
            </a:r>
          </a:p>
          <a:p>
            <a:pPr>
              <a:spcAft>
                <a:spcPts val="400"/>
              </a:spcAft>
              <a:defRPr sz="950">
                <a:solidFill>
                  <a:srgbClr val="475569"/>
                </a:solidFill>
              </a:defRPr>
            </a:pPr>
            <a:r>
              <a:t>• Visualizations: Generate t-SNE and PCA feature clusters across layers to qualitatively verify collapse geometry.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7" name="Google Shape;57;p5"/>
          <p:cNvSpPr/>
          <p:nvPr/>
        </p:nvSpPr>
        <p:spPr>
          <a:xfrm>
            <a:off x="0" y="0"/>
            <a:ext cx="9144000" cy="667500"/>
          </a:xfrm>
          <a:prstGeom prst="rect">
            <a:avLst/>
          </a:prstGeom>
          <a:solidFill>
            <a:srgbClr val="000000"/>
          </a:solidFill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/home/claude/kle_logo_final.png" id="58" name="Google Shape;58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667512" cy="667512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5"/>
          <p:cNvSpPr/>
          <p:nvPr/>
        </p:nvSpPr>
        <p:spPr>
          <a:xfrm>
            <a:off x="667512" y="0"/>
            <a:ext cx="8476500" cy="667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Calibri"/>
              <a:buNone/>
            </a:pPr>
            <a:r>
              <a:t>Thank You</a:t>
            </a:r>
            <a:endParaRPr b="0" i="0" sz="2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914400" y="1645920"/>
            <a:ext cx="7315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b="1" sz="4000">
                <a:solidFill>
                  <a:srgbClr val="0E7490"/>
                </a:solidFill>
              </a:defRPr>
            </a:pPr>
            <a:r>
              <a:t>Thank You</a:t>
            </a:r>
          </a:p>
          <a:p>
            <a:pPr algn="ctr">
              <a:spcAft>
                <a:spcPts val="800"/>
              </a:spcAft>
              <a:defRPr b="1" sz="1600">
                <a:solidFill>
                  <a:srgbClr val="475569"/>
                </a:solidFill>
              </a:defRPr>
            </a:pPr>
            <a:r>
              <a:t>Layer-wise Analysis of Feature Evolution in CNNs</a:t>
            </a:r>
          </a:p>
          <a:p>
            <a:pPr algn="ctr">
              <a:spcAft>
                <a:spcPts val="2000"/>
              </a:spcAft>
              <a:defRPr sz="1400">
                <a:solidFill>
                  <a:srgbClr val="64748B"/>
                </a:solidFill>
              </a:defRPr>
            </a:pPr>
            <a:r>
              <a:t>Aditya Arasamangalam  •  REU  •  Guide: Dr Meena S M</a:t>
            </a:r>
          </a:p>
          <a:p>
            <a:pPr algn="ctr">
              <a:defRPr b="1" sz="2200">
                <a:solidFill>
                  <a:srgbClr val="0E7490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