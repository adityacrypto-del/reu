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9" r:id="rId22"/>
    <p:sldId id="270" r:id="rId23"/>
    <p:sldId id="271" r:id="rId24"/>
    <p:sldId id="272" r:id="rId25"/>
    <p:sldId id="264" r:id="rId14"/>
    <p:sldId id="265" r:id="rId15"/>
    <p:sldId id="266" r:id="rId16"/>
    <p:sldId id="267" r:id="rId17"/>
    <p:sldId id="268" r:id="rId18"/>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Lst>
  <p:sldSz cy="5143500" cx="9144000"/>
  <p:notesSz cx="5143500" cy="9144000"/>
  <p:embeddedFontLst>
    <p:embeddedFont>
      <p:font typeface="Inter"/>
      <p:bold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7996F48-4C62-4C66-BBC9-E9579EBA44FE}">
  <a:tblStyle styleId="{67996F48-4C62-4C66-BBC9-E9579EBA44F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4" name="Google Shape;134;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6" name="Google Shape;246;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2" name="Google Shape;282;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7" name="Google Shape;29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9" name="Google Shape;319;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0" name="Google Shape;320;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9" name="Google Shape;35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_method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_method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17" name="Google Shape;17;p3"/>
          <p:cNvPicPr preferRelativeResize="0"/>
          <p:nvPr/>
        </p:nvPicPr>
        <p:blipFill rotWithShape="1">
          <a:blip r:embed="rId3">
            <a:alphaModFix/>
          </a:blip>
          <a:srcRect b="0" l="0" r="0" t="0"/>
          <a:stretch/>
        </p:blipFill>
        <p:spPr>
          <a:xfrm>
            <a:off x="0" y="0"/>
            <a:ext cx="667385" cy="669290"/>
          </a:xfrm>
          <a:prstGeom prst="rect">
            <a:avLst/>
          </a:prstGeom>
          <a:noFill/>
          <a:ln>
            <a:noFill/>
          </a:ln>
        </p:spPr>
      </p:pic>
      <p:sp>
        <p:nvSpPr>
          <p:cNvPr id="18" name="Google Shape;18;p3"/>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Department of Computer Science and Engineering</a:t>
            </a:r>
            <a:endParaRPr b="0" i="0" sz="1300" u="none" cap="none" strike="noStrike">
              <a:solidFill>
                <a:schemeClr val="dk1"/>
              </a:solidFill>
              <a:latin typeface="Calibri"/>
              <a:ea typeface="Calibri"/>
              <a:cs typeface="Calibri"/>
              <a:sym typeface="Calibri"/>
            </a:endParaRPr>
          </a:p>
        </p:txBody>
      </p:sp>
      <p:sp>
        <p:nvSpPr>
          <p:cNvPr id="19" name="Google Shape;19;p3"/>
          <p:cNvSpPr/>
          <p:nvPr/>
        </p:nvSpPr>
        <p:spPr>
          <a:xfrm>
            <a:off x="457200" y="914400"/>
            <a:ext cx="8229600" cy="1554600"/>
          </a:xfrm>
          <a:prstGeom prst="rect">
            <a:avLst/>
          </a:prstGeom>
          <a:noFill/>
          <a:ln>
            <a:noFill/>
          </a:ln>
        </p:spPr>
        <p:txBody>
          <a:bodyPr anchorCtr="0" anchor="ctr" bIns="45700" lIns="91425" spcFirstLastPara="1" rIns="91425" wrap="square" tIns="45700">
            <a:noAutofit/>
          </a:bodyPr>
          <a:lstStyle/>
          <a:p>
            <a:pPr algn="ctr">
              <a:defRPr sz="2800" b="1">
                <a:solidFill>
                  <a:srgbClr val="0F172A"/>
                </a:solidFill>
              </a:defRPr>
            </a:pPr>
            <a:r>
              <a:t>Feature Representation Dynamics and Reliability in Deep Neural Image Classification</a:t>
            </a:r>
          </a:p>
        </p:txBody>
      </p:sp>
      <p:sp>
        <p:nvSpPr>
          <p:cNvPr id="20" name="Google Shape;20;p3"/>
          <p:cNvSpPr/>
          <p:nvPr/>
        </p:nvSpPr>
        <p:spPr>
          <a:xfrm>
            <a:off x="1828800" y="2857500"/>
            <a:ext cx="5486400" cy="36600"/>
          </a:xfrm>
          <a:prstGeom prst="rect">
            <a:avLst/>
          </a:prstGeom>
          <a:solidFill>
            <a:srgbClr val="B5192D"/>
          </a:solidFill>
          <a:ln cap="flat" cmpd="sng" w="12700">
            <a:solidFill>
              <a:srgbClr val="B5192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 name="Google Shape;21;p3"/>
          <p:cNvSpPr/>
          <p:nvPr/>
        </p:nvSpPr>
        <p:spPr>
          <a:xfrm>
            <a:off x="457200" y="3028950"/>
            <a:ext cx="8229600" cy="365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latin typeface="Calibri"/>
                <a:ea typeface="Calibri"/>
                <a:cs typeface="Calibri"/>
                <a:sym typeface="Calibri"/>
              </a:rPr>
              <a:t xml:space="preserve"> Name:</a:t>
            </a:r>
            <a:r>
              <a:rPr b="1" lang="en-US" sz="1500">
                <a:solidFill>
                  <a:srgbClr val="000000"/>
                </a:solidFill>
                <a:latin typeface="Calibri"/>
                <a:ea typeface="Calibri"/>
                <a:cs typeface="Calibri"/>
                <a:sym typeface="Calibri"/>
              </a:rPr>
              <a:t>Aditya Arasamangalam</a:t>
            </a:r>
            <a:endParaRPr b="1" sz="1500">
              <a:solidFill>
                <a:srgbClr val="000000"/>
              </a:solidFill>
              <a:latin typeface="Calibri"/>
              <a:ea typeface="Calibri"/>
              <a:cs typeface="Calibri"/>
              <a:sym typeface="Calibri"/>
            </a:endParaRPr>
          </a:p>
        </p:txBody>
      </p:sp>
      <p:sp>
        <p:nvSpPr>
          <p:cNvPr id="22" name="Google Shape;22;p3"/>
          <p:cNvSpPr/>
          <p:nvPr/>
        </p:nvSpPr>
        <p:spPr>
          <a:xfrm>
            <a:off x="457200" y="3409950"/>
            <a:ext cx="8229600" cy="3201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a:solidFill>
                  <a:schemeClr val="dk1"/>
                </a:solidFill>
                <a:latin typeface="Calibri"/>
                <a:ea typeface="Calibri"/>
                <a:cs typeface="Calibri"/>
                <a:sym typeface="Calibri"/>
              </a:rPr>
              <a:t>Course: Research Experience for Undergraduates | Guide: Dr Meena S M</a:t>
            </a:r>
            <a:endParaRPr b="1">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 name="Shape 27"/>
        <p:cNvGrpSpPr/>
        <p:nvPr/>
      </p:nvGrpSpPr>
      <p:grpSpPr>
        <a:xfrm>
          <a:off x="0" y="0"/>
          <a:ext cx="0" cy="0"/>
          <a:chOff x="0" y="0"/>
          <a:chExt cx="0" cy="0"/>
        </a:xfrm>
      </p:grpSpPr>
      <p:sp>
        <p:nvSpPr>
          <p:cNvPr id="28" name="Google Shape;28;p4"/>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29" name="Google Shape;29;p4"/>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30" name="Google Shape;30;p4"/>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Motivation</a:t>
            </a:r>
            <a:endParaRPr b="0" i="0" sz="2400" u="none" cap="none" strike="noStrike">
              <a:solidFill>
                <a:schemeClr val="dk1"/>
              </a:solidFill>
              <a:latin typeface="Calibri"/>
              <a:ea typeface="Calibri"/>
              <a:cs typeface="Calibri"/>
              <a:sym typeface="Calibri"/>
            </a:endParaRPr>
          </a:p>
        </p:txBody>
      </p:sp>
      <p:grpSp>
        <p:nvGrpSpPr>
          <p:cNvPr id="31" name="Google Shape;31;p4"/>
          <p:cNvGrpSpPr/>
          <p:nvPr/>
        </p:nvGrpSpPr>
        <p:grpSpPr>
          <a:xfrm>
            <a:off x="381000" y="952500"/>
            <a:ext cx="4095900" cy="1714500"/>
            <a:chOff x="381000" y="952500"/>
            <a:chExt cx="4095900" cy="1714500"/>
          </a:xfrm>
        </p:grpSpPr>
        <p:sp>
          <p:nvSpPr>
            <p:cNvPr id="32" name="Google Shape;32;p4"/>
            <p:cNvSpPr/>
            <p:nvPr/>
          </p:nvSpPr>
          <p:spPr>
            <a:xfrm>
              <a:off x="381000" y="952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 name="Google Shape;33;p4"/>
            <p:cNvSpPr/>
            <p:nvPr/>
          </p:nvSpPr>
          <p:spPr>
            <a:xfrm>
              <a:off x="381000" y="952500"/>
              <a:ext cx="76200" cy="1714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 name="Google Shape;34;p4"/>
            <p:cNvSpPr txBox="1"/>
            <p:nvPr/>
          </p:nvSpPr>
          <p:spPr>
            <a:xfrm>
              <a:off x="619125" y="1095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1A365D"/>
                  </a:solidFill>
                  <a:latin typeface="Calibri"/>
                  <a:ea typeface="Calibri"/>
                  <a:cs typeface="Calibri"/>
                  <a:sym typeface="Calibri"/>
                </a:rPr>
                <a:t>Accuracy vs Interpretability</a:t>
              </a:r>
              <a:endParaRPr b="1" sz="1800">
                <a:solidFill>
                  <a:srgbClr val="1A365D"/>
                </a:solidFill>
                <a:latin typeface="Calibri"/>
                <a:ea typeface="Calibri"/>
                <a:cs typeface="Calibri"/>
                <a:sym typeface="Calibri"/>
              </a:endParaRPr>
            </a:p>
          </p:txBody>
        </p:sp>
        <p:sp>
          <p:nvSpPr>
            <p:cNvPr id="35" name="Google Shape;35;p4"/>
            <p:cNvSpPr txBox="1"/>
            <p:nvPr/>
          </p:nvSpPr>
          <p:spPr>
            <a:xfrm>
              <a:off x="619125" y="1524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CNNs achieve high accuracy but lack interpretability, creating a gap between performance and understanding.</a:t>
              </a:r>
              <a:endParaRPr b="0" sz="1400">
                <a:solidFill>
                  <a:srgbClr val="334155"/>
                </a:solidFill>
                <a:latin typeface="Calibri"/>
                <a:ea typeface="Calibri"/>
                <a:cs typeface="Calibri"/>
                <a:sym typeface="Calibri"/>
              </a:endParaRPr>
            </a:p>
          </p:txBody>
        </p:sp>
      </p:grpSp>
      <p:grpSp>
        <p:nvGrpSpPr>
          <p:cNvPr id="36" name="Google Shape;36;p4"/>
          <p:cNvGrpSpPr/>
          <p:nvPr/>
        </p:nvGrpSpPr>
        <p:grpSpPr>
          <a:xfrm>
            <a:off x="4667250" y="952500"/>
            <a:ext cx="4095900" cy="1714500"/>
            <a:chOff x="4667250" y="952500"/>
            <a:chExt cx="4095900" cy="1714500"/>
          </a:xfrm>
        </p:grpSpPr>
        <p:sp>
          <p:nvSpPr>
            <p:cNvPr id="37" name="Google Shape;37;p4"/>
            <p:cNvSpPr/>
            <p:nvPr/>
          </p:nvSpPr>
          <p:spPr>
            <a:xfrm>
              <a:off x="4667250" y="952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 name="Google Shape;38;p4"/>
            <p:cNvSpPr/>
            <p:nvPr/>
          </p:nvSpPr>
          <p:spPr>
            <a:xfrm>
              <a:off x="4667250" y="952500"/>
              <a:ext cx="76200" cy="1714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 name="Google Shape;39;p4"/>
            <p:cNvSpPr txBox="1"/>
            <p:nvPr/>
          </p:nvSpPr>
          <p:spPr>
            <a:xfrm>
              <a:off x="4905375" y="1095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1A365D"/>
                  </a:solidFill>
                  <a:latin typeface="Calibri"/>
                  <a:ea typeface="Calibri"/>
                  <a:cs typeface="Calibri"/>
                  <a:sym typeface="Calibri"/>
                </a:rPr>
                <a:t>Black Box Problem</a:t>
              </a:r>
              <a:endParaRPr b="1" sz="1800">
                <a:solidFill>
                  <a:srgbClr val="1A365D"/>
                </a:solidFill>
                <a:latin typeface="Calibri"/>
                <a:ea typeface="Calibri"/>
                <a:cs typeface="Calibri"/>
                <a:sym typeface="Calibri"/>
              </a:endParaRPr>
            </a:p>
          </p:txBody>
        </p:sp>
        <p:sp>
          <p:nvSpPr>
            <p:cNvPr id="40" name="Google Shape;40;p4"/>
            <p:cNvSpPr txBox="1"/>
            <p:nvPr/>
          </p:nvSpPr>
          <p:spPr>
            <a:xfrm>
              <a:off x="4905375" y="1524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Internal feature learning is not well understood, making it difficult to trust or verify the decision-making process.</a:t>
              </a:r>
              <a:endParaRPr b="0" sz="1400">
                <a:solidFill>
                  <a:srgbClr val="334155"/>
                </a:solidFill>
                <a:latin typeface="Calibri"/>
                <a:ea typeface="Calibri"/>
                <a:cs typeface="Calibri"/>
                <a:sym typeface="Calibri"/>
              </a:endParaRPr>
            </a:p>
          </p:txBody>
        </p:sp>
      </p:grpSp>
      <p:grpSp>
        <p:nvGrpSpPr>
          <p:cNvPr id="41" name="Google Shape;41;p4"/>
          <p:cNvGrpSpPr/>
          <p:nvPr/>
        </p:nvGrpSpPr>
        <p:grpSpPr>
          <a:xfrm>
            <a:off x="381000" y="2857500"/>
            <a:ext cx="4095900" cy="1714500"/>
            <a:chOff x="381000" y="2857500"/>
            <a:chExt cx="4095900" cy="1714500"/>
          </a:xfrm>
        </p:grpSpPr>
        <p:sp>
          <p:nvSpPr>
            <p:cNvPr id="42" name="Google Shape;42;p4"/>
            <p:cNvSpPr/>
            <p:nvPr/>
          </p:nvSpPr>
          <p:spPr>
            <a:xfrm>
              <a:off x="381000" y="2857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 name="Google Shape;43;p4"/>
            <p:cNvSpPr/>
            <p:nvPr/>
          </p:nvSpPr>
          <p:spPr>
            <a:xfrm>
              <a:off x="381000" y="2857500"/>
              <a:ext cx="76200" cy="1714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 name="Google Shape;44;p4"/>
            <p:cNvSpPr txBox="1"/>
            <p:nvPr/>
          </p:nvSpPr>
          <p:spPr>
            <a:xfrm>
              <a:off x="619125" y="3000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B5192D"/>
                  </a:solidFill>
                  <a:latin typeface="Calibri"/>
                  <a:ea typeface="Calibri"/>
                  <a:cs typeface="Calibri"/>
                  <a:sym typeface="Calibri"/>
                </a:rPr>
                <a:t>Output-Centric View</a:t>
              </a:r>
              <a:endParaRPr b="1" sz="1800">
                <a:solidFill>
                  <a:srgbClr val="B5192D"/>
                </a:solidFill>
                <a:latin typeface="Calibri"/>
                <a:ea typeface="Calibri"/>
                <a:cs typeface="Calibri"/>
                <a:sym typeface="Calibri"/>
              </a:endParaRPr>
            </a:p>
          </p:txBody>
        </p:sp>
        <p:sp>
          <p:nvSpPr>
            <p:cNvPr id="45" name="Google Shape;45;p4"/>
            <p:cNvSpPr txBox="1"/>
            <p:nvPr/>
          </p:nvSpPr>
          <p:spPr>
            <a:xfrm>
              <a:off x="619125" y="3429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Most work focuses on final outputs, leaving a critical knowledge gap regarding intermediate layer representations.</a:t>
              </a:r>
              <a:endParaRPr b="0" sz="1400">
                <a:solidFill>
                  <a:srgbClr val="334155"/>
                </a:solidFill>
                <a:latin typeface="Calibri"/>
                <a:ea typeface="Calibri"/>
                <a:cs typeface="Calibri"/>
                <a:sym typeface="Calibri"/>
              </a:endParaRPr>
            </a:p>
          </p:txBody>
        </p:sp>
      </p:grpSp>
      <p:grpSp>
        <p:nvGrpSpPr>
          <p:cNvPr id="46" name="Google Shape;46;p4"/>
          <p:cNvGrpSpPr/>
          <p:nvPr/>
        </p:nvGrpSpPr>
        <p:grpSpPr>
          <a:xfrm>
            <a:off x="4667250" y="2857500"/>
            <a:ext cx="4095900" cy="1714500"/>
            <a:chOff x="4667250" y="2857500"/>
            <a:chExt cx="4095900" cy="1714500"/>
          </a:xfrm>
        </p:grpSpPr>
        <p:sp>
          <p:nvSpPr>
            <p:cNvPr id="47" name="Google Shape;47;p4"/>
            <p:cNvSpPr/>
            <p:nvPr/>
          </p:nvSpPr>
          <p:spPr>
            <a:xfrm>
              <a:off x="4667250" y="2857500"/>
              <a:ext cx="4095900" cy="1714500"/>
            </a:xfrm>
            <a:prstGeom prst="roundRect">
              <a:avLst>
                <a:gd fmla="val 6666" name="adj"/>
              </a:avLst>
            </a:prstGeom>
            <a:solidFill>
              <a:srgbClr val="F8FAFC"/>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 name="Google Shape;48;p4"/>
            <p:cNvSpPr/>
            <p:nvPr/>
          </p:nvSpPr>
          <p:spPr>
            <a:xfrm>
              <a:off x="4667250" y="2857500"/>
              <a:ext cx="76200" cy="1714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 name="Google Shape;49;p4"/>
            <p:cNvSpPr txBox="1"/>
            <p:nvPr/>
          </p:nvSpPr>
          <p:spPr>
            <a:xfrm>
              <a:off x="4905375" y="3000375"/>
              <a:ext cx="3619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B5192D"/>
                  </a:solidFill>
                  <a:latin typeface="Calibri"/>
                  <a:ea typeface="Calibri"/>
                  <a:cs typeface="Calibri"/>
                  <a:sym typeface="Calibri"/>
                </a:rPr>
                <a:t>Trust &amp; Explainability</a:t>
              </a:r>
              <a:endParaRPr b="1" sz="1800">
                <a:solidFill>
                  <a:srgbClr val="B5192D"/>
                </a:solidFill>
                <a:latin typeface="Calibri"/>
                <a:ea typeface="Calibri"/>
                <a:cs typeface="Calibri"/>
                <a:sym typeface="Calibri"/>
              </a:endParaRPr>
            </a:p>
          </p:txBody>
        </p:sp>
        <p:sp>
          <p:nvSpPr>
            <p:cNvPr id="50" name="Google Shape;50;p4"/>
            <p:cNvSpPr txBox="1"/>
            <p:nvPr/>
          </p:nvSpPr>
          <p:spPr>
            <a:xfrm>
              <a:off x="4905375" y="3429000"/>
              <a:ext cx="3619500" cy="952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400">
                  <a:solidFill>
                    <a:srgbClr val="334155"/>
                  </a:solidFill>
                  <a:latin typeface="Calibri"/>
                  <a:ea typeface="Calibri"/>
                  <a:cs typeface="Calibri"/>
                  <a:sym typeface="Calibri"/>
                </a:rPr>
                <a:t>Understanding feature evolution improves trust in models and facilitates adoption in sensitive domains.</a:t>
              </a:r>
              <a:endParaRPr b="0" sz="1400">
                <a:solidFill>
                  <a:srgbClr val="334155"/>
                </a:solidFill>
                <a:latin typeface="Calibri"/>
                <a:ea typeface="Calibri"/>
                <a:cs typeface="Calibri"/>
                <a:sym typeface="Calibri"/>
              </a:endParaRPr>
            </a:p>
          </p:txBody>
        </p:sp>
      </p:grpSp>
      <p:pic>
        <p:nvPicPr>
          <p:cNvPr id="51" name="Google Shape;51;p4"/>
          <p:cNvPicPr preferRelativeResize="0"/>
          <p:nvPr/>
        </p:nvPicPr>
        <p:blipFill>
          <a:blip r:embed="rId5">
            <a:alphaModFix/>
          </a:blip>
          <a:stretch>
            <a:fillRect/>
          </a:stretch>
        </p:blipFill>
        <p:spPr>
          <a:xfrm>
            <a:off x="6335121" y="0"/>
            <a:ext cx="2808879" cy="667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 name="Shape 56"/>
        <p:cNvGrpSpPr/>
        <p:nvPr/>
      </p:nvGrpSpPr>
      <p:grpSpPr>
        <a:xfrm>
          <a:off x="0" y="0"/>
          <a:ext cx="0" cy="0"/>
          <a:chOff x="0" y="0"/>
          <a:chExt cx="0" cy="0"/>
        </a:xfrm>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Problem Statement</a:t>
            </a:r>
            <a:endParaRPr b="0" i="0" sz="2400" u="none" cap="none" strike="noStrike">
              <a:solidFill>
                <a:schemeClr val="dk1"/>
              </a:solidFill>
              <a:latin typeface="Calibri"/>
              <a:ea typeface="Calibri"/>
              <a:cs typeface="Calibri"/>
              <a:sym typeface="Calibri"/>
            </a:endParaRPr>
          </a:p>
        </p:txBody>
      </p:sp>
      <p:sp>
        <p:nvSpPr>
          <p:cNvPr id="998" name="ProblemStatementText"/>
          <p:cNvSpPr txBox="1"/>
          <p:nvPr/>
        </p:nvSpPr>
        <p:spPr>
          <a:xfrm>
            <a:off x="381000" y="900000"/>
            <a:ext cx="8382000" cy="4200000"/>
          </a:xfrm>
          <a:prstGeom prst="rect">
            <a:avLst/>
          </a:prstGeom>
          <a:solidFill>
            <a:srgbClr val="F2F2F2"/>
          </a:solidFill>
          <a:ln>
            <a:solidFill>
              <a:srgbClr val="D0D8E8"/>
            </a:solidFill>
          </a:ln>
        </p:spPr>
        <p:txBody>
          <a:bodyPr anchorCtr="0" anchor="ctr" bIns="182880" lIns="182880" rIns="182880" tIns="182880" wrap="square">
            <a:noAutofit/>
          </a:bodyPr>
          <a:lstStyle/>
          <a:p>
            <a:pPr indent="0" lvl="0" marL="0" rtl="0" algn="ctr">
              <a:spcBef>
                <a:spcPts val="0"/>
              </a:spcBef>
              <a:spcAft>
                <a:spcPts val="0"/>
              </a:spcAft>
              <a:buNone/>
            </a:pPr>
            <a:r>
              <a:rPr b="0" lang="en-US" sz="2000">
                <a:solidFill>
                  <a:srgbClr val="1A365D"/>
                </a:solidFill>
                <a:latin typeface="Calibri"/>
              </a:rPr>
              <a:t>To investigate how internal representations in CNNs evolve across layers and to identify the role of dataset properties in shaping these representations.</a:t>
            </a:r>
          </a:p>
          <a:p>
            <a:pPr indent="0" lvl="0" marL="0" rtl="0" algn="ctr">
              <a:spcBef>
                <a:spcPts val="400"/>
              </a:spcBef>
              <a:buNone/>
            </a:pPr>
            <a:endParaRPr lang="en-US" sz="2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pic>
        <p:nvPicPr>
          <p:cNvPr id="65" name="Google Shape;65;p6"/>
          <p:cNvPicPr preferRelativeResize="0"/>
          <p:nvPr/>
        </p:nvPicPr>
        <p:blipFill rotWithShape="1">
          <a:blip r:embed="rId3">
            <a:alphaModFix/>
          </a:blip>
          <a:srcRect b="0" l="0" r="0" t="0"/>
          <a:stretch/>
        </p:blipFill>
        <p:spPr>
          <a:xfrm>
            <a:off x="0" y="666750"/>
            <a:ext cx="9144000" cy="4476900"/>
          </a:xfrm>
          <a:prstGeom prst="rect">
            <a:avLst/>
          </a:prstGeom>
          <a:noFill/>
          <a:ln>
            <a:noFill/>
          </a:ln>
        </p:spPr>
      </p:pic>
      <p:sp>
        <p:nvSpPr>
          <p:cNvPr id="66" name="Google Shape;66;p6"/>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67" name="Google Shape;67;p6"/>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68" name="Google Shape;68;p6"/>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rPr b="1" i="0" lang="en-US" sz="2400" u="none" cap="none" strike="noStrike">
                <a:solidFill>
                  <a:srgbClr val="FFFFFF"/>
                </a:solidFill>
                <a:latin typeface="Calibri"/>
                <a:ea typeface="Calibri"/>
                <a:cs typeface="Calibri"/>
                <a:sym typeface="Calibri"/>
              </a:rPr>
              <a:t>Research Objectives</a:t>
            </a:r>
            <a:endParaRPr b="0" i="0" sz="2400" u="none" cap="none" strike="noStrike">
              <a:solidFill>
                <a:schemeClr val="dk1"/>
              </a:solidFill>
              <a:latin typeface="Calibri"/>
              <a:ea typeface="Calibri"/>
              <a:cs typeface="Calibri"/>
              <a:sym typeface="Calibri"/>
            </a:endParaRPr>
          </a:p>
        </p:txBody>
      </p:sp>
      <p:grpSp>
        <p:nvGrpSpPr>
          <p:cNvPr id="69" name="Google Shape;69;p6"/>
          <p:cNvGrpSpPr/>
          <p:nvPr/>
        </p:nvGrpSpPr>
        <p:grpSpPr>
          <a:xfrm>
            <a:off x="381000" y="1047750"/>
            <a:ext cx="8382000" cy="952500"/>
            <a:chOff x="381000" y="1047750"/>
            <a:chExt cx="8382000" cy="952500"/>
          </a:xfrm>
        </p:grpSpPr>
        <p:sp>
          <p:nvSpPr>
            <p:cNvPr id="70" name="Google Shape;70;p6"/>
            <p:cNvSpPr/>
            <p:nvPr/>
          </p:nvSpPr>
          <p:spPr>
            <a:xfrm>
              <a:off x="381000" y="1047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6"/>
            <p:cNvSpPr/>
            <p:nvPr/>
          </p:nvSpPr>
          <p:spPr>
            <a:xfrm>
              <a:off x="381000" y="1047750"/>
              <a:ext cx="57300" cy="952500"/>
            </a:xfrm>
            <a:prstGeom prst="roundRect">
              <a:avLst>
                <a:gd fmla="val 50000" name="adj"/>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 name="Google Shape;72;p6"/>
            <p:cNvSpPr txBox="1"/>
            <p:nvPr/>
          </p:nvSpPr>
          <p:spPr>
            <a:xfrm>
              <a:off x="619125" y="1047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1A365D"/>
                  </a:solidFill>
                  <a:latin typeface="Calibri"/>
                  <a:ea typeface="Calibri"/>
                  <a:cs typeface="Calibri"/>
                  <a:sym typeface="Calibri"/>
                </a:rPr>
                <a:t>01</a:t>
              </a:r>
              <a:endParaRPr b="1" sz="2800">
                <a:solidFill>
                  <a:srgbClr val="1A365D"/>
                </a:solidFill>
                <a:latin typeface="Calibri"/>
                <a:ea typeface="Calibri"/>
                <a:cs typeface="Calibri"/>
                <a:sym typeface="Calibri"/>
              </a:endParaRPr>
            </a:p>
          </p:txBody>
        </p:sp>
        <p:sp>
          <p:nvSpPr>
            <p:cNvPr id="73" name="Google Shape;73;p6"/>
            <p:cNvSpPr txBox="1"/>
            <p:nvPr/>
          </p:nvSpPr>
          <p:spPr>
            <a:xfrm>
              <a:off x="1381125" y="1047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Analyze Hierarchical Feature Maps and Activation Statistics</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Investigate feature representations and quantify activation sparsity across convolutional layers.</a:t>
              </a:r>
              <a:endParaRPr b="0" sz="1300">
                <a:solidFill>
                  <a:srgbClr val="64748B"/>
                </a:solidFill>
                <a:latin typeface="Calibri"/>
                <a:ea typeface="Calibri"/>
                <a:cs typeface="Calibri"/>
                <a:sym typeface="Calibri"/>
              </a:endParaRPr>
            </a:p>
          </p:txBody>
        </p:sp>
      </p:grpSp>
      <p:grpSp>
        <p:nvGrpSpPr>
          <p:cNvPr id="74" name="Google Shape;74;p6"/>
          <p:cNvGrpSpPr/>
          <p:nvPr/>
        </p:nvGrpSpPr>
        <p:grpSpPr>
          <a:xfrm>
            <a:off x="381000" y="2190750"/>
            <a:ext cx="8382000" cy="952500"/>
            <a:chOff x="381000" y="2190750"/>
            <a:chExt cx="8382000" cy="952500"/>
          </a:xfrm>
        </p:grpSpPr>
        <p:sp>
          <p:nvSpPr>
            <p:cNvPr id="75" name="Google Shape;75;p6"/>
            <p:cNvSpPr/>
            <p:nvPr/>
          </p:nvSpPr>
          <p:spPr>
            <a:xfrm>
              <a:off x="381000" y="2190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 name="Google Shape;76;p6"/>
            <p:cNvSpPr/>
            <p:nvPr/>
          </p:nvSpPr>
          <p:spPr>
            <a:xfrm>
              <a:off x="381000" y="2190750"/>
              <a:ext cx="57300" cy="952500"/>
            </a:xfrm>
            <a:prstGeom prst="roundRect">
              <a:avLst>
                <a:gd fmla="val 50000" name="adj"/>
              </a:avLst>
            </a:prstGeom>
            <a:solidFill>
              <a:srgbClr val="0D6B8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 name="Google Shape;77;p6"/>
            <p:cNvSpPr txBox="1"/>
            <p:nvPr/>
          </p:nvSpPr>
          <p:spPr>
            <a:xfrm>
              <a:off x="619125" y="2190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0D6B8C"/>
                  </a:solidFill>
                  <a:latin typeface="Calibri"/>
                  <a:ea typeface="Calibri"/>
                  <a:cs typeface="Calibri"/>
                  <a:sym typeface="Calibri"/>
                </a:rPr>
                <a:t>02</a:t>
              </a:r>
              <a:endParaRPr b="1" sz="2800">
                <a:solidFill>
                  <a:srgbClr val="0D6B8C"/>
                </a:solidFill>
                <a:latin typeface="Calibri"/>
                <a:ea typeface="Calibri"/>
                <a:cs typeface="Calibri"/>
                <a:sym typeface="Calibri"/>
              </a:endParaRPr>
            </a:p>
          </p:txBody>
        </p:sp>
        <p:sp>
          <p:nvSpPr>
            <p:cNvPr id="78" name="Google Shape;78;p6"/>
            <p:cNvSpPr txBox="1"/>
            <p:nvPr/>
          </p:nvSpPr>
          <p:spPr>
            <a:xfrm>
              <a:off x="1381125" y="2190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Study Cross-Dataset Behavioral Patterns</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Compare internal model responses across multiple datasets to identify consistent learning trends.</a:t>
              </a:r>
              <a:endParaRPr b="0" sz="1300">
                <a:solidFill>
                  <a:srgbClr val="64748B"/>
                </a:solidFill>
                <a:latin typeface="Calibri"/>
                <a:ea typeface="Calibri"/>
                <a:cs typeface="Calibri"/>
                <a:sym typeface="Calibri"/>
              </a:endParaRPr>
            </a:p>
          </p:txBody>
        </p:sp>
      </p:grpSp>
      <p:grpSp>
        <p:nvGrpSpPr>
          <p:cNvPr id="79" name="Google Shape;79;p6"/>
          <p:cNvGrpSpPr/>
          <p:nvPr/>
        </p:nvGrpSpPr>
        <p:grpSpPr>
          <a:xfrm>
            <a:off x="381000" y="3333750"/>
            <a:ext cx="8382000" cy="952500"/>
            <a:chOff x="381000" y="3333750"/>
            <a:chExt cx="8382000" cy="952500"/>
          </a:xfrm>
        </p:grpSpPr>
        <p:sp>
          <p:nvSpPr>
            <p:cNvPr id="80" name="Google Shape;80;p6"/>
            <p:cNvSpPr/>
            <p:nvPr/>
          </p:nvSpPr>
          <p:spPr>
            <a:xfrm>
              <a:off x="381000" y="3333750"/>
              <a:ext cx="8382000" cy="952500"/>
            </a:xfrm>
            <a:prstGeom prst="roundRect">
              <a:avLst>
                <a:gd fmla="val 8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 name="Google Shape;81;p6"/>
            <p:cNvSpPr/>
            <p:nvPr/>
          </p:nvSpPr>
          <p:spPr>
            <a:xfrm>
              <a:off x="381000" y="3333750"/>
              <a:ext cx="57300" cy="952500"/>
            </a:xfrm>
            <a:prstGeom prst="roundRect">
              <a:avLst>
                <a:gd fmla="val 50000" name="adj"/>
              </a:avLst>
            </a:prstGeom>
            <a:solidFill>
              <a:srgbClr val="B5192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 name="Google Shape;82;p6"/>
            <p:cNvSpPr txBox="1"/>
            <p:nvPr/>
          </p:nvSpPr>
          <p:spPr>
            <a:xfrm>
              <a:off x="619125" y="3333750"/>
              <a:ext cx="5715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800">
                  <a:solidFill>
                    <a:srgbClr val="B5192D"/>
                  </a:solidFill>
                  <a:latin typeface="Calibri"/>
                  <a:ea typeface="Calibri"/>
                  <a:cs typeface="Calibri"/>
                  <a:sym typeface="Calibri"/>
                </a:rPr>
                <a:t>03</a:t>
              </a:r>
              <a:endParaRPr b="1" sz="2800">
                <a:solidFill>
                  <a:srgbClr val="B5192D"/>
                </a:solidFill>
                <a:latin typeface="Calibri"/>
                <a:ea typeface="Calibri"/>
                <a:cs typeface="Calibri"/>
                <a:sym typeface="Calibri"/>
              </a:endParaRPr>
            </a:p>
          </p:txBody>
        </p:sp>
        <p:sp>
          <p:nvSpPr>
            <p:cNvPr id="83" name="Google Shape;83;p6"/>
            <p:cNvSpPr txBox="1"/>
            <p:nvPr/>
          </p:nvSpPr>
          <p:spPr>
            <a:xfrm>
              <a:off x="1381125" y="3333750"/>
              <a:ext cx="71913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334155"/>
                  </a:solidFill>
                  <a:latin typeface="Calibri"/>
                  <a:ea typeface="Calibri"/>
                  <a:cs typeface="Calibri"/>
                  <a:sym typeface="Calibri"/>
                </a:rPr>
                <a:t>Link Data Properties to Representation Learning</a:t>
              </a:r>
              <a:endParaRPr b="1" sz="1800">
                <a:solidFill>
                  <a:srgbClr val="334155"/>
                </a:solidFill>
                <a:latin typeface="Calibri"/>
                <a:ea typeface="Calibri"/>
                <a:cs typeface="Calibri"/>
                <a:sym typeface="Calibri"/>
              </a:endParaRPr>
            </a:p>
            <a:p>
              <a:pPr indent="0" lvl="0" marL="0" rtl="0" algn="l">
                <a:spcBef>
                  <a:spcPts val="300"/>
                </a:spcBef>
                <a:spcAft>
                  <a:spcPts val="0"/>
                </a:spcAft>
                <a:buNone/>
              </a:pPr>
              <a:r>
                <a:rPr b="0" lang="en-US" sz="1300">
                  <a:solidFill>
                    <a:srgbClr val="64748B"/>
                  </a:solidFill>
                  <a:latin typeface="Calibri"/>
                  <a:ea typeface="Calibri"/>
                  <a:cs typeface="Calibri"/>
                  <a:sym typeface="Calibri"/>
                </a:rPr>
                <a:t>Establish a mathematical link between input dataset characteristics and resulting feature geometry.</a:t>
              </a:r>
              <a:endParaRPr b="0" sz="1300">
                <a:solidFill>
                  <a:srgbClr val="64748B"/>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8" name="Shape 88"/>
        <p:cNvGrpSpPr/>
        <p:nvPr/>
      </p:nvGrpSpPr>
      <p:grpSpPr>
        <a:xfrm>
          <a:off x="0" y="0"/>
          <a:ext cx="0" cy="0"/>
          <a:chOff x="0" y="0"/>
          <a:chExt cx="0" cy="0"/>
        </a:xfrm>
      </p:grpSpPr>
      <p:sp>
        <p:nvSpPr>
          <p:cNvPr id="89" name="Google Shape;89;p7"/>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90" name="Google Shape;90;p7"/>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91" name="Google Shape;91;p7"/>
          <p:cNvSpPr/>
          <p:nvPr/>
        </p:nvSpPr>
        <p:spPr>
          <a:xfrm>
            <a:off x="666750" y="0"/>
            <a:ext cx="84765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800">
                <a:solidFill>
                  <a:srgbClr val="FFFFFF"/>
                </a:solidFill>
                <a:latin typeface="Calibri"/>
                <a:ea typeface="Calibri"/>
                <a:cs typeface="Calibri"/>
                <a:sym typeface="Calibri"/>
              </a:rPr>
              <a:t>Prevalence of Neural Collapse during the Terminal Phase of Deep Learning Training (2021)</a:t>
            </a:r>
            <a:endParaRPr b="1" sz="1800">
              <a:solidFill>
                <a:srgbClr val="FFFFFF"/>
              </a:solidFill>
              <a:latin typeface="Calibri"/>
              <a:ea typeface="Calibri"/>
              <a:cs typeface="Calibri"/>
              <a:sym typeface="Calibri"/>
            </a:endParaRPr>
          </a:p>
        </p:txBody>
      </p:sp>
      <p:grpSp>
        <p:nvGrpSpPr>
          <p:cNvPr id="92" name="Google Shape;92;p7"/>
          <p:cNvGrpSpPr/>
          <p:nvPr/>
        </p:nvGrpSpPr>
        <p:grpSpPr>
          <a:xfrm>
            <a:off x="285750" y="762000"/>
            <a:ext cx="8572500" cy="381000"/>
            <a:chOff x="285750" y="762000"/>
            <a:chExt cx="8572500" cy="381000"/>
          </a:xfrm>
        </p:grpSpPr>
        <p:sp>
          <p:nvSpPr>
            <p:cNvPr id="93" name="Google Shape;93;p7"/>
            <p:cNvSpPr/>
            <p:nvPr/>
          </p:nvSpPr>
          <p:spPr>
            <a:xfrm>
              <a:off x="285750" y="762000"/>
              <a:ext cx="8572500" cy="381000"/>
            </a:xfrm>
            <a:prstGeom prst="rect">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 name="Google Shape;94;p7"/>
            <p:cNvSpPr txBox="1"/>
            <p:nvPr/>
          </p:nvSpPr>
          <p:spPr>
            <a:xfrm>
              <a:off x="381000" y="762000"/>
              <a:ext cx="1428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95" name="Google Shape;95;p7"/>
            <p:cNvSpPr txBox="1"/>
            <p:nvPr/>
          </p:nvSpPr>
          <p:spPr>
            <a:xfrm>
              <a:off x="1905000" y="762000"/>
              <a:ext cx="68580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000000"/>
                  </a:solidFill>
                  <a:latin typeface="Calibri"/>
                  <a:ea typeface="Calibri"/>
                  <a:cs typeface="Calibri"/>
                  <a:sym typeface="Calibri"/>
                </a:rPr>
                <a:t>Deep learning models in the terminal training phase show an unexpected geometric phenomenon where class representations collapse into tight clusters, but the mathematical conditions are not fully characterized.</a:t>
              </a:r>
              <a:endParaRPr b="0" sz="1000">
                <a:solidFill>
                  <a:srgbClr val="000000"/>
                </a:solidFill>
                <a:latin typeface="Calibri"/>
                <a:ea typeface="Calibri"/>
                <a:cs typeface="Calibri"/>
                <a:sym typeface="Calibri"/>
              </a:endParaRPr>
            </a:p>
          </p:txBody>
        </p:sp>
      </p:grpSp>
      <p:grpSp>
        <p:nvGrpSpPr>
          <p:cNvPr id="96" name="Google Shape;96;p7"/>
          <p:cNvGrpSpPr/>
          <p:nvPr/>
        </p:nvGrpSpPr>
        <p:grpSpPr>
          <a:xfrm>
            <a:off x="285750" y="1285875"/>
            <a:ext cx="2667000" cy="1762275"/>
            <a:chOff x="285750" y="1285875"/>
            <a:chExt cx="2667000" cy="1762275"/>
          </a:xfrm>
        </p:grpSpPr>
        <p:sp>
          <p:nvSpPr>
            <p:cNvPr id="97" name="Google Shape;97;p7"/>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7"/>
            <p:cNvSpPr txBox="1"/>
            <p:nvPr/>
          </p:nvSpPr>
          <p:spPr>
            <a:xfrm>
              <a:off x="28575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99" name="Google Shape;99;p7"/>
            <p:cNvSpPr/>
            <p:nvPr/>
          </p:nvSpPr>
          <p:spPr>
            <a:xfrm>
              <a:off x="285750" y="1619250"/>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7"/>
            <p:cNvSpPr txBox="1"/>
            <p:nvPr/>
          </p:nvSpPr>
          <p:spPr>
            <a:xfrm>
              <a:off x="428625" y="1714500"/>
              <a:ext cx="2381400" cy="1238400"/>
            </a:xfrm>
            <a:prstGeom prst="rect">
              <a:avLst/>
            </a:prstGeom>
            <a:noFill/>
            <a:ln>
              <a:noFill/>
            </a:ln>
          </p:spPr>
          <p:txBody>
            <a:bodyPr anchorCtr="0" anchor="t" bIns="0" lIns="0" spcFirstLastPara="1" rIns="0" wrap="square" tIns="0">
              <a:noAutofit/>
            </a:bodyPr>
            <a:lstStyle/>
            <a:p>
              <a:pPr indent="-292100" lvl="0" marL="457200" rtl="0" algn="l">
                <a:spcBef>
                  <a:spcPts val="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Identify and characterize neural collapse in deep networks</a:t>
              </a:r>
              <a:endParaRPr sz="1000">
                <a:solidFill>
                  <a:srgbClr val="374151"/>
                </a:solidFill>
                <a:latin typeface="Calibri"/>
                <a:ea typeface="Calibri"/>
                <a:cs typeface="Calibri"/>
                <a:sym typeface="Calibri"/>
              </a:endParaRPr>
            </a:p>
            <a:p>
              <a:pPr indent="-292100" lvl="0" marL="457200" rtl="0" algn="l">
                <a:spcBef>
                  <a:spcPts val="6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Analyze geometric structure of final-layer representations</a:t>
              </a:r>
              <a:endParaRPr sz="1000">
                <a:solidFill>
                  <a:srgbClr val="374151"/>
                </a:solidFill>
                <a:latin typeface="Calibri"/>
                <a:ea typeface="Calibri"/>
                <a:cs typeface="Calibri"/>
                <a:sym typeface="Calibri"/>
              </a:endParaRPr>
            </a:p>
            <a:p>
              <a:pPr indent="-292100" lvl="0" marL="457200" rtl="0" algn="l">
                <a:spcBef>
                  <a:spcPts val="6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Understand implications for generalization and feature quality</a:t>
              </a:r>
              <a:endParaRPr sz="1000">
                <a:solidFill>
                  <a:srgbClr val="374151"/>
                </a:solidFill>
                <a:latin typeface="Calibri"/>
                <a:ea typeface="Calibri"/>
                <a:cs typeface="Calibri"/>
                <a:sym typeface="Calibri"/>
              </a:endParaRPr>
            </a:p>
          </p:txBody>
        </p:sp>
      </p:grpSp>
      <p:grpSp>
        <p:nvGrpSpPr>
          <p:cNvPr id="101" name="Google Shape;101;p7"/>
          <p:cNvGrpSpPr/>
          <p:nvPr/>
        </p:nvGrpSpPr>
        <p:grpSpPr>
          <a:xfrm>
            <a:off x="285750" y="3190875"/>
            <a:ext cx="2667000" cy="1714575"/>
            <a:chOff x="285750" y="3190875"/>
            <a:chExt cx="2667000" cy="1714575"/>
          </a:xfrm>
        </p:grpSpPr>
        <p:sp>
          <p:nvSpPr>
            <p:cNvPr id="102" name="Google Shape;102;p7"/>
            <p:cNvSpPr/>
            <p:nvPr/>
          </p:nvSpPr>
          <p:spPr>
            <a:xfrm>
              <a:off x="285750" y="3190875"/>
              <a:ext cx="2667000" cy="285900"/>
            </a:xfrm>
            <a:prstGeom prst="rect">
              <a:avLst/>
            </a:prstGeom>
            <a:solidFill>
              <a:srgbClr val="4B556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7"/>
            <p:cNvSpPr txBox="1"/>
            <p:nvPr/>
          </p:nvSpPr>
          <p:spPr>
            <a:xfrm>
              <a:off x="285750" y="3190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04" name="Google Shape;104;p7"/>
            <p:cNvSpPr/>
            <p:nvPr/>
          </p:nvSpPr>
          <p:spPr>
            <a:xfrm>
              <a:off x="285750" y="3524250"/>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7"/>
            <p:cNvSpPr txBox="1"/>
            <p:nvPr/>
          </p:nvSpPr>
          <p:spPr>
            <a:xfrm>
              <a:off x="428625" y="3619500"/>
              <a:ext cx="2381400" cy="1190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Analyze trained deep neural networks at terminal phase. Measure within-class variability vs between-class separation. Study feature geometry using linear discriminant analysis.</a:t>
              </a:r>
              <a:endParaRPr sz="1000">
                <a:solidFill>
                  <a:srgbClr val="374151"/>
                </a:solidFill>
                <a:latin typeface="Calibri"/>
                <a:ea typeface="Calibri"/>
                <a:cs typeface="Calibri"/>
                <a:sym typeface="Calibri"/>
              </a:endParaRPr>
            </a:p>
          </p:txBody>
        </p:sp>
      </p:grpSp>
      <p:grpSp>
        <p:nvGrpSpPr>
          <p:cNvPr id="106" name="Google Shape;106;p7"/>
          <p:cNvGrpSpPr/>
          <p:nvPr/>
        </p:nvGrpSpPr>
        <p:grpSpPr>
          <a:xfrm>
            <a:off x="3238500" y="1285875"/>
            <a:ext cx="2667000" cy="1762275"/>
            <a:chOff x="3238500" y="1285875"/>
            <a:chExt cx="2667000" cy="1762275"/>
          </a:xfrm>
        </p:grpSpPr>
        <p:sp>
          <p:nvSpPr>
            <p:cNvPr id="107" name="Google Shape;107;p7"/>
            <p:cNvSpPr/>
            <p:nvPr/>
          </p:nvSpPr>
          <p:spPr>
            <a:xfrm>
              <a:off x="3238500" y="1285875"/>
              <a:ext cx="2667000" cy="285900"/>
            </a:xfrm>
            <a:prstGeom prst="rect">
              <a:avLst/>
            </a:prstGeom>
            <a:solidFill>
              <a:srgbClr val="1F29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7"/>
            <p:cNvSpPr txBox="1"/>
            <p:nvPr/>
          </p:nvSpPr>
          <p:spPr>
            <a:xfrm>
              <a:off x="323850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09" name="Google Shape;109;p7"/>
            <p:cNvSpPr/>
            <p:nvPr/>
          </p:nvSpPr>
          <p:spPr>
            <a:xfrm>
              <a:off x="3238500" y="1619250"/>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0" name="Google Shape;110;p7"/>
            <p:cNvSpPr txBox="1"/>
            <p:nvPr/>
          </p:nvSpPr>
          <p:spPr>
            <a:xfrm>
              <a:off x="3381375" y="1714500"/>
              <a:ext cx="2381400" cy="1238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Mathematically characterize neural collapse by analyzing class-mean convergence, weight-feature duality, and equinorm clustering across classification tasks and architectures.</a:t>
              </a:r>
              <a:endParaRPr sz="1000">
                <a:solidFill>
                  <a:srgbClr val="374151"/>
                </a:solidFill>
                <a:latin typeface="Calibri"/>
                <a:ea typeface="Calibri"/>
                <a:cs typeface="Calibri"/>
                <a:sym typeface="Calibri"/>
              </a:endParaRPr>
            </a:p>
          </p:txBody>
        </p:sp>
      </p:grpSp>
      <p:grpSp>
        <p:nvGrpSpPr>
          <p:cNvPr id="111" name="Google Shape;111;p7"/>
          <p:cNvGrpSpPr/>
          <p:nvPr/>
        </p:nvGrpSpPr>
        <p:grpSpPr>
          <a:xfrm>
            <a:off x="3238500" y="3190875"/>
            <a:ext cx="2667000" cy="1714575"/>
            <a:chOff x="3238500" y="3190875"/>
            <a:chExt cx="2667000" cy="1714575"/>
          </a:xfrm>
        </p:grpSpPr>
        <p:sp>
          <p:nvSpPr>
            <p:cNvPr id="112" name="Google Shape;112;p7"/>
            <p:cNvSpPr/>
            <p:nvPr/>
          </p:nvSpPr>
          <p:spPr>
            <a:xfrm>
              <a:off x="3238500" y="3190875"/>
              <a:ext cx="2667000" cy="285900"/>
            </a:xfrm>
            <a:prstGeom prst="rect">
              <a:avLst/>
            </a:prstGeom>
            <a:solidFill>
              <a:srgbClr val="6B72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3" name="Google Shape;113;p7"/>
            <p:cNvSpPr txBox="1"/>
            <p:nvPr/>
          </p:nvSpPr>
          <p:spPr>
            <a:xfrm>
              <a:off x="3238500" y="3190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14" name="Google Shape;114;p7"/>
            <p:cNvSpPr/>
            <p:nvPr/>
          </p:nvSpPr>
          <p:spPr>
            <a:xfrm>
              <a:off x="3238500" y="3524250"/>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7"/>
            <p:cNvSpPr txBox="1"/>
            <p:nvPr/>
          </p:nvSpPr>
          <p:spPr>
            <a:xfrm>
              <a:off x="3381375" y="3619500"/>
              <a:ext cx="2381400" cy="1190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i="1" lang="en-US" sz="925">
                  <a:solidFill>
                    <a:srgbClr val="374151"/>
                  </a:solidFill>
                  <a:latin typeface="Calibri"/>
                  <a:ea typeface="Calibri"/>
                  <a:cs typeface="Calibri"/>
                  <a:sym typeface="Calibri"/>
                </a:rPr>
                <a:t>Neural collapse is a universal phenomenon in overparameterized networks that reveals how deep learning implicitly optimizes feature geometry, with direct implications for interpretability.</a:t>
              </a:r>
              <a:endParaRPr i="1" sz="925">
                <a:solidFill>
                  <a:srgbClr val="374151"/>
                </a:solidFill>
                <a:latin typeface="Calibri"/>
                <a:ea typeface="Calibri"/>
                <a:cs typeface="Calibri"/>
                <a:sym typeface="Calibri"/>
              </a:endParaRPr>
            </a:p>
            <a:p>
              <a:pPr indent="0" lvl="0" marL="0" rtl="0" algn="l">
                <a:spcBef>
                  <a:spcPts val="900"/>
                </a:spcBef>
                <a:spcAft>
                  <a:spcPts val="0"/>
                </a:spcAft>
                <a:buNone/>
              </a:pPr>
              <a:r>
                <a:rPr b="1" i="0" lang="en-US" sz="694">
                  <a:solidFill>
                    <a:srgbClr val="9CA3AF"/>
                  </a:solidFill>
                  <a:latin typeface="Calibri"/>
                  <a:ea typeface="Calibri"/>
                  <a:cs typeface="Calibri"/>
                  <a:sym typeface="Calibri"/>
                </a:rPr>
                <a:t>REFERENCE:</a:t>
              </a:r>
              <a:endParaRPr b="1" i="0" sz="694">
                <a:solidFill>
                  <a:srgbClr val="9CA3AF"/>
                </a:solidFill>
                <a:latin typeface="Calibri"/>
                <a:ea typeface="Calibri"/>
                <a:cs typeface="Calibri"/>
                <a:sym typeface="Calibri"/>
              </a:endParaRPr>
            </a:p>
            <a:p>
              <a:pPr indent="0" lvl="0" marL="0" rtl="0" algn="l">
                <a:spcBef>
                  <a:spcPts val="0"/>
                </a:spcBef>
                <a:spcAft>
                  <a:spcPts val="0"/>
                </a:spcAft>
                <a:buNone/>
              </a:pPr>
              <a:r>
                <a:rPr b="0" i="1" lang="en-US" sz="694">
                  <a:solidFill>
                    <a:srgbClr val="9CA3AF"/>
                  </a:solidFill>
                  <a:latin typeface="Calibri"/>
                  <a:ea typeface="Calibri"/>
                  <a:cs typeface="Calibri"/>
                  <a:sym typeface="Calibri"/>
                </a:rPr>
                <a:t>Papyan et al., Prevalence of Neural Collapse during the Terminal Phase of Deep Learning Training, PNAS, 2020.</a:t>
              </a:r>
              <a:endParaRPr b="0" i="1" sz="694">
                <a:solidFill>
                  <a:srgbClr val="9CA3AF"/>
                </a:solidFill>
                <a:latin typeface="Calibri"/>
                <a:ea typeface="Calibri"/>
                <a:cs typeface="Calibri"/>
                <a:sym typeface="Calibri"/>
              </a:endParaRPr>
            </a:p>
          </p:txBody>
        </p:sp>
      </p:grpSp>
      <p:grpSp>
        <p:nvGrpSpPr>
          <p:cNvPr id="116" name="Google Shape;116;p7"/>
          <p:cNvGrpSpPr/>
          <p:nvPr/>
        </p:nvGrpSpPr>
        <p:grpSpPr>
          <a:xfrm>
            <a:off x="6191250" y="1285875"/>
            <a:ext cx="2667000" cy="3619575"/>
            <a:chOff x="6191250" y="1285875"/>
            <a:chExt cx="2667000" cy="3619575"/>
          </a:xfrm>
        </p:grpSpPr>
        <p:sp>
          <p:nvSpPr>
            <p:cNvPr id="117" name="Google Shape;117;p7"/>
            <p:cNvSpPr/>
            <p:nvPr/>
          </p:nvSpPr>
          <p:spPr>
            <a:xfrm>
              <a:off x="6191250" y="1285875"/>
              <a:ext cx="2667000" cy="285900"/>
            </a:xfrm>
            <a:prstGeom prst="rect">
              <a:avLst/>
            </a:prstGeom>
            <a:solidFill>
              <a:srgbClr val="37415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8" name="Google Shape;118;p7"/>
            <p:cNvSpPr txBox="1"/>
            <p:nvPr/>
          </p:nvSpPr>
          <p:spPr>
            <a:xfrm>
              <a:off x="6191250" y="1285875"/>
              <a:ext cx="2667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19" name="Google Shape;119;p7"/>
            <p:cNvSpPr/>
            <p:nvPr/>
          </p:nvSpPr>
          <p:spPr>
            <a:xfrm>
              <a:off x="6191250" y="1619250"/>
              <a:ext cx="2667000" cy="3286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20" name="Google Shape;120;p7"/>
            <p:cNvGrpSpPr/>
            <p:nvPr/>
          </p:nvGrpSpPr>
          <p:grpSpPr>
            <a:xfrm>
              <a:off x="6343650" y="1714500"/>
              <a:ext cx="2371875" cy="381000"/>
              <a:chOff x="6343650" y="1714500"/>
              <a:chExt cx="2371875" cy="381000"/>
            </a:xfrm>
          </p:grpSpPr>
          <p:sp>
            <p:nvSpPr>
              <p:cNvPr id="121" name="Google Shape;121;p7"/>
              <p:cNvSpPr/>
              <p:nvPr/>
            </p:nvSpPr>
            <p:spPr>
              <a:xfrm>
                <a:off x="6343650" y="18669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2" name="Google Shape;122;p7"/>
              <p:cNvSpPr txBox="1"/>
              <p:nvPr/>
            </p:nvSpPr>
            <p:spPr>
              <a:xfrm>
                <a:off x="6524625" y="17145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Features collapse into tight clusters near terminal training</a:t>
                </a:r>
                <a:endParaRPr sz="950">
                  <a:solidFill>
                    <a:srgbClr val="374151"/>
                  </a:solidFill>
                  <a:latin typeface="Calibri"/>
                  <a:ea typeface="Calibri"/>
                  <a:cs typeface="Calibri"/>
                  <a:sym typeface="Calibri"/>
                </a:endParaRPr>
              </a:p>
            </p:txBody>
          </p:sp>
        </p:grpSp>
        <p:grpSp>
          <p:nvGrpSpPr>
            <p:cNvPr id="123" name="Google Shape;123;p7"/>
            <p:cNvGrpSpPr/>
            <p:nvPr/>
          </p:nvGrpSpPr>
          <p:grpSpPr>
            <a:xfrm>
              <a:off x="6343650" y="2286000"/>
              <a:ext cx="2371875" cy="381000"/>
              <a:chOff x="6343650" y="2286000"/>
              <a:chExt cx="2371875" cy="381000"/>
            </a:xfrm>
          </p:grpSpPr>
          <p:sp>
            <p:nvSpPr>
              <p:cNvPr id="124" name="Google Shape;124;p7"/>
              <p:cNvSpPr/>
              <p:nvPr/>
            </p:nvSpPr>
            <p:spPr>
              <a:xfrm>
                <a:off x="6343650" y="24384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7"/>
              <p:cNvSpPr txBox="1"/>
              <p:nvPr/>
            </p:nvSpPr>
            <p:spPr>
              <a:xfrm>
                <a:off x="6524625" y="22860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Between-class separation becomes maximal relative to within-class spread</a:t>
                </a:r>
                <a:endParaRPr sz="950">
                  <a:solidFill>
                    <a:srgbClr val="374151"/>
                  </a:solidFill>
                  <a:latin typeface="Calibri"/>
                  <a:ea typeface="Calibri"/>
                  <a:cs typeface="Calibri"/>
                  <a:sym typeface="Calibri"/>
                </a:endParaRPr>
              </a:p>
            </p:txBody>
          </p:sp>
        </p:grpSp>
        <p:grpSp>
          <p:nvGrpSpPr>
            <p:cNvPr id="126" name="Google Shape;126;p7"/>
            <p:cNvGrpSpPr/>
            <p:nvPr/>
          </p:nvGrpSpPr>
          <p:grpSpPr>
            <a:xfrm>
              <a:off x="6343650" y="2857500"/>
              <a:ext cx="2371875" cy="381000"/>
              <a:chOff x="6343650" y="2857500"/>
              <a:chExt cx="2371875" cy="381000"/>
            </a:xfrm>
          </p:grpSpPr>
          <p:sp>
            <p:nvSpPr>
              <p:cNvPr id="127" name="Google Shape;127;p7"/>
              <p:cNvSpPr/>
              <p:nvPr/>
            </p:nvSpPr>
            <p:spPr>
              <a:xfrm>
                <a:off x="6343650" y="3009900"/>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7"/>
              <p:cNvSpPr txBox="1"/>
              <p:nvPr/>
            </p:nvSpPr>
            <p:spPr>
              <a:xfrm>
                <a:off x="6524625" y="2857500"/>
                <a:ext cx="21909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Neural collapse predicts strong generalization performance</a:t>
                </a:r>
                <a:endParaRPr sz="950">
                  <a:solidFill>
                    <a:srgbClr val="374151"/>
                  </a:solidFill>
                  <a:latin typeface="Calibri"/>
                  <a:ea typeface="Calibri"/>
                  <a:cs typeface="Calibri"/>
                  <a:sym typeface="Calibri"/>
                </a:endParaRPr>
              </a:p>
            </p:txBody>
          </p:sp>
        </p:grpSp>
        <p:sp>
          <p:nvSpPr>
            <p:cNvPr id="129" name="Google Shape;129;p7"/>
            <p:cNvSpPr/>
            <p:nvPr/>
          </p:nvSpPr>
          <p:spPr>
            <a:xfrm>
              <a:off x="7143750" y="4000500"/>
              <a:ext cx="762000" cy="571500"/>
            </a:xfrm>
            <a:prstGeom prst="roundRect">
              <a:avLst>
                <a:gd fmla="val 6666" name="adj"/>
              </a:avLst>
            </a:prstGeom>
            <a:solidFill>
              <a:srgbClr val="F9FA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0" name="Google Shape;130;p7"/>
            <p:cNvSpPr txBox="1"/>
            <p:nvPr/>
          </p:nvSpPr>
          <p:spPr>
            <a:xfrm>
              <a:off x="7143750" y="4053078"/>
              <a:ext cx="762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600">
                  <a:solidFill>
                    <a:srgbClr val="D1D5DB"/>
                  </a:solidFill>
                  <a:latin typeface="Material Icons"/>
                  <a:ea typeface="Material Icons"/>
                  <a:cs typeface="Material Icons"/>
                  <a:sym typeface="Material Icons"/>
                </a:rPr>
                <a:t/>
              </a:r>
              <a:endParaRPr sz="3600">
                <a:solidFill>
                  <a:srgbClr val="D1D5DB"/>
                </a:solidFill>
                <a:latin typeface="Material Icons"/>
                <a:ea typeface="Material Icons"/>
                <a:cs typeface="Material Icons"/>
                <a:sym typeface="Material Icons"/>
              </a:endParaRPr>
            </a:p>
          </p:txBody>
        </p:sp>
      </p:gr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5" name="Shape 135"/>
        <p:cNvGrpSpPr/>
        <p:nvPr/>
      </p:nvGrpSpPr>
      <p:grpSpPr>
        <a:xfrm>
          <a:off x="0" y="0"/>
          <a:ext cx="0" cy="0"/>
          <a:chOff x="0" y="0"/>
          <a:chExt cx="0" cy="0"/>
        </a:xfrm>
      </p:grpSpPr>
      <p:sp>
        <p:nvSpPr>
          <p:cNvPr id="136" name="Google Shape;136;p8"/>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37" name="Google Shape;137;p8"/>
          <p:cNvPicPr preferRelativeResize="0"/>
          <p:nvPr/>
        </p:nvPicPr>
        <p:blipFill rotWithShape="1">
          <a:blip r:embed="rId4">
            <a:alphaModFix/>
          </a:blip>
          <a:srcRect b="0" l="11271" r="11263" t="0"/>
          <a:stretch/>
        </p:blipFill>
        <p:spPr>
          <a:xfrm>
            <a:off x="142875" y="95250"/>
            <a:ext cx="476400" cy="476400"/>
          </a:xfrm>
          <a:prstGeom prst="rect">
            <a:avLst/>
          </a:prstGeom>
          <a:noFill/>
          <a:ln>
            <a:noFill/>
          </a:ln>
        </p:spPr>
      </p:pic>
      <p:sp>
        <p:nvSpPr>
          <p:cNvPr id="138" name="Google Shape;138;p8"/>
          <p:cNvSpPr/>
          <p:nvPr/>
        </p:nvSpPr>
        <p:spPr>
          <a:xfrm>
            <a:off x="666750" y="0"/>
            <a:ext cx="83820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FFFFFF"/>
                </a:solidFill>
                <a:latin typeface="Calibri"/>
                <a:ea typeface="Calibri"/>
                <a:cs typeface="Calibri"/>
                <a:sym typeface="Calibri"/>
              </a:rPr>
              <a:t xml:space="preserve">Visualizing and Understanding Convolutional Networks </a:t>
            </a:r>
            <a:r>
              <a:rPr b="0" lang="en-US" sz="1400">
                <a:solidFill>
                  <a:srgbClr val="CCCCCC"/>
                </a:solidFill>
                <a:latin typeface="Calibri"/>
                <a:ea typeface="Calibri"/>
                <a:cs typeface="Calibri"/>
                <a:sym typeface="Calibri"/>
              </a:rPr>
              <a:t>(Zeiler &amp; Fergus, 2014)</a:t>
            </a:r>
            <a:endParaRPr b="1" sz="2000">
              <a:solidFill>
                <a:srgbClr val="FFFFFF"/>
              </a:solidFill>
              <a:latin typeface="Calibri"/>
              <a:ea typeface="Calibri"/>
              <a:cs typeface="Calibri"/>
              <a:sym typeface="Calibri"/>
            </a:endParaRPr>
          </a:p>
        </p:txBody>
      </p:sp>
      <p:sp>
        <p:nvSpPr>
          <p:cNvPr id="139" name="Google Shape;139;p8"/>
          <p:cNvSpPr/>
          <p:nvPr/>
        </p:nvSpPr>
        <p:spPr>
          <a:xfrm>
            <a:off x="0" y="666750"/>
            <a:ext cx="9144000" cy="476400"/>
          </a:xfrm>
          <a:prstGeom prst="rect">
            <a:avLst/>
          </a:prstGeom>
          <a:solidFill>
            <a:srgbClr val="F2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0" name="Google Shape;140;p8"/>
          <p:cNvSpPr/>
          <p:nvPr/>
        </p:nvSpPr>
        <p:spPr>
          <a:xfrm>
            <a:off x="285750" y="1285875"/>
            <a:ext cx="2762400" cy="285900"/>
          </a:xfrm>
          <a:prstGeom prst="roundRect">
            <a:avLst>
              <a:gd fmla="val 13333" name="adj"/>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8"/>
          <p:cNvSpPr txBox="1"/>
          <p:nvPr/>
        </p:nvSpPr>
        <p:spPr>
          <a:xfrm>
            <a:off x="285750"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142" name="Google Shape;142;p8"/>
          <p:cNvSpPr/>
          <p:nvPr/>
        </p:nvSpPr>
        <p:spPr>
          <a:xfrm>
            <a:off x="285750" y="1571625"/>
            <a:ext cx="2762400" cy="1428900"/>
          </a:xfrm>
          <a:prstGeom prst="roundRect">
            <a:avLst>
              <a:gd fmla="val 2666"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8"/>
          <p:cNvSpPr txBox="1"/>
          <p:nvPr/>
        </p:nvSpPr>
        <p:spPr>
          <a:xfrm>
            <a:off x="428625" y="1666875"/>
            <a:ext cx="2476500" cy="12384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rtl="0" algn="l">
              <a:spcBef>
                <a:spcPts val="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Develop techniques to visualize feature detectors at each CNN layer</a:t>
            </a:r>
            <a:endParaRPr b="0" sz="1000">
              <a:solidFill>
                <a:srgbClr val="333333"/>
              </a:solidFill>
              <a:latin typeface="Calibri"/>
              <a:ea typeface="Calibri"/>
              <a:cs typeface="Calibri"/>
              <a:sym typeface="Calibri"/>
            </a:endParaRPr>
          </a:p>
          <a:p>
            <a:pPr indent="-292100" lvl="0" marL="457200" rtl="0" algn="l">
              <a:spcBef>
                <a:spcPts val="80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Understand how input stimuli activate convolutional filters</a:t>
            </a:r>
            <a:endParaRPr b="0" sz="1000">
              <a:solidFill>
                <a:srgbClr val="333333"/>
              </a:solidFill>
              <a:latin typeface="Calibri"/>
              <a:ea typeface="Calibri"/>
              <a:cs typeface="Calibri"/>
              <a:sym typeface="Calibri"/>
            </a:endParaRPr>
          </a:p>
          <a:p>
            <a:pPr indent="-292100" lvl="0" marL="457200" rtl="0" algn="l">
              <a:spcBef>
                <a:spcPts val="800"/>
              </a:spcBef>
              <a:spcAft>
                <a:spcPts val="0"/>
              </a:spcAft>
              <a:buClr>
                <a:srgbClr val="333333"/>
              </a:buClr>
              <a:buSzPts val="1000"/>
              <a:buFont typeface="Calibri"/>
              <a:buChar char="●"/>
            </a:pPr>
            <a:r>
              <a:rPr b="0" lang="en-US" sz="1000">
                <a:solidFill>
                  <a:srgbClr val="333333"/>
                </a:solidFill>
                <a:latin typeface="Calibri"/>
                <a:ea typeface="Calibri"/>
                <a:cs typeface="Calibri"/>
                <a:sym typeface="Calibri"/>
              </a:rPr>
              <a:t>Use insights to improve CNN architecture design</a:t>
            </a:r>
            <a:endParaRPr b="0" sz="1000">
              <a:solidFill>
                <a:srgbClr val="333333"/>
              </a:solidFill>
              <a:latin typeface="Calibri"/>
              <a:ea typeface="Calibri"/>
              <a:cs typeface="Calibri"/>
              <a:sym typeface="Calibri"/>
            </a:endParaRPr>
          </a:p>
        </p:txBody>
      </p:sp>
      <p:sp>
        <p:nvSpPr>
          <p:cNvPr id="144" name="Google Shape;144;p8"/>
          <p:cNvSpPr/>
          <p:nvPr/>
        </p:nvSpPr>
        <p:spPr>
          <a:xfrm>
            <a:off x="285750" y="3143250"/>
            <a:ext cx="2762400" cy="285900"/>
          </a:xfrm>
          <a:prstGeom prst="roundRect">
            <a:avLst>
              <a:gd fmla="val 13333" name="adj"/>
            </a:avLst>
          </a:prstGeom>
          <a:solidFill>
            <a:srgbClr val="33333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8"/>
          <p:cNvSpPr txBox="1"/>
          <p:nvPr/>
        </p:nvSpPr>
        <p:spPr>
          <a:xfrm>
            <a:off x="285750" y="3143250"/>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46" name="Google Shape;146;p8"/>
          <p:cNvSpPr/>
          <p:nvPr/>
        </p:nvSpPr>
        <p:spPr>
          <a:xfrm>
            <a:off x="285750" y="3476625"/>
            <a:ext cx="2762400" cy="1381200"/>
          </a:xfrm>
          <a:prstGeom prst="roundRect">
            <a:avLst>
              <a:gd fmla="val 2758"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7" name="Google Shape;147;p8"/>
          <p:cNvSpPr txBox="1"/>
          <p:nvPr/>
        </p:nvSpPr>
        <p:spPr>
          <a:xfrm>
            <a:off x="428625" y="3571875"/>
            <a:ext cx="24765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Use deconvolutional networks to project feature activations back to input pixel space. Analyze which image regions maximally activate each filter. Compare learned features across depths.</a:t>
            </a:r>
            <a:endParaRPr b="0" sz="1000">
              <a:solidFill>
                <a:srgbClr val="333333"/>
              </a:solidFill>
              <a:latin typeface="Calibri"/>
              <a:ea typeface="Calibri"/>
              <a:cs typeface="Calibri"/>
              <a:sym typeface="Calibri"/>
            </a:endParaRPr>
          </a:p>
        </p:txBody>
      </p:sp>
      <p:sp>
        <p:nvSpPr>
          <p:cNvPr id="148" name="Google Shape;148;p8"/>
          <p:cNvSpPr/>
          <p:nvPr/>
        </p:nvSpPr>
        <p:spPr>
          <a:xfrm>
            <a:off x="3190875" y="1285875"/>
            <a:ext cx="2762400" cy="285900"/>
          </a:xfrm>
          <a:prstGeom prst="roundRect">
            <a:avLst>
              <a:gd fmla="val 13333" name="adj"/>
            </a:avLst>
          </a:prstGeom>
          <a:solidFill>
            <a:srgbClr val="4D4D4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8"/>
          <p:cNvSpPr txBox="1"/>
          <p:nvPr/>
        </p:nvSpPr>
        <p:spPr>
          <a:xfrm>
            <a:off x="3190875"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50" name="Google Shape;150;p8"/>
          <p:cNvSpPr/>
          <p:nvPr/>
        </p:nvSpPr>
        <p:spPr>
          <a:xfrm>
            <a:off x="3190875" y="1571625"/>
            <a:ext cx="2762400" cy="1428900"/>
          </a:xfrm>
          <a:prstGeom prst="roundRect">
            <a:avLst>
              <a:gd fmla="val 2666"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8"/>
          <p:cNvSpPr txBox="1"/>
          <p:nvPr/>
        </p:nvSpPr>
        <p:spPr>
          <a:xfrm>
            <a:off x="3333750" y="1666875"/>
            <a:ext cx="24765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Introduce deconvnet-based visualization to map activations back to input space, revealing hierarchical feature learning from edges in early layers to semantic concepts in deep layers.</a:t>
            </a:r>
            <a:endParaRPr b="0" sz="1000">
              <a:solidFill>
                <a:srgbClr val="333333"/>
              </a:solidFill>
              <a:latin typeface="Calibri"/>
              <a:ea typeface="Calibri"/>
              <a:cs typeface="Calibri"/>
              <a:sym typeface="Calibri"/>
            </a:endParaRPr>
          </a:p>
        </p:txBody>
      </p:sp>
      <p:sp>
        <p:nvSpPr>
          <p:cNvPr id="152" name="Google Shape;152;p8"/>
          <p:cNvSpPr/>
          <p:nvPr/>
        </p:nvSpPr>
        <p:spPr>
          <a:xfrm>
            <a:off x="3190875" y="3143250"/>
            <a:ext cx="2762400" cy="285900"/>
          </a:xfrm>
          <a:prstGeom prst="roundRect">
            <a:avLst>
              <a:gd fmla="val 13333" name="adj"/>
            </a:avLst>
          </a:prstGeom>
          <a:solidFill>
            <a:srgbClr val="66666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3" name="Google Shape;153;p8"/>
          <p:cNvSpPr txBox="1"/>
          <p:nvPr/>
        </p:nvSpPr>
        <p:spPr>
          <a:xfrm>
            <a:off x="3190875" y="3143250"/>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54" name="Google Shape;154;p8"/>
          <p:cNvSpPr/>
          <p:nvPr/>
        </p:nvSpPr>
        <p:spPr>
          <a:xfrm>
            <a:off x="3190875" y="3476625"/>
            <a:ext cx="2762400" cy="1381200"/>
          </a:xfrm>
          <a:prstGeom prst="roundRect">
            <a:avLst>
              <a:gd fmla="val 2758"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8"/>
          <p:cNvSpPr txBox="1"/>
          <p:nvPr/>
        </p:nvSpPr>
        <p:spPr>
          <a:xfrm>
            <a:off x="3333750" y="3571875"/>
            <a:ext cx="24765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0" i="1" lang="en-US" sz="950">
                <a:solidFill>
                  <a:srgbClr val="333333"/>
                </a:solidFill>
                <a:latin typeface="Calibri"/>
                <a:ea typeface="Calibri"/>
                <a:cs typeface="Calibri"/>
                <a:sym typeface="Calibri"/>
              </a:rPr>
              <a:t>Layer-wise visualization confirms CNNs learn hierarchical representations, motivating analysis of feature evolution as a path to interpretable architectures.</a:t>
            </a:r>
            <a:endParaRPr b="0" i="1" sz="950">
              <a:solidFill>
                <a:srgbClr val="333333"/>
              </a:solidFill>
              <a:latin typeface="Calibri"/>
              <a:ea typeface="Calibri"/>
              <a:cs typeface="Calibri"/>
              <a:sym typeface="Calibri"/>
            </a:endParaRPr>
          </a:p>
          <a:p>
            <a:pPr indent="0" lvl="0" marL="0" rtl="0" algn="l">
              <a:spcBef>
                <a:spcPts val="800"/>
              </a:spcBef>
              <a:spcAft>
                <a:spcPts val="0"/>
              </a:spcAft>
              <a:buNone/>
            </a:pPr>
            <a:r>
              <a:rPr b="1" i="0" lang="en-US" sz="800">
                <a:solidFill>
                  <a:srgbClr val="999999"/>
                </a:solidFill>
                <a:latin typeface="Calibri"/>
                <a:ea typeface="Calibri"/>
                <a:cs typeface="Calibri"/>
                <a:sym typeface="Calibri"/>
              </a:rPr>
              <a:t>REFERENCE:</a:t>
            </a:r>
            <a:endParaRPr b="1" i="0" sz="800">
              <a:solidFill>
                <a:srgbClr val="999999"/>
              </a:solidFill>
              <a:latin typeface="Calibri"/>
              <a:ea typeface="Calibri"/>
              <a:cs typeface="Calibri"/>
              <a:sym typeface="Calibri"/>
            </a:endParaRPr>
          </a:p>
          <a:p>
            <a:pPr indent="0" lvl="0" marL="0" rtl="0" algn="l">
              <a:spcBef>
                <a:spcPts val="0"/>
              </a:spcBef>
              <a:spcAft>
                <a:spcPts val="0"/>
              </a:spcAft>
              <a:buNone/>
            </a:pPr>
            <a:r>
              <a:rPr b="0" i="1" lang="en-US" sz="800">
                <a:solidFill>
                  <a:srgbClr val="999999"/>
                </a:solidFill>
                <a:latin typeface="Calibri"/>
                <a:ea typeface="Calibri"/>
                <a:cs typeface="Calibri"/>
                <a:sym typeface="Calibri"/>
              </a:rPr>
              <a:t>Zeiler &amp; Fergus, Visualizing and Understanding Convolutional Networks, ECCV, 2014.</a:t>
            </a:r>
            <a:endParaRPr b="0" i="1" sz="800">
              <a:solidFill>
                <a:srgbClr val="999999"/>
              </a:solidFill>
              <a:latin typeface="Calibri"/>
              <a:ea typeface="Calibri"/>
              <a:cs typeface="Calibri"/>
              <a:sym typeface="Calibri"/>
            </a:endParaRPr>
          </a:p>
        </p:txBody>
      </p:sp>
      <p:sp>
        <p:nvSpPr>
          <p:cNvPr id="156" name="Google Shape;156;p8"/>
          <p:cNvSpPr/>
          <p:nvPr/>
        </p:nvSpPr>
        <p:spPr>
          <a:xfrm>
            <a:off x="6096000" y="1285875"/>
            <a:ext cx="2762400" cy="285900"/>
          </a:xfrm>
          <a:prstGeom prst="roundRect">
            <a:avLst>
              <a:gd fmla="val 13333" name="adj"/>
            </a:avLst>
          </a:prstGeom>
          <a:solidFill>
            <a:srgbClr val="8080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7" name="Google Shape;157;p8"/>
          <p:cNvSpPr txBox="1"/>
          <p:nvPr/>
        </p:nvSpPr>
        <p:spPr>
          <a:xfrm>
            <a:off x="6096000" y="1285875"/>
            <a:ext cx="27624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58" name="Google Shape;158;p8"/>
          <p:cNvSpPr/>
          <p:nvPr/>
        </p:nvSpPr>
        <p:spPr>
          <a:xfrm>
            <a:off x="6096000" y="1571625"/>
            <a:ext cx="2762400" cy="3286200"/>
          </a:xfrm>
          <a:prstGeom prst="roundRect">
            <a:avLst>
              <a:gd fmla="val 1379" name="adj"/>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9" name="Google Shape;159;p8"/>
          <p:cNvSpPr/>
          <p:nvPr/>
        </p:nvSpPr>
        <p:spPr>
          <a:xfrm>
            <a:off x="6296025"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8"/>
          <p:cNvSpPr txBox="1"/>
          <p:nvPr/>
        </p:nvSpPr>
        <p:spPr>
          <a:xfrm>
            <a:off x="6477000" y="171450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Early layers detect edges and color blobs; deeper layers learn textures and semantic parts</a:t>
            </a:r>
            <a:endParaRPr b="0" sz="950">
              <a:solidFill>
                <a:srgbClr val="333333"/>
              </a:solidFill>
              <a:latin typeface="Calibri"/>
              <a:ea typeface="Calibri"/>
              <a:cs typeface="Calibri"/>
              <a:sym typeface="Calibri"/>
            </a:endParaRPr>
          </a:p>
        </p:txBody>
      </p:sp>
      <p:sp>
        <p:nvSpPr>
          <p:cNvPr id="161" name="Google Shape;161;p8"/>
          <p:cNvSpPr/>
          <p:nvPr/>
        </p:nvSpPr>
        <p:spPr>
          <a:xfrm>
            <a:off x="6296025"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2" name="Google Shape;162;p8"/>
          <p:cNvSpPr txBox="1"/>
          <p:nvPr/>
        </p:nvSpPr>
        <p:spPr>
          <a:xfrm>
            <a:off x="6477000" y="238125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Layer-wise feature specificity increases with depth</a:t>
            </a:r>
            <a:endParaRPr b="0" sz="950">
              <a:solidFill>
                <a:srgbClr val="333333"/>
              </a:solidFill>
              <a:latin typeface="Calibri"/>
              <a:ea typeface="Calibri"/>
              <a:cs typeface="Calibri"/>
              <a:sym typeface="Calibri"/>
            </a:endParaRPr>
          </a:p>
        </p:txBody>
      </p:sp>
      <p:sp>
        <p:nvSpPr>
          <p:cNvPr id="163" name="Google Shape;163;p8"/>
          <p:cNvSpPr/>
          <p:nvPr/>
        </p:nvSpPr>
        <p:spPr>
          <a:xfrm>
            <a:off x="6296025"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4" name="Google Shape;164;p8"/>
          <p:cNvSpPr txBox="1"/>
          <p:nvPr/>
        </p:nvSpPr>
        <p:spPr>
          <a:xfrm>
            <a:off x="6477000" y="3048000"/>
            <a:ext cx="22383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Calibri"/>
                <a:ea typeface="Calibri"/>
                <a:cs typeface="Calibri"/>
                <a:sym typeface="Calibri"/>
              </a:rPr>
              <a:t>Visualization guided removal of redundant filters, improving AlexNet accuracy</a:t>
            </a:r>
            <a:endParaRPr b="0" sz="950">
              <a:solidFill>
                <a:srgbClr val="333333"/>
              </a:solidFill>
              <a:latin typeface="Calibri"/>
              <a:ea typeface="Calibri"/>
              <a:cs typeface="Calibri"/>
              <a:sym typeface="Calibri"/>
            </a:endParaRPr>
          </a:p>
        </p:txBody>
      </p:sp>
      <p:sp>
        <p:nvSpPr>
          <p:cNvPr id="165" name="Google Shape;165;p8"/>
          <p:cNvSpPr/>
          <p:nvPr/>
        </p:nvSpPr>
        <p:spPr>
          <a:xfrm>
            <a:off x="0" y="0"/>
            <a:ext cx="952500" cy="762000"/>
          </a:xfrm>
          <a:prstGeom prst="roundRect">
            <a:avLst>
              <a:gd fmla="val 10000" name="adj"/>
            </a:avLst>
          </a:prstGeom>
          <a:solidFill>
            <a:srgbClr val="F9F9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6" name="Google Shape;166;p8"/>
          <p:cNvSpPr txBox="1"/>
          <p:nvPr/>
        </p:nvSpPr>
        <p:spPr>
          <a:xfrm>
            <a:off x="7000875" y="3963670"/>
            <a:ext cx="952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0" lang="en-US" sz="4000">
                <a:solidFill>
                  <a:srgbClr val="B3B3B3"/>
                </a:solidFill>
                <a:latin typeface="Material Icons"/>
                <a:ea typeface="Material Icons"/>
                <a:cs typeface="Material Icons"/>
                <a:sym typeface="Material Icons"/>
              </a:rPr>
              <a:t/>
            </a:r>
            <a:endParaRPr b="0" sz="4000">
              <a:solidFill>
                <a:srgbClr val="B3B3B3"/>
              </a:solidFill>
              <a:latin typeface="Material Icons"/>
              <a:ea typeface="Material Icons"/>
              <a:cs typeface="Material Icons"/>
              <a:sym typeface="Material Icons"/>
            </a:endParaRPr>
          </a:p>
        </p:txBody>
      </p:sp>
      <p:sp>
        <p:nvSpPr>
          <p:cNvPr id="167" name="Google Shape;167;p8"/>
          <p:cNvSpPr txBox="1"/>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168" name="Google Shape;168;p8"/>
          <p:cNvSpPr txBox="1"/>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Calibri"/>
                <a:ea typeface="Calibri"/>
                <a:cs typeface="Calibri"/>
                <a:sym typeface="Calibri"/>
              </a:rPr>
              <a:t>The internal representations learned by CNNs across layers are opaque, making it difficult to understand what features are detected at each depth, limiting model debugging and design.</a:t>
            </a:r>
            <a:endParaRPr b="0" sz="1000">
              <a:solidFill>
                <a:srgbClr val="333333"/>
              </a:solidFill>
              <a:latin typeface="Calibri"/>
              <a:ea typeface="Calibri"/>
              <a:cs typeface="Calibri"/>
              <a:sym typeface="Calibri"/>
            </a:endParaRPr>
          </a:p>
        </p:txBody>
      </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3" name="Shape 173"/>
        <p:cNvGrpSpPr/>
        <p:nvPr/>
      </p:nvGrpSpPr>
      <p:grpSpPr>
        <a:xfrm>
          <a:off x="0" y="0"/>
          <a:ext cx="0" cy="0"/>
          <a:chOff x="0" y="0"/>
          <a:chExt cx="0" cy="0"/>
        </a:xfrm>
      </p:grpSpPr>
      <p:sp>
        <p:nvSpPr>
          <p:cNvPr id="174" name="Google Shape;174;p9"/>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175" name="Google Shape;175;p9"/>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176" name="Google Shape;176;p9"/>
          <p:cNvSpPr/>
          <p:nvPr/>
        </p:nvSpPr>
        <p:spPr>
          <a:xfrm>
            <a:off x="667512" y="0"/>
            <a:ext cx="8476500" cy="667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200">
                <a:solidFill>
                  <a:srgbClr val="FFFFFF"/>
                </a:solidFill>
                <a:latin typeface="Calibri"/>
                <a:ea typeface="Calibri"/>
                <a:cs typeface="Calibri"/>
                <a:sym typeface="Calibri"/>
              </a:rPr>
              <a:t xml:space="preserve">Do ImageNet Classifiers Generalize to ImageNet? </a:t>
            </a:r>
            <a:r>
              <a:rPr b="0" lang="en-US" sz="1400">
                <a:solidFill>
                  <a:srgbClr val="E5E7EB"/>
                </a:solidFill>
                <a:latin typeface="Calibri"/>
                <a:ea typeface="Calibri"/>
                <a:cs typeface="Calibri"/>
                <a:sym typeface="Calibri"/>
              </a:rPr>
              <a:t>(Recht et al., 2019)</a:t>
            </a:r>
            <a:endParaRPr b="1" sz="2200">
              <a:solidFill>
                <a:srgbClr val="FFFFFF"/>
              </a:solidFill>
              <a:latin typeface="Calibri"/>
              <a:ea typeface="Calibri"/>
              <a:cs typeface="Calibri"/>
              <a:sym typeface="Calibri"/>
            </a:endParaRPr>
          </a:p>
        </p:txBody>
      </p:sp>
      <p:sp>
        <p:nvSpPr>
          <p:cNvPr id="177" name="Google Shape;177;p9"/>
          <p:cNvSpPr/>
          <p:nvPr/>
        </p:nvSpPr>
        <p:spPr>
          <a:xfrm>
            <a:off x="0" y="666750"/>
            <a:ext cx="9144000" cy="476400"/>
          </a:xfrm>
          <a:prstGeom prst="rect">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9"/>
          <p:cNvSpPr/>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Calibri"/>
                <a:ea typeface="Calibri"/>
                <a:cs typeface="Calibri"/>
                <a:sym typeface="Calibri"/>
              </a:rPr>
              <a:t>PROBLEM STATEMENT</a:t>
            </a:r>
            <a:endParaRPr b="1" sz="1000">
              <a:solidFill>
                <a:srgbClr val="000000"/>
              </a:solidFill>
              <a:latin typeface="Calibri"/>
              <a:ea typeface="Calibri"/>
              <a:cs typeface="Calibri"/>
              <a:sym typeface="Calibri"/>
            </a:endParaRPr>
          </a:p>
        </p:txBody>
      </p:sp>
      <p:sp>
        <p:nvSpPr>
          <p:cNvPr id="179" name="Google Shape;179;p9"/>
          <p:cNvSpPr/>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1F2937"/>
                </a:solidFill>
                <a:latin typeface="Calibri"/>
                <a:ea typeface="Calibri"/>
                <a:cs typeface="Calibri"/>
                <a:sym typeface="Calibri"/>
              </a:rPr>
              <a:t>It is unclear how dataset properties (distribution, complexity, noise) affect the representations learned by CNNs across layers, limiting understanding of dataset-model interaction and generalization.</a:t>
            </a:r>
            <a:endParaRPr b="0" sz="1000">
              <a:solidFill>
                <a:srgbClr val="1F2937"/>
              </a:solidFill>
              <a:latin typeface="Calibri"/>
              <a:ea typeface="Calibri"/>
              <a:cs typeface="Calibri"/>
              <a:sym typeface="Calibri"/>
            </a:endParaRPr>
          </a:p>
        </p:txBody>
      </p:sp>
      <p:sp>
        <p:nvSpPr>
          <p:cNvPr id="180" name="Google Shape;180;p9"/>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1" name="Google Shape;181;p9"/>
          <p:cNvSpPr/>
          <p:nvPr/>
        </p:nvSpPr>
        <p:spPr>
          <a:xfrm>
            <a:off x="2857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OBJECTIVES</a:t>
            </a:r>
            <a:endParaRPr b="1" sz="1100">
              <a:solidFill>
                <a:srgbClr val="FFFFFF"/>
              </a:solidFill>
              <a:latin typeface="Calibri"/>
              <a:ea typeface="Calibri"/>
              <a:cs typeface="Calibri"/>
              <a:sym typeface="Calibri"/>
            </a:endParaRPr>
          </a:p>
        </p:txBody>
      </p:sp>
      <p:sp>
        <p:nvSpPr>
          <p:cNvPr id="182" name="Google Shape;182;p9"/>
          <p:cNvSpPr/>
          <p:nvPr/>
        </p:nvSpPr>
        <p:spPr>
          <a:xfrm>
            <a:off x="285750" y="1571625"/>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9"/>
          <p:cNvSpPr/>
          <p:nvPr/>
        </p:nvSpPr>
        <p:spPr>
          <a:xfrm>
            <a:off x="428625" y="1666875"/>
            <a:ext cx="2381400" cy="1238400"/>
          </a:xfrm>
          <a:prstGeom prst="rect">
            <a:avLst/>
          </a:prstGeom>
          <a:solidFill>
            <a:srgbClr val="000000">
              <a:alpha val="0"/>
            </a:srgbClr>
          </a:solidFill>
          <a:ln>
            <a:noFill/>
          </a:ln>
        </p:spPr>
        <p:txBody>
          <a:bodyPr anchorCtr="0" anchor="t" bIns="0" lIns="95250" spcFirstLastPara="1" rIns="0" wrap="square" tIns="0">
            <a:noAutofit/>
          </a:bodyPr>
          <a:lstStyle/>
          <a:p>
            <a:pPr indent="-292100" lvl="0" marL="457200" rtl="0" algn="l">
              <a:spcBef>
                <a:spcPts val="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Study how dataset distribution shifts affect CNN feature learning</a:t>
            </a:r>
            <a:endParaRPr sz="1000">
              <a:solidFill>
                <a:srgbClr val="374151"/>
              </a:solidFill>
              <a:latin typeface="Calibri"/>
              <a:ea typeface="Calibri"/>
              <a:cs typeface="Calibri"/>
              <a:sym typeface="Calibri"/>
            </a:endParaRPr>
          </a:p>
          <a:p>
            <a:pPr indent="-292100" lvl="0" marL="457200" rtl="0" algn="l">
              <a:spcBef>
                <a:spcPts val="8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Evaluate whether accuracy reflects quality of learned representations</a:t>
            </a:r>
            <a:endParaRPr sz="1000">
              <a:solidFill>
                <a:srgbClr val="374151"/>
              </a:solidFill>
              <a:latin typeface="Calibri"/>
              <a:ea typeface="Calibri"/>
              <a:cs typeface="Calibri"/>
              <a:sym typeface="Calibri"/>
            </a:endParaRPr>
          </a:p>
          <a:p>
            <a:pPr indent="-292100" lvl="0" marL="457200" rtl="0" algn="l">
              <a:spcBef>
                <a:spcPts val="800"/>
              </a:spcBef>
              <a:spcAft>
                <a:spcPts val="0"/>
              </a:spcAft>
              <a:buClr>
                <a:srgbClr val="374151"/>
              </a:buClr>
              <a:buSzPts val="1000"/>
              <a:buFont typeface="Calibri"/>
              <a:buChar char="●"/>
            </a:pPr>
            <a:r>
              <a:rPr lang="en-US" sz="1000">
                <a:solidFill>
                  <a:srgbClr val="374151"/>
                </a:solidFill>
                <a:latin typeface="Calibri"/>
                <a:ea typeface="Calibri"/>
                <a:cs typeface="Calibri"/>
                <a:sym typeface="Calibri"/>
              </a:rPr>
              <a:t>Understand impact of dataset complexity on generalization</a:t>
            </a:r>
            <a:endParaRPr sz="1000">
              <a:solidFill>
                <a:srgbClr val="374151"/>
              </a:solidFill>
              <a:latin typeface="Calibri"/>
              <a:ea typeface="Calibri"/>
              <a:cs typeface="Calibri"/>
              <a:sym typeface="Calibri"/>
            </a:endParaRPr>
          </a:p>
        </p:txBody>
      </p:sp>
      <p:sp>
        <p:nvSpPr>
          <p:cNvPr id="184" name="Google Shape;184;p9"/>
          <p:cNvSpPr/>
          <p:nvPr/>
        </p:nvSpPr>
        <p:spPr>
          <a:xfrm>
            <a:off x="285750" y="3190875"/>
            <a:ext cx="2667000" cy="285900"/>
          </a:xfrm>
          <a:prstGeom prst="rect">
            <a:avLst/>
          </a:prstGeom>
          <a:solidFill>
            <a:srgbClr val="4B556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9"/>
          <p:cNvSpPr/>
          <p:nvPr/>
        </p:nvSpPr>
        <p:spPr>
          <a:xfrm>
            <a:off x="285750" y="3190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METHODOLOGY</a:t>
            </a:r>
            <a:endParaRPr b="1" sz="1100">
              <a:solidFill>
                <a:srgbClr val="FFFFFF"/>
              </a:solidFill>
              <a:latin typeface="Calibri"/>
              <a:ea typeface="Calibri"/>
              <a:cs typeface="Calibri"/>
              <a:sym typeface="Calibri"/>
            </a:endParaRPr>
          </a:p>
        </p:txBody>
      </p:sp>
      <p:sp>
        <p:nvSpPr>
          <p:cNvPr id="186" name="Google Shape;186;p9"/>
          <p:cNvSpPr/>
          <p:nvPr/>
        </p:nvSpPr>
        <p:spPr>
          <a:xfrm>
            <a:off x="285750" y="3476625"/>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9"/>
          <p:cNvSpPr/>
          <p:nvPr/>
        </p:nvSpPr>
        <p:spPr>
          <a:xfrm>
            <a:off x="428625" y="3571875"/>
            <a:ext cx="23814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Create new test sets replicating ImageNet collection methodology. Evaluate standard CNN models on original vs. new sets. Analyze representation differences across dataset variants.</a:t>
            </a:r>
            <a:endParaRPr sz="1000">
              <a:solidFill>
                <a:srgbClr val="374151"/>
              </a:solidFill>
              <a:latin typeface="Calibri"/>
              <a:ea typeface="Calibri"/>
              <a:cs typeface="Calibri"/>
              <a:sym typeface="Calibri"/>
            </a:endParaRPr>
          </a:p>
        </p:txBody>
      </p:sp>
      <p:sp>
        <p:nvSpPr>
          <p:cNvPr id="188" name="Google Shape;188;p9"/>
          <p:cNvSpPr/>
          <p:nvPr/>
        </p:nvSpPr>
        <p:spPr>
          <a:xfrm>
            <a:off x="3238500" y="1285875"/>
            <a:ext cx="2667000" cy="285900"/>
          </a:xfrm>
          <a:prstGeom prst="rect">
            <a:avLst/>
          </a:prstGeom>
          <a:solidFill>
            <a:srgbClr val="1F29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9" name="Google Shape;189;p9"/>
          <p:cNvSpPr/>
          <p:nvPr/>
        </p:nvSpPr>
        <p:spPr>
          <a:xfrm>
            <a:off x="323850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PROPOSED SOLUTION</a:t>
            </a:r>
            <a:endParaRPr b="1" sz="1100">
              <a:solidFill>
                <a:srgbClr val="FFFFFF"/>
              </a:solidFill>
              <a:latin typeface="Calibri"/>
              <a:ea typeface="Calibri"/>
              <a:cs typeface="Calibri"/>
              <a:sym typeface="Calibri"/>
            </a:endParaRPr>
          </a:p>
        </p:txBody>
      </p:sp>
      <p:sp>
        <p:nvSpPr>
          <p:cNvPr id="190" name="Google Shape;190;p9"/>
          <p:cNvSpPr/>
          <p:nvPr/>
        </p:nvSpPr>
        <p:spPr>
          <a:xfrm>
            <a:off x="3238500" y="1571625"/>
            <a:ext cx="2667000" cy="14289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9"/>
          <p:cNvSpPr/>
          <p:nvPr/>
        </p:nvSpPr>
        <p:spPr>
          <a:xfrm>
            <a:off x="3381375" y="1666875"/>
            <a:ext cx="23814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1000">
                <a:solidFill>
                  <a:srgbClr val="374151"/>
                </a:solidFill>
                <a:latin typeface="Calibri"/>
                <a:ea typeface="Calibri"/>
                <a:cs typeface="Calibri"/>
                <a:sym typeface="Calibri"/>
              </a:rPr>
              <a:t>Demonstrate that CNN performance drops on resampled datasets even with identical collection process, suggesting learned features overfit to dataset-specific biases beyond semantic content.</a:t>
            </a:r>
            <a:endParaRPr sz="1000">
              <a:solidFill>
                <a:srgbClr val="374151"/>
              </a:solidFill>
              <a:latin typeface="Calibri"/>
              <a:ea typeface="Calibri"/>
              <a:cs typeface="Calibri"/>
              <a:sym typeface="Calibri"/>
            </a:endParaRPr>
          </a:p>
        </p:txBody>
      </p:sp>
      <p:sp>
        <p:nvSpPr>
          <p:cNvPr id="192" name="Google Shape;192;p9"/>
          <p:cNvSpPr/>
          <p:nvPr/>
        </p:nvSpPr>
        <p:spPr>
          <a:xfrm>
            <a:off x="3238500" y="3190875"/>
            <a:ext cx="2667000" cy="285900"/>
          </a:xfrm>
          <a:prstGeom prst="rect">
            <a:avLst/>
          </a:prstGeom>
          <a:solidFill>
            <a:srgbClr val="6B72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9"/>
          <p:cNvSpPr/>
          <p:nvPr/>
        </p:nvSpPr>
        <p:spPr>
          <a:xfrm>
            <a:off x="3238500" y="3190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CONCLUSION</a:t>
            </a:r>
            <a:endParaRPr b="1" sz="1100">
              <a:solidFill>
                <a:srgbClr val="FFFFFF"/>
              </a:solidFill>
              <a:latin typeface="Calibri"/>
              <a:ea typeface="Calibri"/>
              <a:cs typeface="Calibri"/>
              <a:sym typeface="Calibri"/>
            </a:endParaRPr>
          </a:p>
        </p:txBody>
      </p:sp>
      <p:sp>
        <p:nvSpPr>
          <p:cNvPr id="194" name="Google Shape;194;p9"/>
          <p:cNvSpPr/>
          <p:nvPr/>
        </p:nvSpPr>
        <p:spPr>
          <a:xfrm>
            <a:off x="3238500" y="3476625"/>
            <a:ext cx="2667000" cy="1381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5" name="Google Shape;195;p9"/>
          <p:cNvSpPr/>
          <p:nvPr/>
        </p:nvSpPr>
        <p:spPr>
          <a:xfrm>
            <a:off x="3381375" y="3571875"/>
            <a:ext cx="23814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i="1" lang="en-US" sz="925">
                <a:solidFill>
                  <a:srgbClr val="374151"/>
                </a:solidFill>
                <a:latin typeface="Calibri"/>
                <a:ea typeface="Calibri"/>
                <a:cs typeface="Calibri"/>
                <a:sym typeface="Calibri"/>
              </a:rPr>
              <a:t>Dataset properties profoundly shape CNN feature evolution; studying layer-wise representations across multiple datasets is essential to understanding generalizable vs. dataset-specific features.</a:t>
            </a:r>
            <a:endParaRPr i="1" sz="925">
              <a:solidFill>
                <a:srgbClr val="374151"/>
              </a:solidFill>
              <a:latin typeface="Calibri"/>
              <a:ea typeface="Calibri"/>
              <a:cs typeface="Calibri"/>
              <a:sym typeface="Calibri"/>
            </a:endParaRPr>
          </a:p>
          <a:p>
            <a:pPr indent="0" lvl="0" marL="0" rtl="0" algn="l">
              <a:spcBef>
                <a:spcPts val="800"/>
              </a:spcBef>
              <a:spcAft>
                <a:spcPts val="0"/>
              </a:spcAft>
              <a:buNone/>
            </a:pPr>
            <a:r>
              <a:rPr b="1" lang="en-US" sz="740">
                <a:solidFill>
                  <a:srgbClr val="9CA3AF"/>
                </a:solidFill>
                <a:latin typeface="Calibri"/>
                <a:ea typeface="Calibri"/>
                <a:cs typeface="Calibri"/>
                <a:sym typeface="Calibri"/>
              </a:rPr>
              <a:t>REFERENCE:</a:t>
            </a:r>
            <a:endParaRPr b="1" sz="740">
              <a:solidFill>
                <a:srgbClr val="9CA3AF"/>
              </a:solidFill>
              <a:latin typeface="Calibri"/>
              <a:ea typeface="Calibri"/>
              <a:cs typeface="Calibri"/>
              <a:sym typeface="Calibri"/>
            </a:endParaRPr>
          </a:p>
          <a:p>
            <a:pPr indent="0" lvl="0" marL="0" rtl="0" algn="l">
              <a:spcBef>
                <a:spcPts val="0"/>
              </a:spcBef>
              <a:spcAft>
                <a:spcPts val="0"/>
              </a:spcAft>
              <a:buNone/>
            </a:pPr>
            <a:r>
              <a:rPr i="1" lang="en-US" sz="740">
                <a:solidFill>
                  <a:srgbClr val="9CA3AF"/>
                </a:solidFill>
                <a:latin typeface="Calibri"/>
                <a:ea typeface="Calibri"/>
                <a:cs typeface="Calibri"/>
                <a:sym typeface="Calibri"/>
              </a:rPr>
              <a:t>Recht et al., Do ImageNet Classifiers Generalize to ImageNet? ICML, 2019.</a:t>
            </a:r>
            <a:endParaRPr i="1" sz="740">
              <a:solidFill>
                <a:srgbClr val="9CA3AF"/>
              </a:solidFill>
              <a:latin typeface="Calibri"/>
              <a:ea typeface="Calibri"/>
              <a:cs typeface="Calibri"/>
              <a:sym typeface="Calibri"/>
            </a:endParaRPr>
          </a:p>
        </p:txBody>
      </p:sp>
      <p:sp>
        <p:nvSpPr>
          <p:cNvPr id="196" name="Google Shape;196;p9"/>
          <p:cNvSpPr/>
          <p:nvPr/>
        </p:nvSpPr>
        <p:spPr>
          <a:xfrm>
            <a:off x="6191250" y="1285875"/>
            <a:ext cx="2667000" cy="285900"/>
          </a:xfrm>
          <a:prstGeom prst="rect">
            <a:avLst/>
          </a:prstGeom>
          <a:solidFill>
            <a:srgbClr val="37415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7" name="Google Shape;197;p9"/>
          <p:cNvSpPr/>
          <p:nvPr/>
        </p:nvSpPr>
        <p:spPr>
          <a:xfrm>
            <a:off x="61912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Calibri"/>
                <a:ea typeface="Calibri"/>
                <a:cs typeface="Calibri"/>
                <a:sym typeface="Calibri"/>
              </a:rPr>
              <a:t>RESULTS</a:t>
            </a:r>
            <a:endParaRPr b="1" sz="1100">
              <a:solidFill>
                <a:srgbClr val="FFFFFF"/>
              </a:solidFill>
              <a:latin typeface="Calibri"/>
              <a:ea typeface="Calibri"/>
              <a:cs typeface="Calibri"/>
              <a:sym typeface="Calibri"/>
            </a:endParaRPr>
          </a:p>
        </p:txBody>
      </p:sp>
      <p:sp>
        <p:nvSpPr>
          <p:cNvPr id="198" name="Google Shape;198;p9"/>
          <p:cNvSpPr/>
          <p:nvPr/>
        </p:nvSpPr>
        <p:spPr>
          <a:xfrm>
            <a:off x="6191250" y="1571625"/>
            <a:ext cx="2667000" cy="3286200"/>
          </a:xfrm>
          <a:prstGeom prst="rect">
            <a:avLst/>
          </a:prstGeom>
          <a:solidFill>
            <a:srgbClr val="FFFFFF"/>
          </a:solidFill>
          <a:ln cap="flat" cmpd="sng" w="9525">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9" name="Google Shape;199;p9"/>
          <p:cNvSpPr/>
          <p:nvPr/>
        </p:nvSpPr>
        <p:spPr>
          <a:xfrm>
            <a:off x="6343650"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0" name="Google Shape;200;p9"/>
          <p:cNvSpPr/>
          <p:nvPr/>
        </p:nvSpPr>
        <p:spPr>
          <a:xfrm>
            <a:off x="6524625" y="166687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Model accuracy drops consistently on new test sets (3–15% gap)</a:t>
            </a:r>
            <a:endParaRPr sz="950">
              <a:solidFill>
                <a:srgbClr val="374151"/>
              </a:solidFill>
              <a:latin typeface="Calibri"/>
              <a:ea typeface="Calibri"/>
              <a:cs typeface="Calibri"/>
              <a:sym typeface="Calibri"/>
            </a:endParaRPr>
          </a:p>
        </p:txBody>
      </p:sp>
      <p:sp>
        <p:nvSpPr>
          <p:cNvPr id="201" name="Google Shape;201;p9"/>
          <p:cNvSpPr/>
          <p:nvPr/>
        </p:nvSpPr>
        <p:spPr>
          <a:xfrm>
            <a:off x="6343650"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2" name="Google Shape;202;p9"/>
          <p:cNvSpPr/>
          <p:nvPr/>
        </p:nvSpPr>
        <p:spPr>
          <a:xfrm>
            <a:off x="6524625" y="233362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Feature representations are more dataset-specific than previously assumed</a:t>
            </a:r>
            <a:endParaRPr sz="950">
              <a:solidFill>
                <a:srgbClr val="374151"/>
              </a:solidFill>
              <a:latin typeface="Calibri"/>
              <a:ea typeface="Calibri"/>
              <a:cs typeface="Calibri"/>
              <a:sym typeface="Calibri"/>
            </a:endParaRPr>
          </a:p>
        </p:txBody>
      </p:sp>
      <p:sp>
        <p:nvSpPr>
          <p:cNvPr id="203" name="Google Shape;203;p9"/>
          <p:cNvSpPr/>
          <p:nvPr/>
        </p:nvSpPr>
        <p:spPr>
          <a:xfrm>
            <a:off x="6343650"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9"/>
          <p:cNvSpPr/>
          <p:nvPr/>
        </p:nvSpPr>
        <p:spPr>
          <a:xfrm>
            <a:off x="6524625" y="3000375"/>
            <a:ext cx="21909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US" sz="950">
                <a:solidFill>
                  <a:srgbClr val="374151"/>
                </a:solidFill>
                <a:latin typeface="Calibri"/>
                <a:ea typeface="Calibri"/>
                <a:cs typeface="Calibri"/>
                <a:sym typeface="Calibri"/>
              </a:rPr>
              <a:t>Dataset complexity and label noise significantly affect what CNN layers learn</a:t>
            </a:r>
            <a:endParaRPr sz="950">
              <a:solidFill>
                <a:srgbClr val="374151"/>
              </a:solidFill>
              <a:latin typeface="Calibri"/>
              <a:ea typeface="Calibri"/>
              <a:cs typeface="Calibri"/>
              <a:sym typeface="Calibri"/>
            </a:endParaRPr>
          </a:p>
        </p:txBody>
      </p:sp>
      <p:sp>
        <p:nvSpPr>
          <p:cNvPr id="205" name="Google Shape;205;p9"/>
          <p:cNvSpPr txBox="1"/>
          <p:nvPr/>
        </p:nvSpPr>
        <p:spPr>
          <a:xfrm>
            <a:off x="7143750" y="4053078"/>
            <a:ext cx="762000" cy="571500"/>
          </a:xfrm>
          <a:prstGeom prst="rect">
            <a:avLst/>
          </a:prstGeom>
          <a:solidFill>
            <a:srgbClr val="F9FAFB"/>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3600">
                <a:solidFill>
                  <a:srgbClr val="D1D5DB"/>
                </a:solidFill>
                <a:latin typeface="Material Icons"/>
                <a:ea typeface="Material Icons"/>
                <a:cs typeface="Material Icons"/>
                <a:sym typeface="Material Icons"/>
              </a:rPr>
              <a:t/>
            </a:r>
            <a:endParaRPr sz="3600">
              <a:solidFill>
                <a:srgbClr val="D1D5DB"/>
              </a:solidFill>
              <a:latin typeface="Material Icons"/>
              <a:ea typeface="Material Icons"/>
              <a:cs typeface="Material Icons"/>
              <a:sym typeface="Material Icons"/>
            </a:endParaRPr>
          </a:p>
        </p:txBody>
      </p:sp>
      <p:pic>
        <p:nvPicPr>
          <p:cNvPr id="999" name="MethodologyDiagram"/>
          <p:cNvPicPr preferRelativeResize="0"/>
          <p:nvPr/>
        </p:nvPicPr>
        <p:blipFill rotWithShape="1">
          <a:blip r:embed="rId5"/>
          <a:stretch/>
        </p:blipFill>
        <p:spPr>
          <a:xfrm>
            <a:off x="6200000" y="3350000"/>
            <a:ext cx="2700000" cy="12000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10"/>
          <p:cNvSpPr/>
          <p:nvPr/>
        </p:nvSpPr>
        <p:spPr>
          <a:xfrm>
            <a:off x="0" y="0"/>
            <a:ext cx="9144000" cy="666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2" name="Google Shape;212;p10"/>
          <p:cNvPicPr preferRelativeResize="0"/>
          <p:nvPr/>
        </p:nvPicPr>
        <p:blipFill rotWithShape="1">
          <a:blip r:embed="rId3">
            <a:alphaModFix/>
          </a:blip>
          <a:srcRect b="0" l="11271" r="11263" t="0"/>
          <a:stretch/>
        </p:blipFill>
        <p:spPr>
          <a:xfrm>
            <a:off x="142875" y="95250"/>
            <a:ext cx="476400" cy="476400"/>
          </a:xfrm>
          <a:prstGeom prst="rect">
            <a:avLst/>
          </a:prstGeom>
          <a:noFill/>
          <a:ln>
            <a:noFill/>
          </a:ln>
        </p:spPr>
      </p:pic>
      <p:sp>
        <p:nvSpPr>
          <p:cNvPr id="213" name="Google Shape;213;p10"/>
          <p:cNvSpPr/>
          <p:nvPr/>
        </p:nvSpPr>
        <p:spPr>
          <a:xfrm>
            <a:off x="666750" y="0"/>
            <a:ext cx="8382000" cy="666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FFFFFF"/>
                </a:solidFill>
                <a:latin typeface="Inter"/>
                <a:ea typeface="Inter"/>
                <a:cs typeface="Inter"/>
                <a:sym typeface="Inter"/>
              </a:rPr>
              <a:t xml:space="preserve">Understanding Deep Neural Networks with Rectified Linear Units </a:t>
            </a:r>
            <a:r>
              <a:rPr b="0" lang="en-US" sz="1400">
                <a:solidFill>
                  <a:srgbClr val="CCCCCC"/>
                </a:solidFill>
                <a:latin typeface="Inter"/>
                <a:ea typeface="Inter"/>
                <a:cs typeface="Inter"/>
                <a:sym typeface="Inter"/>
              </a:rPr>
              <a:t>(Arora et al., 2018)</a:t>
            </a:r>
            <a:endParaRPr b="1" sz="2000">
              <a:solidFill>
                <a:srgbClr val="FFFFFF"/>
              </a:solidFill>
              <a:latin typeface="Inter"/>
              <a:ea typeface="Inter"/>
              <a:cs typeface="Inter"/>
              <a:sym typeface="Inter"/>
            </a:endParaRPr>
          </a:p>
        </p:txBody>
      </p:sp>
      <p:sp>
        <p:nvSpPr>
          <p:cNvPr id="214" name="Google Shape;214;p10"/>
          <p:cNvSpPr/>
          <p:nvPr/>
        </p:nvSpPr>
        <p:spPr>
          <a:xfrm>
            <a:off x="0" y="666750"/>
            <a:ext cx="9144000" cy="476400"/>
          </a:xfrm>
          <a:prstGeom prst="rect">
            <a:avLst/>
          </a:prstGeom>
          <a:solidFill>
            <a:srgbClr val="F2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5" name="Google Shape;215;p10"/>
          <p:cNvSpPr/>
          <p:nvPr/>
        </p:nvSpPr>
        <p:spPr>
          <a:xfrm>
            <a:off x="285750" y="666750"/>
            <a:ext cx="15240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000">
                <a:solidFill>
                  <a:srgbClr val="000000"/>
                </a:solidFill>
                <a:latin typeface="Inter"/>
                <a:ea typeface="Inter"/>
                <a:cs typeface="Inter"/>
                <a:sym typeface="Inter"/>
              </a:rPr>
              <a:t>PROBLEM STATEMENT</a:t>
            </a:r>
            <a:endParaRPr b="1" sz="1000">
              <a:solidFill>
                <a:srgbClr val="000000"/>
              </a:solidFill>
              <a:latin typeface="Inter"/>
              <a:ea typeface="Inter"/>
              <a:cs typeface="Inter"/>
              <a:sym typeface="Inter"/>
            </a:endParaRPr>
          </a:p>
        </p:txBody>
      </p:sp>
      <p:sp>
        <p:nvSpPr>
          <p:cNvPr id="216" name="Google Shape;216;p10"/>
          <p:cNvSpPr/>
          <p:nvPr/>
        </p:nvSpPr>
        <p:spPr>
          <a:xfrm>
            <a:off x="1809750" y="666750"/>
            <a:ext cx="70485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The relationship between activation statistics in intermediate CNN layers and the quality of learned decision boundaries is not well understood, making interpretability and optimization difficult.</a:t>
            </a:r>
            <a:endParaRPr b="0" sz="1000">
              <a:solidFill>
                <a:srgbClr val="333333"/>
              </a:solidFill>
              <a:latin typeface="Inter"/>
              <a:ea typeface="Inter"/>
              <a:cs typeface="Inter"/>
              <a:sym typeface="Inter"/>
            </a:endParaRPr>
          </a:p>
        </p:txBody>
      </p:sp>
      <p:sp>
        <p:nvSpPr>
          <p:cNvPr id="217" name="Google Shape;217;p10"/>
          <p:cNvSpPr/>
          <p:nvPr/>
        </p:nvSpPr>
        <p:spPr>
          <a:xfrm>
            <a:off x="285750" y="1285875"/>
            <a:ext cx="2667000" cy="285900"/>
          </a:xfrm>
          <a:prstGeom prst="rect">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8" name="Google Shape;218;p10"/>
          <p:cNvSpPr/>
          <p:nvPr/>
        </p:nvSpPr>
        <p:spPr>
          <a:xfrm>
            <a:off x="2857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OBJECTIVES</a:t>
            </a:r>
            <a:endParaRPr b="1" sz="1100">
              <a:solidFill>
                <a:srgbClr val="FFFFFF"/>
              </a:solidFill>
              <a:latin typeface="Inter"/>
              <a:ea typeface="Inter"/>
              <a:cs typeface="Inter"/>
              <a:sym typeface="Inter"/>
            </a:endParaRPr>
          </a:p>
        </p:txBody>
      </p:sp>
      <p:sp>
        <p:nvSpPr>
          <p:cNvPr id="219" name="Google Shape;219;p10"/>
          <p:cNvSpPr/>
          <p:nvPr/>
        </p:nvSpPr>
        <p:spPr>
          <a:xfrm>
            <a:off x="285750" y="1571625"/>
            <a:ext cx="2667000" cy="14289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0" name="Google Shape;220;p10"/>
          <p:cNvSpPr/>
          <p:nvPr/>
        </p:nvSpPr>
        <p:spPr>
          <a:xfrm>
            <a:off x="428625" y="1666875"/>
            <a:ext cx="2381400" cy="1238400"/>
          </a:xfrm>
          <a:prstGeom prst="rect">
            <a:avLst/>
          </a:prstGeom>
          <a:solidFill>
            <a:srgbClr val="000000">
              <a:alpha val="0"/>
            </a:srgbClr>
          </a:solidFill>
          <a:ln>
            <a:noFill/>
          </a:ln>
        </p:spPr>
        <p:txBody>
          <a:bodyPr anchorCtr="0" anchor="t" bIns="0" lIns="0" spcFirstLastPara="1" rIns="0" wrap="square" tIns="0">
            <a:noAutofit/>
          </a:bodyPr>
          <a:lstStyle/>
          <a:p>
            <a:pPr indent="-282575" lvl="0" marL="457200" rtl="0" algn="l">
              <a:spcBef>
                <a:spcPts val="0"/>
              </a:spcBef>
              <a:spcAft>
                <a:spcPts val="0"/>
              </a:spcAft>
              <a:buClr>
                <a:srgbClr val="333333"/>
              </a:buClr>
              <a:buSzPts val="850"/>
              <a:buFont typeface="Inter"/>
              <a:buChar char="●"/>
            </a:pPr>
            <a:r>
              <a:rPr lang="en-US" sz="850">
                <a:solidFill>
                  <a:srgbClr val="333333"/>
                </a:solidFill>
                <a:latin typeface="Inter"/>
                <a:ea typeface="Inter"/>
                <a:cs typeface="Inter"/>
                <a:sym typeface="Inter"/>
              </a:rPr>
              <a:t>Analyze how ReLU activations shape feature geometry across layers</a:t>
            </a:r>
            <a:endParaRPr sz="850">
              <a:solidFill>
                <a:srgbClr val="333333"/>
              </a:solidFill>
              <a:latin typeface="Inter"/>
              <a:ea typeface="Inter"/>
              <a:cs typeface="Inter"/>
              <a:sym typeface="Inter"/>
            </a:endParaRPr>
          </a:p>
          <a:p>
            <a:pPr indent="-282575" lvl="0" marL="457200" rtl="0" algn="l">
              <a:spcBef>
                <a:spcPts val="800"/>
              </a:spcBef>
              <a:spcAft>
                <a:spcPts val="0"/>
              </a:spcAft>
              <a:buClr>
                <a:srgbClr val="333333"/>
              </a:buClr>
              <a:buSzPts val="850"/>
              <a:buFont typeface="Inter"/>
              <a:buChar char="●"/>
            </a:pPr>
            <a:r>
              <a:rPr lang="en-US" sz="850">
                <a:solidFill>
                  <a:srgbClr val="333333"/>
                </a:solidFill>
                <a:latin typeface="Inter"/>
                <a:ea typeface="Inter"/>
                <a:cs typeface="Inter"/>
                <a:sym typeface="Inter"/>
              </a:rPr>
              <a:t>Study sparsity patterns and their relationship to decision boundaries</a:t>
            </a:r>
            <a:endParaRPr sz="850">
              <a:solidFill>
                <a:srgbClr val="333333"/>
              </a:solidFill>
              <a:latin typeface="Inter"/>
              <a:ea typeface="Inter"/>
              <a:cs typeface="Inter"/>
              <a:sym typeface="Inter"/>
            </a:endParaRPr>
          </a:p>
          <a:p>
            <a:pPr indent="-282575" lvl="0" marL="457200" rtl="0" algn="l">
              <a:spcBef>
                <a:spcPts val="800"/>
              </a:spcBef>
              <a:spcAft>
                <a:spcPts val="0"/>
              </a:spcAft>
              <a:buClr>
                <a:srgbClr val="333333"/>
              </a:buClr>
              <a:buSzPts val="850"/>
              <a:buFont typeface="Inter"/>
              <a:buChar char="●"/>
            </a:pPr>
            <a:r>
              <a:rPr lang="en-US" sz="850">
                <a:solidFill>
                  <a:srgbClr val="333333"/>
                </a:solidFill>
                <a:latin typeface="Inter"/>
                <a:ea typeface="Inter"/>
                <a:cs typeface="Inter"/>
                <a:sym typeface="Inter"/>
              </a:rPr>
              <a:t>Connect activation statistics to model expressivity and generalization</a:t>
            </a:r>
            <a:endParaRPr sz="850">
              <a:solidFill>
                <a:srgbClr val="333333"/>
              </a:solidFill>
              <a:latin typeface="Inter"/>
              <a:ea typeface="Inter"/>
              <a:cs typeface="Inter"/>
              <a:sym typeface="Inter"/>
            </a:endParaRPr>
          </a:p>
        </p:txBody>
      </p:sp>
      <p:sp>
        <p:nvSpPr>
          <p:cNvPr id="221" name="Google Shape;221;p10"/>
          <p:cNvSpPr/>
          <p:nvPr/>
        </p:nvSpPr>
        <p:spPr>
          <a:xfrm>
            <a:off x="285750" y="3143250"/>
            <a:ext cx="2667000" cy="285900"/>
          </a:xfrm>
          <a:prstGeom prst="rect">
            <a:avLst/>
          </a:prstGeom>
          <a:solidFill>
            <a:srgbClr val="333333"/>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2" name="Google Shape;222;p10"/>
          <p:cNvSpPr/>
          <p:nvPr/>
        </p:nvSpPr>
        <p:spPr>
          <a:xfrm>
            <a:off x="285750" y="3143250"/>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METHODOLOGY</a:t>
            </a:r>
            <a:endParaRPr b="1" sz="1100">
              <a:solidFill>
                <a:srgbClr val="FFFFFF"/>
              </a:solidFill>
              <a:latin typeface="Inter"/>
              <a:ea typeface="Inter"/>
              <a:cs typeface="Inter"/>
              <a:sym typeface="Inter"/>
            </a:endParaRPr>
          </a:p>
        </p:txBody>
      </p:sp>
      <p:sp>
        <p:nvSpPr>
          <p:cNvPr id="223" name="Google Shape;223;p10"/>
          <p:cNvSpPr/>
          <p:nvPr/>
        </p:nvSpPr>
        <p:spPr>
          <a:xfrm>
            <a:off x="285750" y="3476625"/>
            <a:ext cx="2667000" cy="1381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0"/>
          <p:cNvSpPr/>
          <p:nvPr/>
        </p:nvSpPr>
        <p:spPr>
          <a:xfrm>
            <a:off x="428625" y="3571875"/>
            <a:ext cx="2381400" cy="1190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Theoretically analyze ReLU networks layer-by-layer. Measure sparsity, mean activation, and variance across layers. Map statistics to piecewise-linear decision regions.</a:t>
            </a:r>
            <a:endParaRPr b="0" sz="1000">
              <a:solidFill>
                <a:srgbClr val="333333"/>
              </a:solidFill>
              <a:latin typeface="Inter"/>
              <a:ea typeface="Inter"/>
              <a:cs typeface="Inter"/>
              <a:sym typeface="Inter"/>
            </a:endParaRPr>
          </a:p>
        </p:txBody>
      </p:sp>
      <p:sp>
        <p:nvSpPr>
          <p:cNvPr id="225" name="Google Shape;225;p10"/>
          <p:cNvSpPr/>
          <p:nvPr/>
        </p:nvSpPr>
        <p:spPr>
          <a:xfrm>
            <a:off x="3238500" y="1285875"/>
            <a:ext cx="2667000" cy="285900"/>
          </a:xfrm>
          <a:prstGeom prst="rect">
            <a:avLst/>
          </a:prstGeom>
          <a:solidFill>
            <a:srgbClr val="4D4D4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6" name="Google Shape;226;p10"/>
          <p:cNvSpPr/>
          <p:nvPr/>
        </p:nvSpPr>
        <p:spPr>
          <a:xfrm>
            <a:off x="323850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PROPOSED SOLUTION</a:t>
            </a:r>
            <a:endParaRPr b="1" sz="1100">
              <a:solidFill>
                <a:srgbClr val="FFFFFF"/>
              </a:solidFill>
              <a:latin typeface="Inter"/>
              <a:ea typeface="Inter"/>
              <a:cs typeface="Inter"/>
              <a:sym typeface="Inter"/>
            </a:endParaRPr>
          </a:p>
        </p:txBody>
      </p:sp>
      <p:sp>
        <p:nvSpPr>
          <p:cNvPr id="227" name="Google Shape;227;p10"/>
          <p:cNvSpPr/>
          <p:nvPr/>
        </p:nvSpPr>
        <p:spPr>
          <a:xfrm>
            <a:off x="3238500" y="1571625"/>
            <a:ext cx="2667000" cy="14289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0"/>
          <p:cNvSpPr/>
          <p:nvPr/>
        </p:nvSpPr>
        <p:spPr>
          <a:xfrm>
            <a:off x="3381375" y="1666875"/>
            <a:ext cx="2381400" cy="1238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000">
                <a:solidFill>
                  <a:srgbClr val="333333"/>
                </a:solidFill>
                <a:latin typeface="Inter"/>
                <a:ea typeface="Inter"/>
                <a:cs typeface="Inter"/>
                <a:sym typeface="Inter"/>
              </a:rPr>
              <a:t>Show that ReLU networks create exponentially many linear regions as depth increases, and that activation sparsity patterns in intermediate layers directly determine decision boundary structure.</a:t>
            </a:r>
            <a:endParaRPr b="0" sz="1000">
              <a:solidFill>
                <a:srgbClr val="333333"/>
              </a:solidFill>
              <a:latin typeface="Inter"/>
              <a:ea typeface="Inter"/>
              <a:cs typeface="Inter"/>
              <a:sym typeface="Inter"/>
            </a:endParaRPr>
          </a:p>
        </p:txBody>
      </p:sp>
      <p:sp>
        <p:nvSpPr>
          <p:cNvPr id="229" name="Google Shape;229;p10"/>
          <p:cNvSpPr/>
          <p:nvPr/>
        </p:nvSpPr>
        <p:spPr>
          <a:xfrm>
            <a:off x="3238500" y="3143250"/>
            <a:ext cx="2667000" cy="285900"/>
          </a:xfrm>
          <a:prstGeom prst="rect">
            <a:avLst/>
          </a:prstGeom>
          <a:solidFill>
            <a:srgbClr val="66666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0" name="Google Shape;230;p10"/>
          <p:cNvSpPr/>
          <p:nvPr/>
        </p:nvSpPr>
        <p:spPr>
          <a:xfrm>
            <a:off x="3238500" y="3143250"/>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CONCLUSION</a:t>
            </a:r>
            <a:endParaRPr b="1" sz="1100">
              <a:solidFill>
                <a:srgbClr val="FFFFFF"/>
              </a:solidFill>
              <a:latin typeface="Inter"/>
              <a:ea typeface="Inter"/>
              <a:cs typeface="Inter"/>
              <a:sym typeface="Inter"/>
            </a:endParaRPr>
          </a:p>
        </p:txBody>
      </p:sp>
      <p:sp>
        <p:nvSpPr>
          <p:cNvPr id="231" name="Google Shape;231;p10"/>
          <p:cNvSpPr/>
          <p:nvPr/>
        </p:nvSpPr>
        <p:spPr>
          <a:xfrm>
            <a:off x="3238500" y="3476625"/>
            <a:ext cx="2667000" cy="1381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10"/>
          <p:cNvSpPr/>
          <p:nvPr/>
        </p:nvSpPr>
        <p:spPr>
          <a:xfrm>
            <a:off x="3381375" y="3571875"/>
            <a:ext cx="2381400" cy="11907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i="1" lang="en-US" sz="879">
                <a:solidFill>
                  <a:srgbClr val="333333"/>
                </a:solidFill>
                <a:latin typeface="Inter"/>
                <a:ea typeface="Inter"/>
                <a:cs typeface="Inter"/>
                <a:sym typeface="Inter"/>
              </a:rPr>
              <a:t>Layer-wise activation statistics are directly tied to representation quality and decision boundaries — validating the importance of quantifying mean, variance, and sparsity across CNN layers.</a:t>
            </a:r>
            <a:endParaRPr i="1" sz="879">
              <a:solidFill>
                <a:srgbClr val="333333"/>
              </a:solidFill>
              <a:latin typeface="Inter"/>
              <a:ea typeface="Inter"/>
              <a:cs typeface="Inter"/>
              <a:sym typeface="Inter"/>
            </a:endParaRPr>
          </a:p>
          <a:p>
            <a:pPr indent="0" lvl="0" marL="0" rtl="0" algn="l">
              <a:spcBef>
                <a:spcPts val="800"/>
              </a:spcBef>
              <a:spcAft>
                <a:spcPts val="0"/>
              </a:spcAft>
              <a:buNone/>
            </a:pPr>
            <a:r>
              <a:rPr b="1" lang="en-US" sz="740">
                <a:solidFill>
                  <a:srgbClr val="999999"/>
                </a:solidFill>
                <a:latin typeface="Inter"/>
                <a:ea typeface="Inter"/>
                <a:cs typeface="Inter"/>
                <a:sym typeface="Inter"/>
              </a:rPr>
              <a:t>REFERENCE:</a:t>
            </a:r>
            <a:endParaRPr b="1" sz="740">
              <a:solidFill>
                <a:srgbClr val="999999"/>
              </a:solidFill>
              <a:latin typeface="Inter"/>
              <a:ea typeface="Inter"/>
              <a:cs typeface="Inter"/>
              <a:sym typeface="Inter"/>
            </a:endParaRPr>
          </a:p>
          <a:p>
            <a:pPr indent="0" lvl="0" marL="0" rtl="0" algn="l">
              <a:spcBef>
                <a:spcPts val="200"/>
              </a:spcBef>
              <a:spcAft>
                <a:spcPts val="0"/>
              </a:spcAft>
              <a:buNone/>
            </a:pPr>
            <a:r>
              <a:rPr i="1" lang="en-US" sz="740">
                <a:solidFill>
                  <a:srgbClr val="999999"/>
                </a:solidFill>
                <a:latin typeface="Inter"/>
                <a:ea typeface="Inter"/>
                <a:cs typeface="Inter"/>
                <a:sym typeface="Inter"/>
              </a:rPr>
              <a:t>Arora et al., Understanding Deep Neural Networks with Rectified Linear Units, ICLR, 2018.</a:t>
            </a:r>
            <a:endParaRPr i="1" sz="740">
              <a:solidFill>
                <a:srgbClr val="999999"/>
              </a:solidFill>
              <a:latin typeface="Inter"/>
              <a:ea typeface="Inter"/>
              <a:cs typeface="Inter"/>
              <a:sym typeface="Inter"/>
            </a:endParaRPr>
          </a:p>
        </p:txBody>
      </p:sp>
      <p:sp>
        <p:nvSpPr>
          <p:cNvPr id="233" name="Google Shape;233;p10"/>
          <p:cNvSpPr/>
          <p:nvPr/>
        </p:nvSpPr>
        <p:spPr>
          <a:xfrm>
            <a:off x="6191250" y="1285875"/>
            <a:ext cx="2667000" cy="285900"/>
          </a:xfrm>
          <a:prstGeom prst="rect">
            <a:avLst/>
          </a:prstGeom>
          <a:solidFill>
            <a:srgbClr val="80808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4" name="Google Shape;234;p10"/>
          <p:cNvSpPr/>
          <p:nvPr/>
        </p:nvSpPr>
        <p:spPr>
          <a:xfrm>
            <a:off x="6191250" y="1285875"/>
            <a:ext cx="2667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100">
                <a:solidFill>
                  <a:srgbClr val="FFFFFF"/>
                </a:solidFill>
                <a:latin typeface="Inter"/>
                <a:ea typeface="Inter"/>
                <a:cs typeface="Inter"/>
                <a:sym typeface="Inter"/>
              </a:rPr>
              <a:t>RESULTS</a:t>
            </a:r>
            <a:endParaRPr b="1" sz="1100">
              <a:solidFill>
                <a:srgbClr val="FFFFFF"/>
              </a:solidFill>
              <a:latin typeface="Inter"/>
              <a:ea typeface="Inter"/>
              <a:cs typeface="Inter"/>
              <a:sym typeface="Inter"/>
            </a:endParaRPr>
          </a:p>
        </p:txBody>
      </p:sp>
      <p:sp>
        <p:nvSpPr>
          <p:cNvPr id="235" name="Google Shape;235;p10"/>
          <p:cNvSpPr/>
          <p:nvPr/>
        </p:nvSpPr>
        <p:spPr>
          <a:xfrm>
            <a:off x="6191250" y="1571625"/>
            <a:ext cx="2667000" cy="3286200"/>
          </a:xfrm>
          <a:prstGeom prst="rect">
            <a:avLst/>
          </a:prstGeom>
          <a:solidFill>
            <a:srgbClr val="FFFFFF"/>
          </a:solidFill>
          <a:ln cap="flat" cmpd="sng" w="9525">
            <a:solidFill>
              <a:srgbClr val="E0E0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10"/>
          <p:cNvSpPr/>
          <p:nvPr/>
        </p:nvSpPr>
        <p:spPr>
          <a:xfrm>
            <a:off x="6391275" y="19145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7" name="Google Shape;237;p10"/>
          <p:cNvSpPr/>
          <p:nvPr/>
        </p:nvSpPr>
        <p:spPr>
          <a:xfrm>
            <a:off x="6572250" y="171450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Deeper layers produce sparser, more discriminative activations</a:t>
            </a:r>
            <a:endParaRPr b="0" sz="950">
              <a:solidFill>
                <a:srgbClr val="333333"/>
              </a:solidFill>
              <a:latin typeface="Inter"/>
              <a:ea typeface="Inter"/>
              <a:cs typeface="Inter"/>
              <a:sym typeface="Inter"/>
            </a:endParaRPr>
          </a:p>
        </p:txBody>
      </p:sp>
      <p:sp>
        <p:nvSpPr>
          <p:cNvPr id="238" name="Google Shape;238;p10"/>
          <p:cNvSpPr/>
          <p:nvPr/>
        </p:nvSpPr>
        <p:spPr>
          <a:xfrm>
            <a:off x="6391275" y="258127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9" name="Google Shape;239;p10"/>
          <p:cNvSpPr/>
          <p:nvPr/>
        </p:nvSpPr>
        <p:spPr>
          <a:xfrm>
            <a:off x="6572250" y="238125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Mean and variance of activations correlate with decision boundary complexity</a:t>
            </a:r>
            <a:endParaRPr b="0" sz="950">
              <a:solidFill>
                <a:srgbClr val="333333"/>
              </a:solidFill>
              <a:latin typeface="Inter"/>
              <a:ea typeface="Inter"/>
              <a:cs typeface="Inter"/>
              <a:sym typeface="Inter"/>
            </a:endParaRPr>
          </a:p>
        </p:txBody>
      </p:sp>
      <p:sp>
        <p:nvSpPr>
          <p:cNvPr id="240" name="Google Shape;240;p10"/>
          <p:cNvSpPr/>
          <p:nvPr/>
        </p:nvSpPr>
        <p:spPr>
          <a:xfrm>
            <a:off x="6391275" y="3248025"/>
            <a:ext cx="76200" cy="76200"/>
          </a:xfrm>
          <a:prstGeom prst="ellipse">
            <a:avLst/>
          </a:prstGeom>
          <a:solidFill>
            <a:srgbClr val="00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1" name="Google Shape;241;p10"/>
          <p:cNvSpPr/>
          <p:nvPr/>
        </p:nvSpPr>
        <p:spPr>
          <a:xfrm>
            <a:off x="6572250" y="3048000"/>
            <a:ext cx="2143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950">
                <a:solidFill>
                  <a:srgbClr val="333333"/>
                </a:solidFill>
                <a:latin typeface="Inter"/>
                <a:ea typeface="Inter"/>
                <a:cs typeface="Inter"/>
                <a:sym typeface="Inter"/>
              </a:rPr>
              <a:t>Sparsity is a key indicator of feature specialization and class discrimination</a:t>
            </a:r>
            <a:endParaRPr b="0" sz="950">
              <a:solidFill>
                <a:srgbClr val="333333"/>
              </a:solidFill>
              <a:latin typeface="Inter"/>
              <a:ea typeface="Inter"/>
              <a:cs typeface="Inter"/>
              <a:sym typeface="Inter"/>
            </a:endParaRPr>
          </a:p>
        </p:txBody>
      </p:sp>
      <p:sp>
        <p:nvSpPr>
          <p:cNvPr id="242" name="Google Shape;242;p10"/>
          <p:cNvSpPr txBox="1"/>
          <p:nvPr/>
        </p:nvSpPr>
        <p:spPr>
          <a:xfrm>
            <a:off x="7048500" y="4020820"/>
            <a:ext cx="952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000">
                <a:solidFill>
                  <a:srgbClr val="B3B3B3"/>
                </a:solidFill>
                <a:latin typeface="Material Icons"/>
                <a:ea typeface="Material Icons"/>
                <a:cs typeface="Material Icons"/>
                <a:sym typeface="Material Icons"/>
              </a:rPr>
              <a:t/>
            </a:r>
            <a:endParaRPr sz="4000">
              <a:solidFill>
                <a:srgbClr val="B3B3B3"/>
              </a:solidFill>
              <a:latin typeface="Material Icons"/>
              <a:ea typeface="Material Icons"/>
              <a:cs typeface="Material Icons"/>
              <a:sym typeface="Material Icons"/>
            </a:endParaRPr>
          </a:p>
        </p:txBody>
      </p:sp>
      <p:pic>
        <p:nvPicPr>
          <p:cNvPr id="999" name="MethodologyDiagram"/>
          <p:cNvPicPr preferRelativeResize="0"/>
          <p:nvPr/>
        </p:nvPicPr>
        <p:blipFill rotWithShape="1">
          <a:blip r:embed="rId4"/>
          <a:stretch/>
        </p:blipFill>
        <p:spPr>
          <a:xfrm>
            <a:off x="6200000" y="3350000"/>
            <a:ext cx="2700000" cy="1200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47" name="Shape 247"/>
        <p:cNvGrpSpPr/>
        <p:nvPr/>
      </p:nvGrpSpPr>
      <p:grpSpPr>
        <a:xfrm>
          <a:off x="0" y="0"/>
          <a:ext cx="0" cy="0"/>
          <a:chOff x="0" y="0"/>
          <a:chExt cx="0" cy="0"/>
        </a:xfrm>
      </p:grpSpPr>
      <p:sp>
        <p:nvSpPr>
          <p:cNvPr id="248" name="Google Shape;248;p11"/>
          <p:cNvSpPr/>
          <p:nvPr/>
        </p:nvSpPr>
        <p:spPr>
          <a:xfrm>
            <a:off x="0" y="0"/>
            <a:ext cx="9144000" cy="667500"/>
          </a:xfrm>
          <a:prstGeom prst="rect">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home/claude/kle_logo_final.png" id="249" name="Google Shape;249;p11"/>
          <p:cNvPicPr preferRelativeResize="0"/>
          <p:nvPr/>
        </p:nvPicPr>
        <p:blipFill rotWithShape="1">
          <a:blip r:embed="rId4">
            <a:alphaModFix/>
          </a:blip>
          <a:srcRect b="0" l="0" r="0" t="0"/>
          <a:stretch/>
        </p:blipFill>
        <p:spPr>
          <a:xfrm>
            <a:off x="0" y="0"/>
            <a:ext cx="667512" cy="667512"/>
          </a:xfrm>
          <a:prstGeom prst="rect">
            <a:avLst/>
          </a:prstGeom>
          <a:noFill/>
          <a:ln>
            <a:noFill/>
          </a:ln>
        </p:spPr>
      </p:pic>
      <p:sp>
        <p:nvSpPr>
          <p:cNvPr id="250" name="Google Shape;250;p11"/>
          <p:cNvSpPr/>
          <p:nvPr/>
        </p:nvSpPr>
        <p:spPr>
          <a:xfrm>
            <a:off x="667512" y="0"/>
            <a:ext cx="8476500" cy="667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600">
                <a:solidFill>
                  <a:srgbClr val="FFFFFF"/>
                </a:solidFill>
                <a:latin typeface="Calibri"/>
                <a:ea typeface="Calibri"/>
                <a:cs typeface="Calibri"/>
                <a:sym typeface="Calibri"/>
              </a:rPr>
              <a:t>Dataset Selection &amp; Analysis</a:t>
            </a:r>
            <a:endParaRPr b="1" sz="2600">
              <a:solidFill>
                <a:srgbClr val="FFFFFF"/>
              </a:solidFill>
              <a:latin typeface="Calibri"/>
              <a:ea typeface="Calibri"/>
              <a:cs typeface="Calibri"/>
              <a:sym typeface="Calibri"/>
            </a:endParaRPr>
          </a:p>
        </p:txBody>
      </p:sp>
      <p:sp>
        <p:nvSpPr>
          <p:cNvPr id="251" name="Google Shape;251;p11"/>
          <p:cNvSpPr/>
          <p:nvPr/>
        </p:nvSpPr>
        <p:spPr>
          <a:xfrm>
            <a:off x="23812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2" name="Google Shape;252;p11"/>
          <p:cNvSpPr/>
          <p:nvPr/>
        </p:nvSpPr>
        <p:spPr>
          <a:xfrm>
            <a:off x="23812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3" name="Google Shape;253;p11"/>
          <p:cNvSpPr/>
          <p:nvPr/>
        </p:nvSpPr>
        <p:spPr>
          <a:xfrm>
            <a:off x="23812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4" name="Google Shape;254;p11"/>
          <p:cNvSpPr/>
          <p:nvPr/>
        </p:nvSpPr>
        <p:spPr>
          <a:xfrm>
            <a:off x="23812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Food-101</a:t>
            </a:r>
            <a:endParaRPr b="1" sz="1500">
              <a:solidFill>
                <a:srgbClr val="FFFFFF"/>
              </a:solidFill>
              <a:latin typeface="Calibri"/>
              <a:ea typeface="Calibri"/>
              <a:cs typeface="Calibri"/>
              <a:sym typeface="Calibri"/>
            </a:endParaRPr>
          </a:p>
        </p:txBody>
      </p:sp>
      <p:sp>
        <p:nvSpPr>
          <p:cNvPr id="255" name="Google Shape;255;p11"/>
          <p:cNvSpPr/>
          <p:nvPr/>
        </p:nvSpPr>
        <p:spPr>
          <a:xfrm>
            <a:off x="404813" y="1571625"/>
            <a:ext cx="1714500" cy="285900"/>
          </a:xfrm>
          <a:prstGeom prst="rect">
            <a:avLst/>
          </a:prstGeom>
          <a:solidFill>
            <a:srgbClr val="FDF2F2"/>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6" name="Google Shape;256;p11"/>
          <p:cNvSpPr/>
          <p:nvPr/>
        </p:nvSpPr>
        <p:spPr>
          <a:xfrm>
            <a:off x="40481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Texture-heavy</a:t>
            </a:r>
            <a:endParaRPr b="1" i="0" sz="1100" u="none" strike="noStrike">
              <a:solidFill>
                <a:srgbClr val="475569"/>
              </a:solidFill>
              <a:latin typeface="Calibri"/>
              <a:ea typeface="Calibri"/>
              <a:cs typeface="Calibri"/>
              <a:sym typeface="Calibri"/>
            </a:endParaRPr>
          </a:p>
        </p:txBody>
      </p:sp>
      <p:sp>
        <p:nvSpPr>
          <p:cNvPr id="257" name="Google Shape;257;p11"/>
          <p:cNvSpPr/>
          <p:nvPr/>
        </p:nvSpPr>
        <p:spPr>
          <a:xfrm>
            <a:off x="33337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Noisy backgrounds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High intra-class variance</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Complex food plating</a:t>
            </a:r>
            <a:endParaRPr b="0" sz="1100">
              <a:solidFill>
                <a:srgbClr val="475569"/>
              </a:solidFill>
              <a:latin typeface="Calibri"/>
              <a:ea typeface="Calibri"/>
              <a:cs typeface="Calibri"/>
              <a:sym typeface="Calibri"/>
            </a:endParaRPr>
          </a:p>
        </p:txBody>
      </p:sp>
      <p:sp>
        <p:nvSpPr>
          <p:cNvPr id="258" name="Google Shape;258;p11"/>
          <p:cNvSpPr/>
          <p:nvPr/>
        </p:nvSpPr>
        <p:spPr>
          <a:xfrm>
            <a:off x="242887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9" name="Google Shape;259;p11"/>
          <p:cNvSpPr/>
          <p:nvPr/>
        </p:nvSpPr>
        <p:spPr>
          <a:xfrm>
            <a:off x="242887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0" name="Google Shape;260;p11"/>
          <p:cNvSpPr/>
          <p:nvPr/>
        </p:nvSpPr>
        <p:spPr>
          <a:xfrm>
            <a:off x="242887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1" name="Google Shape;261;p11"/>
          <p:cNvSpPr/>
          <p:nvPr/>
        </p:nvSpPr>
        <p:spPr>
          <a:xfrm>
            <a:off x="242887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Stanford Cars</a:t>
            </a:r>
            <a:endParaRPr b="1" sz="1500">
              <a:solidFill>
                <a:srgbClr val="FFFFFF"/>
              </a:solidFill>
              <a:latin typeface="Calibri"/>
              <a:ea typeface="Calibri"/>
              <a:cs typeface="Calibri"/>
              <a:sym typeface="Calibri"/>
            </a:endParaRPr>
          </a:p>
        </p:txBody>
      </p:sp>
      <p:sp>
        <p:nvSpPr>
          <p:cNvPr id="262" name="Google Shape;262;p11"/>
          <p:cNvSpPr/>
          <p:nvPr/>
        </p:nvSpPr>
        <p:spPr>
          <a:xfrm>
            <a:off x="259556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3" name="Google Shape;263;p11"/>
          <p:cNvSpPr/>
          <p:nvPr/>
        </p:nvSpPr>
        <p:spPr>
          <a:xfrm>
            <a:off x="2595563" y="1571625"/>
            <a:ext cx="1714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Fine-grained</a:t>
            </a:r>
            <a:endParaRPr b="1" i="0" sz="1100" u="none" strike="noStrike">
              <a:solidFill>
                <a:srgbClr val="475569"/>
              </a:solidFill>
              <a:latin typeface="Calibri"/>
              <a:ea typeface="Calibri"/>
              <a:cs typeface="Calibri"/>
              <a:sym typeface="Calibri"/>
            </a:endParaRPr>
          </a:p>
        </p:txBody>
      </p:sp>
      <p:sp>
        <p:nvSpPr>
          <p:cNvPr id="264" name="Google Shape;264;p11"/>
          <p:cNvSpPr/>
          <p:nvPr/>
        </p:nvSpPr>
        <p:spPr>
          <a:xfrm>
            <a:off x="252412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Geometry-dominant</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Subtle class differences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Varying camera angles</a:t>
            </a:r>
            <a:endParaRPr b="0" sz="1100">
              <a:solidFill>
                <a:srgbClr val="475569"/>
              </a:solidFill>
              <a:latin typeface="Calibri"/>
              <a:ea typeface="Calibri"/>
              <a:cs typeface="Calibri"/>
              <a:sym typeface="Calibri"/>
            </a:endParaRPr>
          </a:p>
        </p:txBody>
      </p:sp>
      <p:sp>
        <p:nvSpPr>
          <p:cNvPr id="265" name="Google Shape;265;p11"/>
          <p:cNvSpPr/>
          <p:nvPr/>
        </p:nvSpPr>
        <p:spPr>
          <a:xfrm>
            <a:off x="4619625" y="952500"/>
            <a:ext cx="2047800" cy="2190900"/>
          </a:xfrm>
          <a:prstGeom prst="rect">
            <a:avLst/>
          </a:prstGeom>
          <a:solidFill>
            <a:srgbClr val="FFFFFF"/>
          </a:solidFill>
          <a:ln cap="flat" cmpd="sng" w="1430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6" name="Google Shape;266;p11"/>
          <p:cNvSpPr/>
          <p:nvPr/>
        </p:nvSpPr>
        <p:spPr>
          <a:xfrm>
            <a:off x="4619625" y="952500"/>
            <a:ext cx="2047800" cy="4764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7" name="Google Shape;267;p11"/>
          <p:cNvSpPr/>
          <p:nvPr/>
        </p:nvSpPr>
        <p:spPr>
          <a:xfrm>
            <a:off x="4619625" y="1190625"/>
            <a:ext cx="2047800" cy="238200"/>
          </a:xfrm>
          <a:prstGeom prst="rect">
            <a:avLst/>
          </a:prstGeom>
          <a:solidFill>
            <a:srgbClr val="47556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8" name="Google Shape;268;p11"/>
          <p:cNvSpPr/>
          <p:nvPr/>
        </p:nvSpPr>
        <p:spPr>
          <a:xfrm>
            <a:off x="461962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FGVC Aircraft</a:t>
            </a:r>
            <a:endParaRPr b="1" sz="1500">
              <a:solidFill>
                <a:srgbClr val="FFFFFF"/>
              </a:solidFill>
              <a:latin typeface="Calibri"/>
              <a:ea typeface="Calibri"/>
              <a:cs typeface="Calibri"/>
              <a:sym typeface="Calibri"/>
            </a:endParaRPr>
          </a:p>
        </p:txBody>
      </p:sp>
      <p:sp>
        <p:nvSpPr>
          <p:cNvPr id="269" name="Google Shape;269;p11"/>
          <p:cNvSpPr/>
          <p:nvPr/>
        </p:nvSpPr>
        <p:spPr>
          <a:xfrm>
            <a:off x="4786313" y="1571625"/>
            <a:ext cx="1714500" cy="285900"/>
          </a:xfrm>
          <a:prstGeom prst="rect">
            <a:avLst/>
          </a:prstGeom>
          <a:solidFill>
            <a:srgbClr val="ECF8F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0" name="Google Shape;270;p11"/>
          <p:cNvSpPr/>
          <p:nvPr/>
        </p:nvSpPr>
        <p:spPr>
          <a:xfrm>
            <a:off x="4786313" y="1571625"/>
            <a:ext cx="1714500" cy="285900"/>
          </a:xfrm>
          <a:prstGeom prst="rect">
            <a:avLst/>
          </a:prstGeom>
          <a:solidFill>
            <a:srgbClr val="F1F5F9"/>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u="none" strike="noStrike">
                <a:solidFill>
                  <a:srgbClr val="475569"/>
                </a:solidFill>
                <a:latin typeface="Calibri"/>
                <a:ea typeface="Calibri"/>
                <a:cs typeface="Calibri"/>
                <a:sym typeface="Calibri"/>
              </a:rPr>
              <a:t>Structure-heavy</a:t>
            </a:r>
            <a:endParaRPr b="1" i="0" sz="1100" u="none" strike="noStrike">
              <a:solidFill>
                <a:srgbClr val="475569"/>
              </a:solidFill>
              <a:latin typeface="Calibri"/>
              <a:ea typeface="Calibri"/>
              <a:cs typeface="Calibri"/>
              <a:sym typeface="Calibri"/>
            </a:endParaRPr>
          </a:p>
        </p:txBody>
      </p:sp>
      <p:sp>
        <p:nvSpPr>
          <p:cNvPr id="271" name="Google Shape;271;p11"/>
          <p:cNvSpPr/>
          <p:nvPr/>
        </p:nvSpPr>
        <p:spPr>
          <a:xfrm>
            <a:off x="471487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0" lang="en-US" sz="1100">
                <a:solidFill>
                  <a:srgbClr val="475569"/>
                </a:solidFill>
                <a:latin typeface="Calibri"/>
                <a:ea typeface="Calibri"/>
                <a:cs typeface="Calibri"/>
                <a:sym typeface="Calibri"/>
              </a:rPr>
              <a:t>Spatial features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Strong shape priors</a:t>
            </a:r>
            <a:endParaRPr b="0" sz="1100">
              <a:solidFill>
                <a:srgbClr val="475569"/>
              </a:solidFill>
              <a:latin typeface="Calibri"/>
              <a:ea typeface="Calibri"/>
              <a:cs typeface="Calibri"/>
              <a:sym typeface="Calibri"/>
            </a:endParaRPr>
          </a:p>
          <a:p>
            <a:pPr indent="0" lvl="0" marL="0" rtl="0" algn="ctr">
              <a:spcBef>
                <a:spcPts val="600"/>
              </a:spcBef>
              <a:spcAft>
                <a:spcPts val="0"/>
              </a:spcAft>
              <a:buNone/>
            </a:pPr>
            <a:r>
              <a:rPr b="0" lang="en-US" sz="1100">
                <a:solidFill>
                  <a:srgbClr val="475569"/>
                </a:solidFill>
                <a:latin typeface="Calibri"/>
                <a:ea typeface="Calibri"/>
                <a:cs typeface="Calibri"/>
                <a:sym typeface="Calibri"/>
              </a:rPr>
              <a:t>Rigid object structure</a:t>
            </a:r>
            <a:endParaRPr b="0" sz="1100">
              <a:solidFill>
                <a:srgbClr val="475569"/>
              </a:solidFill>
              <a:latin typeface="Calibri"/>
              <a:ea typeface="Calibri"/>
              <a:cs typeface="Calibri"/>
              <a:sym typeface="Calibri"/>
            </a:endParaRPr>
          </a:p>
        </p:txBody>
      </p:sp>
      <p:sp>
        <p:nvSpPr>
          <p:cNvPr id="272" name="Google Shape;272;p11"/>
          <p:cNvSpPr/>
          <p:nvPr/>
        </p:nvSpPr>
        <p:spPr>
          <a:xfrm>
            <a:off x="6810375" y="952500"/>
            <a:ext cx="2047800" cy="2190900"/>
          </a:xfrm>
          <a:prstGeom prst="rect">
            <a:avLst/>
          </a:prstGeom>
          <a:solidFill>
            <a:srgbClr val="FFFFFF"/>
          </a:solidFill>
          <a:ln cap="flat" cmpd="sng" w="23825">
            <a:solidFill>
              <a:srgbClr val="1A365D"/>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11"/>
          <p:cNvSpPr/>
          <p:nvPr/>
        </p:nvSpPr>
        <p:spPr>
          <a:xfrm>
            <a:off x="6810375" y="952500"/>
            <a:ext cx="2047800" cy="476400"/>
          </a:xfrm>
          <a:prstGeom prst="rect">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4" name="Google Shape;274;p11"/>
          <p:cNvSpPr/>
          <p:nvPr/>
        </p:nvSpPr>
        <p:spPr>
          <a:xfrm>
            <a:off x="6810375" y="1190625"/>
            <a:ext cx="2047800" cy="238200"/>
          </a:xfrm>
          <a:prstGeom prst="rect">
            <a:avLst/>
          </a:prstGeom>
          <a:solidFill>
            <a:srgbClr val="1A365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5" name="Google Shape;275;p11"/>
          <p:cNvSpPr/>
          <p:nvPr/>
        </p:nvSpPr>
        <p:spPr>
          <a:xfrm>
            <a:off x="6810375" y="952500"/>
            <a:ext cx="20478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500">
                <a:solidFill>
                  <a:srgbClr val="FFFFFF"/>
                </a:solidFill>
                <a:latin typeface="Calibri"/>
                <a:ea typeface="Calibri"/>
                <a:cs typeface="Calibri"/>
                <a:sym typeface="Calibri"/>
              </a:rPr>
              <a:t>Oxford Flowers</a:t>
            </a:r>
            <a:endParaRPr b="1" sz="1500">
              <a:solidFill>
                <a:srgbClr val="FFFFFF"/>
              </a:solidFill>
              <a:latin typeface="Calibri"/>
              <a:ea typeface="Calibri"/>
              <a:cs typeface="Calibri"/>
              <a:sym typeface="Calibri"/>
            </a:endParaRPr>
          </a:p>
        </p:txBody>
      </p:sp>
      <p:sp>
        <p:nvSpPr>
          <p:cNvPr id="276" name="Google Shape;276;p11"/>
          <p:cNvSpPr/>
          <p:nvPr/>
        </p:nvSpPr>
        <p:spPr>
          <a:xfrm>
            <a:off x="6977063" y="1571625"/>
            <a:ext cx="1714500" cy="285900"/>
          </a:xfrm>
          <a:prstGeom prst="rect">
            <a:avLst/>
          </a:prstGeom>
          <a:solidFill>
            <a:srgbClr val="F0F4F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11"/>
          <p:cNvSpPr/>
          <p:nvPr/>
        </p:nvSpPr>
        <p:spPr>
          <a:xfrm>
            <a:off x="6977063" y="1571625"/>
            <a:ext cx="17145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0" lang="en-US" sz="1100">
                <a:solidFill>
                  <a:srgbClr val="1A365D"/>
                </a:solidFill>
                <a:latin typeface="Calibri"/>
                <a:ea typeface="Calibri"/>
                <a:cs typeface="Calibri"/>
                <a:sym typeface="Calibri"/>
              </a:rPr>
              <a:t>Balanced</a:t>
            </a:r>
            <a:endParaRPr b="1" i="0" sz="1100">
              <a:solidFill>
                <a:srgbClr val="1A365D"/>
              </a:solidFill>
              <a:latin typeface="Calibri"/>
              <a:ea typeface="Calibri"/>
              <a:cs typeface="Calibri"/>
              <a:sym typeface="Calibri"/>
            </a:endParaRPr>
          </a:p>
        </p:txBody>
      </p:sp>
      <p:sp>
        <p:nvSpPr>
          <p:cNvPr id="278" name="Google Shape;278;p11"/>
          <p:cNvSpPr/>
          <p:nvPr/>
        </p:nvSpPr>
        <p:spPr>
          <a:xfrm>
            <a:off x="6905625" y="2000250"/>
            <a:ext cx="1857300" cy="1047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ctr">
              <a:spcBef>
                <a:spcPts val="0"/>
              </a:spcBef>
              <a:spcAft>
                <a:spcPts val="0"/>
              </a:spcAft>
              <a:buNone/>
            </a:pPr>
            <a:r>
              <a:rPr b="1" lang="en-US" sz="1100">
                <a:solidFill>
                  <a:srgbClr val="1E293B"/>
                </a:solidFill>
                <a:latin typeface="Calibri"/>
                <a:ea typeface="Calibri"/>
                <a:cs typeface="Calibri"/>
                <a:sym typeface="Calibri"/>
              </a:rPr>
              <a:t>Optimal for analysis</a:t>
            </a:r>
            <a:endParaRPr b="1" sz="1100">
              <a:solidFill>
                <a:srgbClr val="1E293B"/>
              </a:solidFill>
              <a:latin typeface="Calibri"/>
              <a:ea typeface="Calibri"/>
              <a:cs typeface="Calibri"/>
              <a:sym typeface="Calibri"/>
            </a:endParaRPr>
          </a:p>
          <a:p>
            <a:pPr indent="0" lvl="0" marL="0" rtl="0" algn="ctr">
              <a:spcBef>
                <a:spcPts val="600"/>
              </a:spcBef>
              <a:spcAft>
                <a:spcPts val="0"/>
              </a:spcAft>
              <a:buNone/>
            </a:pPr>
            <a:r>
              <a:rPr b="1" lang="en-US" sz="1100">
                <a:solidFill>
                  <a:srgbClr val="1E293B"/>
                </a:solidFill>
                <a:latin typeface="Calibri"/>
                <a:ea typeface="Calibri"/>
                <a:cs typeface="Calibri"/>
                <a:sym typeface="Calibri"/>
              </a:rPr>
              <a:t>Clean class boundaries</a:t>
            </a:r>
            <a:endParaRPr b="1" sz="1100">
              <a:solidFill>
                <a:srgbClr val="1E293B"/>
              </a:solidFill>
              <a:latin typeface="Calibri"/>
              <a:ea typeface="Calibri"/>
              <a:cs typeface="Calibri"/>
              <a:sym typeface="Calibri"/>
            </a:endParaRPr>
          </a:p>
          <a:p>
            <a:pPr indent="0" lvl="0" marL="0" rtl="0" algn="ctr">
              <a:spcBef>
                <a:spcPts val="600"/>
              </a:spcBef>
              <a:spcAft>
                <a:spcPts val="0"/>
              </a:spcAft>
              <a:buNone/>
            </a:pPr>
            <a:r>
              <a:rPr b="1" lang="en-US" sz="1100">
                <a:solidFill>
                  <a:srgbClr val="1E293B"/>
                </a:solidFill>
                <a:latin typeface="Calibri"/>
                <a:ea typeface="Calibri"/>
                <a:cs typeface="Calibri"/>
                <a:sym typeface="Calibri"/>
              </a:rPr>
              <a:t>Uniform lighting conditions</a:t>
            </a:r>
            <a:endParaRPr b="1" sz="1100">
              <a:solidFill>
                <a:srgbClr val="1E293B"/>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Hierarchical Feature Progression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(2014 - 2018)</a:t>
            </a:r>
          </a:p>
          <a:p>
            <a:pPr>
              <a:spcAft>
                <a:spcPts val="400"/>
              </a:spcAft>
              <a:defRPr sz="950">
                <a:solidFill>
                  <a:srgbClr val="475569"/>
                </a:solidFill>
              </a:defRPr>
            </a:pPr>
            <a:r>
              <a:t>• Visual Feature Hierarchy (2014):</a:t>
            </a:r>
          </a:p>
          <a:p>
            <a:pPr>
              <a:spcAft>
                <a:spcPts val="400"/>
              </a:spcAft>
              <a:defRPr sz="950">
                <a:solidFill>
                  <a:srgbClr val="475569"/>
                </a:solidFill>
              </a:defRPr>
            </a:pPr>
            <a:r>
              <a:t>  Zeiler &amp; Fergus establish that CNNs learn representations incrementally: early layers capture local primitive shapes (edges, color blobs) while deep layers assemble them into high-level semantic shapes.</a:t>
            </a:r>
          </a:p>
          <a:p>
            <a:pPr>
              <a:spcAft>
                <a:spcPts val="400"/>
              </a:spcAft>
              <a:defRPr sz="950">
                <a:solidFill>
                  <a:srgbClr val="475569"/>
                </a:solidFill>
              </a:defRPr>
            </a:pPr>
          </a:p>
          <a:p>
            <a:pPr>
              <a:spcAft>
                <a:spcPts val="400"/>
              </a:spcAft>
              <a:defRPr sz="950">
                <a:solidFill>
                  <a:srgbClr val="475569"/>
                </a:solidFill>
              </a:defRPr>
            </a:pPr>
            <a:r>
              <a:t>• Piecewise Linear Decision Geometry (2018):</a:t>
            </a:r>
          </a:p>
          <a:p>
            <a:pPr>
              <a:spcAft>
                <a:spcPts val="400"/>
              </a:spcAft>
              <a:defRPr sz="950">
                <a:solidFill>
                  <a:srgbClr val="475569"/>
                </a:solidFill>
              </a:defRPr>
            </a:pPr>
            <a:r>
              <a:t>  Arora et al. prove that Rectified Linear Unit (ReLU) activations partition the input feature space into exponentially many linear decision regions, with activation sparsity acting as the key indicator of boundary complexity.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Zeiler &amp; Fergus, ECCV 2014</a:t>
            </a:r>
          </a:p>
          <a:p>
            <a:pPr>
              <a:spcAft>
                <a:spcPts val="400"/>
              </a:spcAft>
              <a:defRPr sz="950">
                <a:solidFill>
                  <a:srgbClr val="475569"/>
                </a:solidFill>
              </a:defRPr>
            </a:pPr>
            <a:r>
              <a:t>  - Title: 'Visualizing and Understanding Convolutional Networks'</a:t>
            </a:r>
          </a:p>
          <a:p>
            <a:pPr>
              <a:spcAft>
                <a:spcPts val="400"/>
              </a:spcAft>
              <a:defRPr sz="950">
                <a:solidFill>
                  <a:srgbClr val="475569"/>
                </a:solidFill>
              </a:defRPr>
            </a:pPr>
            <a:r>
              <a:t>  - Contribution: Established Deconvnet visualization to reveal hierarchical representation mapping.</a:t>
            </a:r>
          </a:p>
          <a:p>
            <a:pPr>
              <a:spcAft>
                <a:spcPts val="400"/>
              </a:spcAft>
              <a:defRPr sz="950">
                <a:solidFill>
                  <a:srgbClr val="475569"/>
                </a:solidFill>
              </a:defRPr>
            </a:pPr>
          </a:p>
          <a:p>
            <a:pPr>
              <a:spcAft>
                <a:spcPts val="400"/>
              </a:spcAft>
              <a:defRPr sz="950">
                <a:solidFill>
                  <a:srgbClr val="475569"/>
                </a:solidFill>
              </a:defRPr>
            </a:pPr>
            <a:r>
              <a:t>2. Arora et al., ICLR 2018</a:t>
            </a:r>
          </a:p>
          <a:p>
            <a:pPr>
              <a:spcAft>
                <a:spcPts val="400"/>
              </a:spcAft>
              <a:defRPr sz="950">
                <a:solidFill>
                  <a:srgbClr val="475569"/>
                </a:solidFill>
              </a:defRPr>
            </a:pPr>
            <a:r>
              <a:t>  - Title: 'Understanding Deep Neural Networks with Rectified Linear Units'</a:t>
            </a:r>
          </a:p>
          <a:p>
            <a:pPr>
              <a:spcAft>
                <a:spcPts val="400"/>
              </a:spcAft>
              <a:defRPr sz="950">
                <a:solidFill>
                  <a:srgbClr val="475569"/>
                </a:solidFill>
              </a:defRPr>
            </a:pPr>
            <a:r>
              <a:t>  - Contribution: Linked activation sparsity to decision boundary sharpness and generalizability.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Hierarchical Feature Progression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(2014 - 2018)</a:t>
            </a:r>
          </a:p>
          <a:p>
            <a:pPr>
              <a:spcAft>
                <a:spcPts val="400"/>
              </a:spcAft>
              <a:defRPr sz="950">
                <a:solidFill>
                  <a:srgbClr val="475569"/>
                </a:solidFill>
              </a:defRPr>
            </a:pPr>
            <a:r>
              <a:t>• Visual Feature Hierarchy (2014):</a:t>
            </a:r>
          </a:p>
          <a:p>
            <a:pPr>
              <a:spcAft>
                <a:spcPts val="400"/>
              </a:spcAft>
              <a:defRPr sz="950">
                <a:solidFill>
                  <a:srgbClr val="475569"/>
                </a:solidFill>
              </a:defRPr>
            </a:pPr>
            <a:r>
              <a:t>  Zeiler &amp; Fergus establish that CNNs learn representations incrementally: early layers capture local primitive shapes (edges, color blobs) while deep layers assemble them into high-level semantic shapes.</a:t>
            </a:r>
          </a:p>
          <a:p>
            <a:pPr>
              <a:spcAft>
                <a:spcPts val="400"/>
              </a:spcAft>
              <a:defRPr sz="950">
                <a:solidFill>
                  <a:srgbClr val="475569"/>
                </a:solidFill>
              </a:defRPr>
            </a:pPr>
          </a:p>
          <a:p>
            <a:pPr>
              <a:spcAft>
                <a:spcPts val="400"/>
              </a:spcAft>
              <a:defRPr sz="950">
                <a:solidFill>
                  <a:srgbClr val="475569"/>
                </a:solidFill>
              </a:defRPr>
            </a:pPr>
            <a:r>
              <a:t>• Piecewise Linear Decision Geometry (2018):</a:t>
            </a:r>
          </a:p>
          <a:p>
            <a:pPr>
              <a:spcAft>
                <a:spcPts val="400"/>
              </a:spcAft>
              <a:defRPr sz="950">
                <a:solidFill>
                  <a:srgbClr val="475569"/>
                </a:solidFill>
              </a:defRPr>
            </a:pPr>
            <a:r>
              <a:t>  Arora et al. prove that Rectified Linear Unit (ReLU) activations partition the input feature space into exponentially many linear decision regions, with activation sparsity acting as the key indicator of boundary complexity.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Zeiler &amp; Fergus, ECCV 2014</a:t>
            </a:r>
          </a:p>
          <a:p>
            <a:pPr>
              <a:spcAft>
                <a:spcPts val="400"/>
              </a:spcAft>
              <a:defRPr sz="950">
                <a:solidFill>
                  <a:srgbClr val="475569"/>
                </a:solidFill>
              </a:defRPr>
            </a:pPr>
            <a:r>
              <a:t>  - Title: 'Visualizing and Understanding Convolutional Networks'</a:t>
            </a:r>
          </a:p>
          <a:p>
            <a:pPr>
              <a:spcAft>
                <a:spcPts val="400"/>
              </a:spcAft>
              <a:defRPr sz="950">
                <a:solidFill>
                  <a:srgbClr val="475569"/>
                </a:solidFill>
              </a:defRPr>
            </a:pPr>
            <a:r>
              <a:t>  - Contribution: Established Deconvnet visualization to reveal hierarchical representation mapping.</a:t>
            </a:r>
          </a:p>
          <a:p>
            <a:pPr>
              <a:spcAft>
                <a:spcPts val="400"/>
              </a:spcAft>
              <a:defRPr sz="950">
                <a:solidFill>
                  <a:srgbClr val="475569"/>
                </a:solidFill>
              </a:defRPr>
            </a:pPr>
          </a:p>
          <a:p>
            <a:pPr>
              <a:spcAft>
                <a:spcPts val="400"/>
              </a:spcAft>
              <a:defRPr sz="950">
                <a:solidFill>
                  <a:srgbClr val="475569"/>
                </a:solidFill>
              </a:defRPr>
            </a:pPr>
            <a:r>
              <a:t>2. Arora et al., ICLR 2018</a:t>
            </a:r>
          </a:p>
          <a:p>
            <a:pPr>
              <a:spcAft>
                <a:spcPts val="400"/>
              </a:spcAft>
              <a:defRPr sz="950">
                <a:solidFill>
                  <a:srgbClr val="475569"/>
                </a:solidFill>
              </a:defRPr>
            </a:pPr>
            <a:r>
              <a:t>  - Title: 'Understanding Deep Neural Networks with Rectified Linear Units'</a:t>
            </a:r>
          </a:p>
          <a:p>
            <a:pPr>
              <a:spcAft>
                <a:spcPts val="400"/>
              </a:spcAft>
              <a:defRPr sz="950">
                <a:solidFill>
                  <a:srgbClr val="475569"/>
                </a:solidFill>
              </a:defRPr>
            </a:pPr>
            <a:r>
              <a:t>  - Contribution: Linked activation sparsity to decision boundary sharpness and generalizability.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Terminal-Phase Geometric Collapse</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(2020 - 2021)</a:t>
            </a:r>
          </a:p>
          <a:p>
            <a:pPr>
              <a:spcAft>
                <a:spcPts val="400"/>
              </a:spcAft>
              <a:defRPr sz="950">
                <a:solidFill>
                  <a:srgbClr val="475569"/>
                </a:solidFill>
              </a:defRPr>
            </a:pPr>
            <a:r>
              <a:t>• The Penultimate Phase Transition (2020):</a:t>
            </a:r>
          </a:p>
          <a:p>
            <a:pPr>
              <a:spcAft>
                <a:spcPts val="400"/>
              </a:spcAft>
              <a:defRPr sz="950">
                <a:solidFill>
                  <a:srgbClr val="475569"/>
                </a:solidFill>
              </a:defRPr>
            </a:pPr>
            <a:r>
              <a:t>  Papyan, Han, &amp; Donoho identify 'Neural Collapse' (NC) — a universal geometric phase transition occurring in the final hidden layer during the terminal phase of training.</a:t>
            </a:r>
          </a:p>
          <a:p>
            <a:pPr>
              <a:spcAft>
                <a:spcPts val="400"/>
              </a:spcAft>
              <a:defRPr sz="950">
                <a:solidFill>
                  <a:srgbClr val="475569"/>
                </a:solidFill>
              </a:defRPr>
            </a:pPr>
          </a:p>
          <a:p>
            <a:pPr>
              <a:spcAft>
                <a:spcPts val="400"/>
              </a:spcAft>
              <a:defRPr sz="950">
                <a:solidFill>
                  <a:srgbClr val="475569"/>
                </a:solidFill>
              </a:defRPr>
            </a:pPr>
            <a:r>
              <a:t>• Simplex ETF Formation:</a:t>
            </a:r>
          </a:p>
          <a:p>
            <a:pPr>
              <a:spcAft>
                <a:spcPts val="400"/>
              </a:spcAft>
              <a:defRPr sz="950">
                <a:solidFill>
                  <a:srgbClr val="475569"/>
                </a:solidFill>
              </a:defRPr>
            </a:pPr>
            <a:r>
              <a:t>  As training error reaches zero, representations collapse into their class means (NC1) and center themselves to form a Simplex Equiangular Tight Frame (NC2), where class centers maximize mutual distance.</a:t>
            </a:r>
          </a:p>
          <a:p>
            <a:pPr>
              <a:spcAft>
                <a:spcPts val="400"/>
              </a:spcAft>
              <a:defRPr sz="950">
                <a:solidFill>
                  <a:srgbClr val="475569"/>
                </a:solidFill>
              </a:defRPr>
            </a:pPr>
          </a:p>
          <a:p>
            <a:pPr>
              <a:spcAft>
                <a:spcPts val="400"/>
              </a:spcAft>
              <a:defRPr sz="950">
                <a:solidFill>
                  <a:srgbClr val="475569"/>
                </a:solidFill>
              </a:defRPr>
            </a:pPr>
            <a:r>
              <a:t>• Duality and Decision Equivalence:</a:t>
            </a:r>
          </a:p>
          <a:p>
            <a:pPr>
              <a:spcAft>
                <a:spcPts val="400"/>
              </a:spcAft>
              <a:defRPr sz="950">
                <a:solidFill>
                  <a:srgbClr val="475569"/>
                </a:solidFill>
              </a:defRPr>
            </a:pPr>
            <a:r>
              <a:t>  Classifier weights align with class means (NC3), simplifying inference to a Nearest-Class-Center (NCC) Euclidean distance rule (NC4).</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Papyan, Han, &amp; Donoho, PNAS 2020</a:t>
            </a:r>
          </a:p>
          <a:p>
            <a:pPr>
              <a:spcAft>
                <a:spcPts val="400"/>
              </a:spcAft>
              <a:defRPr sz="950">
                <a:solidFill>
                  <a:srgbClr val="475569"/>
                </a:solidFill>
              </a:defRPr>
            </a:pPr>
            <a:r>
              <a:t>  - Title: 'Prevalence of Neural Collapse during the terminal phase of deep learning training'</a:t>
            </a:r>
          </a:p>
          <a:p>
            <a:pPr>
              <a:spcAft>
                <a:spcPts val="400"/>
              </a:spcAft>
              <a:defRPr sz="950">
                <a:solidFill>
                  <a:srgbClr val="475569"/>
                </a:solidFill>
              </a:defRPr>
            </a:pPr>
            <a:r>
              <a:t>  - Contribution: Discovered and mathematically formalized the NC1–NC4 properties.</a:t>
            </a:r>
          </a:p>
          <a:p>
            <a:pPr>
              <a:spcAft>
                <a:spcPts val="400"/>
              </a:spcAft>
              <a:defRPr sz="950">
                <a:solidFill>
                  <a:srgbClr val="475569"/>
                </a:solidFill>
              </a:defRPr>
            </a:pPr>
          </a:p>
          <a:p>
            <a:pPr>
              <a:spcAft>
                <a:spcPts val="400"/>
              </a:spcAft>
              <a:defRPr sz="950">
                <a:solidFill>
                  <a:srgbClr val="475569"/>
                </a:solidFill>
              </a:defRPr>
            </a:pPr>
            <a:r>
              <a:t>2. Munn et al., arXiv 2024</a:t>
            </a:r>
          </a:p>
          <a:p>
            <a:pPr>
              <a:spcAft>
                <a:spcPts val="400"/>
              </a:spcAft>
              <a:defRPr sz="950">
                <a:solidFill>
                  <a:srgbClr val="475569"/>
                </a:solidFill>
              </a:defRPr>
            </a:pPr>
            <a:r>
              <a:t>  - Title: 'Geometric Complexity in Transfer Learning'</a:t>
            </a:r>
          </a:p>
          <a:p>
            <a:pPr>
              <a:spcAft>
                <a:spcPts val="400"/>
              </a:spcAft>
              <a:defRPr sz="950">
                <a:solidFill>
                  <a:srgbClr val="475569"/>
                </a:solidFill>
              </a:defRPr>
            </a:pPr>
            <a:r>
              <a:t>  - Contribution: Established that dataset complexity limits collapse completeness.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Terminal-Phase Geometric Collapse</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(2020 - 2021)</a:t>
            </a:r>
          </a:p>
          <a:p>
            <a:pPr>
              <a:spcAft>
                <a:spcPts val="400"/>
              </a:spcAft>
              <a:defRPr sz="950">
                <a:solidFill>
                  <a:srgbClr val="475569"/>
                </a:solidFill>
              </a:defRPr>
            </a:pPr>
            <a:r>
              <a:t>• The Penultimate Phase Transition (2020):</a:t>
            </a:r>
          </a:p>
          <a:p>
            <a:pPr>
              <a:spcAft>
                <a:spcPts val="400"/>
              </a:spcAft>
              <a:defRPr sz="950">
                <a:solidFill>
                  <a:srgbClr val="475569"/>
                </a:solidFill>
              </a:defRPr>
            </a:pPr>
            <a:r>
              <a:t>  Papyan, Han, &amp; Donoho identify 'Neural Collapse' (NC) — a universal geometric phase transition occurring in the final hidden layer during the terminal phase of training.</a:t>
            </a:r>
          </a:p>
          <a:p>
            <a:pPr>
              <a:spcAft>
                <a:spcPts val="400"/>
              </a:spcAft>
              <a:defRPr sz="950">
                <a:solidFill>
                  <a:srgbClr val="475569"/>
                </a:solidFill>
              </a:defRPr>
            </a:pPr>
          </a:p>
          <a:p>
            <a:pPr>
              <a:spcAft>
                <a:spcPts val="400"/>
              </a:spcAft>
              <a:defRPr sz="950">
                <a:solidFill>
                  <a:srgbClr val="475569"/>
                </a:solidFill>
              </a:defRPr>
            </a:pPr>
            <a:r>
              <a:t>• Simplex ETF Formation:</a:t>
            </a:r>
          </a:p>
          <a:p>
            <a:pPr>
              <a:spcAft>
                <a:spcPts val="400"/>
              </a:spcAft>
              <a:defRPr sz="950">
                <a:solidFill>
                  <a:srgbClr val="475569"/>
                </a:solidFill>
              </a:defRPr>
            </a:pPr>
            <a:r>
              <a:t>  As training error reaches zero, representations collapse into their class means (NC1) and center themselves to form a Simplex Equiangular Tight Frame (NC2), where class centers maximize mutual distance.</a:t>
            </a:r>
          </a:p>
          <a:p>
            <a:pPr>
              <a:spcAft>
                <a:spcPts val="400"/>
              </a:spcAft>
              <a:defRPr sz="950">
                <a:solidFill>
                  <a:srgbClr val="475569"/>
                </a:solidFill>
              </a:defRPr>
            </a:pPr>
          </a:p>
          <a:p>
            <a:pPr>
              <a:spcAft>
                <a:spcPts val="400"/>
              </a:spcAft>
              <a:defRPr sz="950">
                <a:solidFill>
                  <a:srgbClr val="475569"/>
                </a:solidFill>
              </a:defRPr>
            </a:pPr>
            <a:r>
              <a:t>• Duality and Decision Equivalence:</a:t>
            </a:r>
          </a:p>
          <a:p>
            <a:pPr>
              <a:spcAft>
                <a:spcPts val="400"/>
              </a:spcAft>
              <a:defRPr sz="950">
                <a:solidFill>
                  <a:srgbClr val="475569"/>
                </a:solidFill>
              </a:defRPr>
            </a:pPr>
            <a:r>
              <a:t>  Classifier weights align with class means (NC3), simplifying inference to a Nearest-Class-Center (NCC) Euclidean distance rule (NC4).</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Papyan, Han, &amp; Donoho, PNAS 2020</a:t>
            </a:r>
          </a:p>
          <a:p>
            <a:pPr>
              <a:spcAft>
                <a:spcPts val="400"/>
              </a:spcAft>
              <a:defRPr sz="950">
                <a:solidFill>
                  <a:srgbClr val="475569"/>
                </a:solidFill>
              </a:defRPr>
            </a:pPr>
            <a:r>
              <a:t>  - Title: 'Prevalence of Neural Collapse during the terminal phase of deep learning training'</a:t>
            </a:r>
          </a:p>
          <a:p>
            <a:pPr>
              <a:spcAft>
                <a:spcPts val="400"/>
              </a:spcAft>
              <a:defRPr sz="950">
                <a:solidFill>
                  <a:srgbClr val="475569"/>
                </a:solidFill>
              </a:defRPr>
            </a:pPr>
            <a:r>
              <a:t>  - Contribution: Discovered and mathematically formalized the NC1–NC4 properties.</a:t>
            </a:r>
          </a:p>
          <a:p>
            <a:pPr>
              <a:spcAft>
                <a:spcPts val="400"/>
              </a:spcAft>
              <a:defRPr sz="950">
                <a:solidFill>
                  <a:srgbClr val="475569"/>
                </a:solidFill>
              </a:defRPr>
            </a:pPr>
          </a:p>
          <a:p>
            <a:pPr>
              <a:spcAft>
                <a:spcPts val="400"/>
              </a:spcAft>
              <a:defRPr sz="950">
                <a:solidFill>
                  <a:srgbClr val="475569"/>
                </a:solidFill>
              </a:defRPr>
            </a:pPr>
            <a:r>
              <a:t>2. Munn et al., arXiv 2024</a:t>
            </a:r>
          </a:p>
          <a:p>
            <a:pPr>
              <a:spcAft>
                <a:spcPts val="400"/>
              </a:spcAft>
              <a:defRPr sz="950">
                <a:solidFill>
                  <a:srgbClr val="475569"/>
                </a:solidFill>
              </a:defRPr>
            </a:pPr>
            <a:r>
              <a:t>  - Title: 'Geometric Complexity in Transfer Learning'</a:t>
            </a:r>
          </a:p>
          <a:p>
            <a:pPr>
              <a:spcAft>
                <a:spcPts val="400"/>
              </a:spcAft>
              <a:defRPr sz="950">
                <a:solidFill>
                  <a:srgbClr val="475569"/>
                </a:solidFill>
              </a:defRPr>
            </a:pPr>
            <a:r>
              <a:t>  - Contribution: Established that dataset complexity limits collapse completeness.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 Calibration &amp; Boundary Distortion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(2024)</a:t>
            </a:r>
          </a:p>
          <a:p>
            <a:pPr>
              <a:spcAft>
                <a:spcPts val="400"/>
              </a:spcAft>
              <a:defRPr sz="950">
                <a:solidFill>
                  <a:srgbClr val="475569"/>
                </a:solidFill>
              </a:defRPr>
            </a:pPr>
            <a:r>
              <a:t>• Class Imbalance Distortion (2024):</a:t>
            </a:r>
          </a:p>
          <a:p>
            <a:pPr>
              <a:spcAft>
                <a:spcPts val="400"/>
              </a:spcAft>
              <a:defRPr sz="950">
                <a:solidFill>
                  <a:srgbClr val="475569"/>
                </a:solidFill>
              </a:defRPr>
            </a:pPr>
            <a:r>
              <a:t>  Hasegawa &amp; Sato show that training on skewed datasets pulls class means closer and distorts simplex symmetry, biasing decisions heavily toward majority classes.</a:t>
            </a:r>
          </a:p>
          <a:p>
            <a:pPr>
              <a:spcAft>
                <a:spcPts val="400"/>
              </a:spcAft>
              <a:defRPr sz="950">
                <a:solidFill>
                  <a:srgbClr val="475569"/>
                </a:solidFill>
              </a:defRPr>
            </a:pPr>
          </a:p>
          <a:p>
            <a:pPr>
              <a:spcAft>
                <a:spcPts val="400"/>
              </a:spcAft>
              <a:defRPr sz="950">
                <a:solidFill>
                  <a:srgbClr val="475569"/>
                </a:solidFill>
              </a:defRPr>
            </a:pPr>
            <a:r>
              <a:t>• Multiplicative Logit Adjustment (MLA):</a:t>
            </a:r>
          </a:p>
          <a:p>
            <a:pPr>
              <a:spcAft>
                <a:spcPts val="400"/>
              </a:spcAft>
              <a:defRPr sz="950">
                <a:solidFill>
                  <a:srgbClr val="475569"/>
                </a:solidFill>
              </a:defRPr>
            </a:pPr>
            <a:r>
              <a:t>  Introduced as a post-hoc calibration technique that scales logits by priors to restore boundary symmetry without retraining.</a:t>
            </a:r>
          </a:p>
          <a:p>
            <a:pPr>
              <a:spcAft>
                <a:spcPts val="400"/>
              </a:spcAft>
              <a:defRPr sz="950">
                <a:solidFill>
                  <a:srgbClr val="475569"/>
                </a:solidFill>
              </a:defRPr>
            </a:pPr>
          </a:p>
          <a:p>
            <a:pPr>
              <a:spcAft>
                <a:spcPts val="400"/>
              </a:spcAft>
              <a:defRPr sz="950">
                <a:solidFill>
                  <a:srgbClr val="475569"/>
                </a:solidFill>
              </a:defRPr>
            </a:pPr>
            <a:r>
              <a:t>• Spurious Shortcut Learning (2024):</a:t>
            </a:r>
          </a:p>
          <a:p>
            <a:pPr>
              <a:spcAft>
                <a:spcPts val="400"/>
              </a:spcAft>
              <a:defRPr sz="950">
                <a:solidFill>
                  <a:srgbClr val="475569"/>
                </a:solidFill>
              </a:defRPr>
            </a:pPr>
            <a:r>
              <a:t>  Wang et al. demonstrate that shortcut correlations (background bias) degrade simplex symmetry. Debiasing representations is necessary to recover clean collapse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Hasegawa &amp; Sato, arXiv 2024</a:t>
            </a:r>
          </a:p>
          <a:p>
            <a:pPr>
              <a:spcAft>
                <a:spcPts val="400"/>
              </a:spcAft>
              <a:defRPr sz="950">
                <a:solidFill>
                  <a:srgbClr val="475569"/>
                </a:solidFill>
              </a:defRPr>
            </a:pPr>
            <a:r>
              <a:t>  - Title: 'Multiplicative Logit Adjustment for Neural Collapse'</a:t>
            </a:r>
          </a:p>
          <a:p>
            <a:pPr>
              <a:spcAft>
                <a:spcPts val="400"/>
              </a:spcAft>
              <a:defRPr sz="950">
                <a:solidFill>
                  <a:srgbClr val="475569"/>
                </a:solidFill>
              </a:defRPr>
            </a:pPr>
            <a:r>
              <a:t>  - Contribution: Proposed post-hoc logit scaling to repair imbalance distortion.</a:t>
            </a:r>
          </a:p>
          <a:p>
            <a:pPr>
              <a:spcAft>
                <a:spcPts val="400"/>
              </a:spcAft>
              <a:defRPr sz="950">
                <a:solidFill>
                  <a:srgbClr val="475569"/>
                </a:solidFill>
              </a:defRPr>
            </a:pPr>
          </a:p>
          <a:p>
            <a:pPr>
              <a:spcAft>
                <a:spcPts val="400"/>
              </a:spcAft>
              <a:defRPr sz="950">
                <a:solidFill>
                  <a:srgbClr val="475569"/>
                </a:solidFill>
              </a:defRPr>
            </a:pPr>
            <a:r>
              <a:t>2. Wang et al., CVPR 2024</a:t>
            </a:r>
          </a:p>
          <a:p>
            <a:pPr>
              <a:spcAft>
                <a:spcPts val="400"/>
              </a:spcAft>
              <a:defRPr sz="950">
                <a:solidFill>
                  <a:srgbClr val="475569"/>
                </a:solidFill>
              </a:defRPr>
            </a:pPr>
            <a:r>
              <a:t>  - Title: 'Debiased Learning via Neural Collapse'</a:t>
            </a:r>
          </a:p>
          <a:p>
            <a:pPr>
              <a:spcAft>
                <a:spcPts val="400"/>
              </a:spcAft>
              <a:defRPr sz="950">
                <a:solidFill>
                  <a:srgbClr val="475569"/>
                </a:solidFill>
              </a:defRPr>
            </a:pPr>
            <a:r>
              <a:t>  - Contribution: Mapped shortcut learning to representation asymmetry.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 Calibration &amp; Boundary Distortion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(2024)</a:t>
            </a:r>
          </a:p>
          <a:p>
            <a:pPr>
              <a:spcAft>
                <a:spcPts val="400"/>
              </a:spcAft>
              <a:defRPr sz="950">
                <a:solidFill>
                  <a:srgbClr val="475569"/>
                </a:solidFill>
              </a:defRPr>
            </a:pPr>
            <a:r>
              <a:t>• Class Imbalance Distortion (2024):</a:t>
            </a:r>
          </a:p>
          <a:p>
            <a:pPr>
              <a:spcAft>
                <a:spcPts val="400"/>
              </a:spcAft>
              <a:defRPr sz="950">
                <a:solidFill>
                  <a:srgbClr val="475569"/>
                </a:solidFill>
              </a:defRPr>
            </a:pPr>
            <a:r>
              <a:t>  Hasegawa &amp; Sato show that training on skewed datasets pulls class means closer and distorts simplex symmetry, biasing decisions heavily toward majority classes.</a:t>
            </a:r>
          </a:p>
          <a:p>
            <a:pPr>
              <a:spcAft>
                <a:spcPts val="400"/>
              </a:spcAft>
              <a:defRPr sz="950">
                <a:solidFill>
                  <a:srgbClr val="475569"/>
                </a:solidFill>
              </a:defRPr>
            </a:pPr>
          </a:p>
          <a:p>
            <a:pPr>
              <a:spcAft>
                <a:spcPts val="400"/>
              </a:spcAft>
              <a:defRPr sz="950">
                <a:solidFill>
                  <a:srgbClr val="475569"/>
                </a:solidFill>
              </a:defRPr>
            </a:pPr>
            <a:r>
              <a:t>• Multiplicative Logit Adjustment (MLA):</a:t>
            </a:r>
          </a:p>
          <a:p>
            <a:pPr>
              <a:spcAft>
                <a:spcPts val="400"/>
              </a:spcAft>
              <a:defRPr sz="950">
                <a:solidFill>
                  <a:srgbClr val="475569"/>
                </a:solidFill>
              </a:defRPr>
            </a:pPr>
            <a:r>
              <a:t>  Introduced as a post-hoc calibration technique that scales logits by priors to restore boundary symmetry without retraining.</a:t>
            </a:r>
          </a:p>
          <a:p>
            <a:pPr>
              <a:spcAft>
                <a:spcPts val="400"/>
              </a:spcAft>
              <a:defRPr sz="950">
                <a:solidFill>
                  <a:srgbClr val="475569"/>
                </a:solidFill>
              </a:defRPr>
            </a:pPr>
          </a:p>
          <a:p>
            <a:pPr>
              <a:spcAft>
                <a:spcPts val="400"/>
              </a:spcAft>
              <a:defRPr sz="950">
                <a:solidFill>
                  <a:srgbClr val="475569"/>
                </a:solidFill>
              </a:defRPr>
            </a:pPr>
            <a:r>
              <a:t>• Spurious Shortcut Learning (2024):</a:t>
            </a:r>
          </a:p>
          <a:p>
            <a:pPr>
              <a:spcAft>
                <a:spcPts val="400"/>
              </a:spcAft>
              <a:defRPr sz="950">
                <a:solidFill>
                  <a:srgbClr val="475569"/>
                </a:solidFill>
              </a:defRPr>
            </a:pPr>
            <a:r>
              <a:t>  Wang et al. demonstrate that shortcut correlations (background bias) degrade simplex symmetry. Debiasing representations is necessary to recover clean collapse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Hasegawa &amp; Sato, arXiv 2024</a:t>
            </a:r>
          </a:p>
          <a:p>
            <a:pPr>
              <a:spcAft>
                <a:spcPts val="400"/>
              </a:spcAft>
              <a:defRPr sz="950">
                <a:solidFill>
                  <a:srgbClr val="475569"/>
                </a:solidFill>
              </a:defRPr>
            </a:pPr>
            <a:r>
              <a:t>  - Title: 'Multiplicative Logit Adjustment for Neural Collapse'</a:t>
            </a:r>
          </a:p>
          <a:p>
            <a:pPr>
              <a:spcAft>
                <a:spcPts val="400"/>
              </a:spcAft>
              <a:defRPr sz="950">
                <a:solidFill>
                  <a:srgbClr val="475569"/>
                </a:solidFill>
              </a:defRPr>
            </a:pPr>
            <a:r>
              <a:t>  - Contribution: Proposed post-hoc logit scaling to repair imbalance distortion.</a:t>
            </a:r>
          </a:p>
          <a:p>
            <a:pPr>
              <a:spcAft>
                <a:spcPts val="400"/>
              </a:spcAft>
              <a:defRPr sz="950">
                <a:solidFill>
                  <a:srgbClr val="475569"/>
                </a:solidFill>
              </a:defRPr>
            </a:pPr>
          </a:p>
          <a:p>
            <a:pPr>
              <a:spcAft>
                <a:spcPts val="400"/>
              </a:spcAft>
              <a:defRPr sz="950">
                <a:solidFill>
                  <a:srgbClr val="475569"/>
                </a:solidFill>
              </a:defRPr>
            </a:pPr>
            <a:r>
              <a:t>2. Wang et al., CVPR 2024</a:t>
            </a:r>
          </a:p>
          <a:p>
            <a:pPr>
              <a:spcAft>
                <a:spcPts val="400"/>
              </a:spcAft>
              <a:defRPr sz="950">
                <a:solidFill>
                  <a:srgbClr val="475569"/>
                </a:solidFill>
              </a:defRPr>
            </a:pPr>
            <a:r>
              <a:t>  - Title: 'Debiased Learning via Neural Collapse'</a:t>
            </a:r>
          </a:p>
          <a:p>
            <a:pPr>
              <a:spcAft>
                <a:spcPts val="400"/>
              </a:spcAft>
              <a:defRPr sz="950">
                <a:solidFill>
                  <a:srgbClr val="475569"/>
                </a:solidFill>
              </a:defRPr>
            </a:pPr>
            <a:r>
              <a:t>  - Contribution: Mapped shortcut learning to representation asymmetry.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Representation-Based Robustness &amp; OOD</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(2019 - 2025)</a:t>
            </a:r>
          </a:p>
          <a:p>
            <a:pPr>
              <a:spcAft>
                <a:spcPts val="400"/>
              </a:spcAft>
              <a:defRPr sz="950">
                <a:solidFill>
                  <a:srgbClr val="475569"/>
                </a:solidFill>
              </a:defRPr>
            </a:pPr>
            <a:r>
              <a:t>• Generalization Sensitivity under Shift (2019):</a:t>
            </a:r>
          </a:p>
          <a:p>
            <a:pPr>
              <a:spcAft>
                <a:spcPts val="400"/>
              </a:spcAft>
              <a:defRPr sz="950">
                <a:solidFill>
                  <a:srgbClr val="475569"/>
                </a:solidFill>
              </a:defRPr>
            </a:pPr>
            <a:r>
              <a:t>  Recht et al. demonstrate that minor distribution shifts drop classifier accuracy, revealing that representations easily overfit to dataset-specific biases.</a:t>
            </a:r>
          </a:p>
          <a:p>
            <a:pPr>
              <a:spcAft>
                <a:spcPts val="400"/>
              </a:spcAft>
              <a:defRPr sz="950">
                <a:solidFill>
                  <a:srgbClr val="475569"/>
                </a:solidFill>
              </a:defRPr>
            </a:pPr>
          </a:p>
          <a:p>
            <a:pPr>
              <a:spcAft>
                <a:spcPts val="400"/>
              </a:spcAft>
              <a:defRPr sz="950">
                <a:solidFill>
                  <a:srgbClr val="475569"/>
                </a:solidFill>
              </a:defRPr>
            </a:pPr>
            <a:r>
              <a:t>• Distance-Based OOD Isolation (2025):</a:t>
            </a:r>
          </a:p>
          <a:p>
            <a:pPr>
              <a:spcAft>
                <a:spcPts val="400"/>
              </a:spcAft>
              <a:defRPr sz="950">
                <a:solidFill>
                  <a:srgbClr val="475569"/>
                </a:solidFill>
              </a:defRPr>
            </a:pPr>
            <a:r>
              <a:t>  Liu &amp; Qin leverage Neural Collapse geometry for Out-of-Distribution (OOD) detection. Since in-distribution samples cluster tightly around simplex means, OOD inputs fall into the low-density spaces between centers, enabling clean distance-based separation.</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Recht et al., ICML 2019</a:t>
            </a:r>
          </a:p>
          <a:p>
            <a:pPr>
              <a:spcAft>
                <a:spcPts val="400"/>
              </a:spcAft>
              <a:defRPr sz="950">
                <a:solidFill>
                  <a:srgbClr val="475569"/>
                </a:solidFill>
              </a:defRPr>
            </a:pPr>
            <a:r>
              <a:t>  - Title: 'Do ImageNet Classifiers Generalize to ImageNet?'</a:t>
            </a:r>
          </a:p>
          <a:p>
            <a:pPr>
              <a:spcAft>
                <a:spcPts val="400"/>
              </a:spcAft>
              <a:defRPr sz="950">
                <a:solidFill>
                  <a:srgbClr val="475569"/>
                </a:solidFill>
              </a:defRPr>
            </a:pPr>
            <a:r>
              <a:t>  - Contribution: Discovered the generalization gap under minor distribution shift.</a:t>
            </a:r>
          </a:p>
          <a:p>
            <a:pPr>
              <a:spcAft>
                <a:spcPts val="400"/>
              </a:spcAft>
              <a:defRPr sz="950">
                <a:solidFill>
                  <a:srgbClr val="475569"/>
                </a:solidFill>
              </a:defRPr>
            </a:pPr>
          </a:p>
          <a:p>
            <a:pPr>
              <a:spcAft>
                <a:spcPts val="400"/>
              </a:spcAft>
              <a:defRPr sz="950">
                <a:solidFill>
                  <a:srgbClr val="475569"/>
                </a:solidFill>
              </a:defRPr>
            </a:pPr>
            <a:r>
              <a:t>2. Liu &amp; Qin, CVPR 2025</a:t>
            </a:r>
          </a:p>
          <a:p>
            <a:pPr>
              <a:spcAft>
                <a:spcPts val="400"/>
              </a:spcAft>
              <a:defRPr sz="950">
                <a:solidFill>
                  <a:srgbClr val="475569"/>
                </a:solidFill>
              </a:defRPr>
            </a:pPr>
            <a:r>
              <a:t>  - Title: 'Detecting Out-of-Distribution through the Lens of Neural Collapse'</a:t>
            </a:r>
          </a:p>
          <a:p>
            <a:pPr>
              <a:spcAft>
                <a:spcPts val="400"/>
              </a:spcAft>
              <a:defRPr sz="950">
                <a:solidFill>
                  <a:srgbClr val="475569"/>
                </a:solidFill>
              </a:defRPr>
            </a:pPr>
            <a:r>
              <a:t>  - Contribution: Proposed distance-to-centers OOD separation utilizing NC geometry.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Literature: Representation-Based Robustness &amp; OOD</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Chronological Evolution (2019 - 2025)</a:t>
            </a:r>
          </a:p>
          <a:p>
            <a:pPr>
              <a:spcAft>
                <a:spcPts val="400"/>
              </a:spcAft>
              <a:defRPr sz="950">
                <a:solidFill>
                  <a:srgbClr val="475569"/>
                </a:solidFill>
              </a:defRPr>
            </a:pPr>
            <a:r>
              <a:t>• Generalization Sensitivity under Shift (2019):</a:t>
            </a:r>
          </a:p>
          <a:p>
            <a:pPr>
              <a:spcAft>
                <a:spcPts val="400"/>
              </a:spcAft>
              <a:defRPr sz="950">
                <a:solidFill>
                  <a:srgbClr val="475569"/>
                </a:solidFill>
              </a:defRPr>
            </a:pPr>
            <a:r>
              <a:t>  Recht et al. demonstrate that minor distribution shifts drop classifier accuracy, revealing that representations easily overfit to dataset-specific biases.</a:t>
            </a:r>
          </a:p>
          <a:p>
            <a:pPr>
              <a:spcAft>
                <a:spcPts val="400"/>
              </a:spcAft>
              <a:defRPr sz="950">
                <a:solidFill>
                  <a:srgbClr val="475569"/>
                </a:solidFill>
              </a:defRPr>
            </a:pPr>
          </a:p>
          <a:p>
            <a:pPr>
              <a:spcAft>
                <a:spcPts val="400"/>
              </a:spcAft>
              <a:defRPr sz="950">
                <a:solidFill>
                  <a:srgbClr val="475569"/>
                </a:solidFill>
              </a:defRPr>
            </a:pPr>
            <a:r>
              <a:t>• Distance-Based OOD Isolation (2025):</a:t>
            </a:r>
          </a:p>
          <a:p>
            <a:pPr>
              <a:spcAft>
                <a:spcPts val="400"/>
              </a:spcAft>
              <a:defRPr sz="950">
                <a:solidFill>
                  <a:srgbClr val="475569"/>
                </a:solidFill>
              </a:defRPr>
            </a:pPr>
            <a:r>
              <a:t>  Liu &amp; Qin leverage Neural Collapse geometry for Out-of-Distribution (OOD) detection. Since in-distribution samples cluster tightly around simplex means, OOD inputs fall into the low-density spaces between centers, enabling clean distance-based separation.</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Cited Papers</a:t>
            </a:r>
          </a:p>
          <a:p>
            <a:pPr>
              <a:spcAft>
                <a:spcPts val="400"/>
              </a:spcAft>
              <a:defRPr sz="950">
                <a:solidFill>
                  <a:srgbClr val="475569"/>
                </a:solidFill>
              </a:defRPr>
            </a:pPr>
            <a:r>
              <a:t>1. Recht et al., ICML 2019</a:t>
            </a:r>
          </a:p>
          <a:p>
            <a:pPr>
              <a:spcAft>
                <a:spcPts val="400"/>
              </a:spcAft>
              <a:defRPr sz="950">
                <a:solidFill>
                  <a:srgbClr val="475569"/>
                </a:solidFill>
              </a:defRPr>
            </a:pPr>
            <a:r>
              <a:t>  - Title: 'Do ImageNet Classifiers Generalize to ImageNet?'</a:t>
            </a:r>
          </a:p>
          <a:p>
            <a:pPr>
              <a:spcAft>
                <a:spcPts val="400"/>
              </a:spcAft>
              <a:defRPr sz="950">
                <a:solidFill>
                  <a:srgbClr val="475569"/>
                </a:solidFill>
              </a:defRPr>
            </a:pPr>
            <a:r>
              <a:t>  - Contribution: Discovered the generalization gap under minor distribution shift.</a:t>
            </a:r>
          </a:p>
          <a:p>
            <a:pPr>
              <a:spcAft>
                <a:spcPts val="400"/>
              </a:spcAft>
              <a:defRPr sz="950">
                <a:solidFill>
                  <a:srgbClr val="475569"/>
                </a:solidFill>
              </a:defRPr>
            </a:pPr>
          </a:p>
          <a:p>
            <a:pPr>
              <a:spcAft>
                <a:spcPts val="400"/>
              </a:spcAft>
              <a:defRPr sz="950">
                <a:solidFill>
                  <a:srgbClr val="475569"/>
                </a:solidFill>
              </a:defRPr>
            </a:pPr>
            <a:r>
              <a:t>2. Liu &amp; Qin, CVPR 2025</a:t>
            </a:r>
          </a:p>
          <a:p>
            <a:pPr>
              <a:spcAft>
                <a:spcPts val="400"/>
              </a:spcAft>
              <a:defRPr sz="950">
                <a:solidFill>
                  <a:srgbClr val="475569"/>
                </a:solidFill>
              </a:defRPr>
            </a:pPr>
            <a:r>
              <a:t>  - Title: 'Detecting Out-of-Distribution through the Lens of Neural Collapse'</a:t>
            </a:r>
          </a:p>
          <a:p>
            <a:pPr>
              <a:spcAft>
                <a:spcPts val="400"/>
              </a:spcAft>
              <a:defRPr sz="950">
                <a:solidFill>
                  <a:srgbClr val="475569"/>
                </a:solidFill>
              </a:defRPr>
            </a:pPr>
            <a:r>
              <a:t>  - Contribution: Proposed distance-to-centers OOD separation utilizing NC geometry.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Training &amp; Validation Accuracy (100 Epochs)</a:t>
            </a:r>
            <a:endParaRPr b="0" i="0" sz="2400" u="none" cap="none" strike="noStrike">
              <a:solidFill>
                <a:schemeClr val="dk1"/>
              </a:solidFill>
              <a:latin typeface="Calibri"/>
              <a:ea typeface="Calibri"/>
              <a:cs typeface="Calibri"/>
              <a:sym typeface="Calibri"/>
            </a:endParaRPr>
          </a:p>
        </p:txBody>
      </p:sp>
      <p:pic>
        <p:nvPicPr>
          <p:cNvPr id="60" name="Picture 59" descr="loss_curve.png"/>
          <p:cNvPicPr>
            <a:picLocks noChangeAspect="1"/>
          </p:cNvPicPr>
          <p:nvPr/>
        </p:nvPicPr>
        <p:blipFill>
          <a:blip r:embed="rId2"/>
          <a:stretch>
            <a:fillRect/>
          </a:stretch>
        </p:blipFill>
        <p:spPr>
          <a:xfrm>
            <a:off x="457200" y="1188720"/>
            <a:ext cx="3931920" cy="2743200"/>
          </a:xfrm>
          <a:prstGeom prst="rect">
            <a:avLst/>
          </a:prstGeom>
        </p:spPr>
      </p:pic>
      <p:pic>
        <p:nvPicPr>
          <p:cNvPr id="61" name="Picture 60" descr="accuracy_curves.png"/>
          <p:cNvPicPr>
            <a:picLocks noChangeAspect="1"/>
          </p:cNvPicPr>
          <p:nvPr/>
        </p:nvPicPr>
        <p:blipFill>
          <a:blip r:embed="rId3"/>
          <a:stretch>
            <a:fillRect/>
          </a:stretch>
        </p:blipFill>
        <p:spPr>
          <a:xfrm>
            <a:off x="4754880" y="1188720"/>
            <a:ext cx="3931920" cy="2743200"/>
          </a:xfrm>
          <a:prstGeom prst="rect">
            <a:avLst/>
          </a:prstGeom>
        </p:spPr>
      </p:pic>
      <p:sp>
        <p:nvSpPr>
          <p:cNvPr id="62" name="Rounded Rectangle 61"/>
          <p:cNvSpPr/>
          <p:nvPr/>
        </p:nvSpPr>
        <p:spPr>
          <a:xfrm>
            <a:off x="457200" y="4114800"/>
            <a:ext cx="8229600" cy="8686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Observations — 100 Epoch Training Convergence</a:t>
            </a:r>
          </a:p>
          <a:p>
            <a:pPr>
              <a:spcAft>
                <a:spcPts val="400"/>
              </a:spcAft>
              <a:defRPr sz="950">
                <a:solidFill>
                  <a:srgbClr val="475569"/>
                </a:solidFill>
              </a:defRPr>
            </a:pPr>
            <a:r>
              <a:t>• Validation Accuracy per Exit (Epoch 100): Exit 1 (34.90%), Exit 2 (67.88%), Exit 3 (79.35%), Exit 4 (82.06%). Peak Exit 4 accuracy reached 82.68% at epoch 47.</a:t>
            </a:r>
          </a:p>
          <a:p>
            <a:pPr>
              <a:spcAft>
                <a:spcPts val="400"/>
              </a:spcAft>
              <a:defRPr sz="950">
                <a:solidFill>
                  <a:srgbClr val="475569"/>
                </a:solidFill>
              </a:defRPr>
            </a:pPr>
            <a:r>
              <a:t>• The Cosine Annealing learning rate schedule ensured non-overfitting, stable convergence across all 4 exits on Oxford Flowers 102.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Training &amp; Validation Accuracy (100 Epochs)</a:t>
            </a:r>
            <a:endParaRPr b="0" i="0" sz="2400" u="none" cap="none" strike="noStrike">
              <a:solidFill>
                <a:schemeClr val="dk1"/>
              </a:solidFill>
              <a:latin typeface="Calibri"/>
              <a:ea typeface="Calibri"/>
              <a:cs typeface="Calibri"/>
              <a:sym typeface="Calibri"/>
            </a:endParaRPr>
          </a:p>
        </p:txBody>
      </p:sp>
      <p:pic>
        <p:nvPicPr>
          <p:cNvPr id="60" name="Picture 59" descr="loss_curve.png"/>
          <p:cNvPicPr>
            <a:picLocks noChangeAspect="1"/>
          </p:cNvPicPr>
          <p:nvPr/>
        </p:nvPicPr>
        <p:blipFill>
          <a:blip r:embed="rId2"/>
          <a:stretch>
            <a:fillRect/>
          </a:stretch>
        </p:blipFill>
        <p:spPr>
          <a:xfrm>
            <a:off x="457200" y="1188720"/>
            <a:ext cx="3931920" cy="2743200"/>
          </a:xfrm>
          <a:prstGeom prst="rect">
            <a:avLst/>
          </a:prstGeom>
        </p:spPr>
      </p:pic>
      <p:pic>
        <p:nvPicPr>
          <p:cNvPr id="61" name="Picture 60" descr="accuracy_curves.png"/>
          <p:cNvPicPr>
            <a:picLocks noChangeAspect="1"/>
          </p:cNvPicPr>
          <p:nvPr/>
        </p:nvPicPr>
        <p:blipFill>
          <a:blip r:embed="rId3"/>
          <a:stretch>
            <a:fillRect/>
          </a:stretch>
        </p:blipFill>
        <p:spPr>
          <a:xfrm>
            <a:off x="4754880" y="1188720"/>
            <a:ext cx="3931920" cy="2743200"/>
          </a:xfrm>
          <a:prstGeom prst="rect">
            <a:avLst/>
          </a:prstGeom>
        </p:spPr>
      </p:pic>
      <p:sp>
        <p:nvSpPr>
          <p:cNvPr id="62" name="Rounded Rectangle 61"/>
          <p:cNvSpPr/>
          <p:nvPr/>
        </p:nvSpPr>
        <p:spPr>
          <a:xfrm>
            <a:off x="457200" y="4114800"/>
            <a:ext cx="8229600" cy="8686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Observations — 100 Epoch Training Convergence</a:t>
            </a:r>
          </a:p>
          <a:p>
            <a:pPr>
              <a:spcAft>
                <a:spcPts val="400"/>
              </a:spcAft>
              <a:defRPr sz="950">
                <a:solidFill>
                  <a:srgbClr val="475569"/>
                </a:solidFill>
              </a:defRPr>
            </a:pPr>
            <a:r>
              <a:t>• Validation Accuracy per Exit (Epoch 100): Exit 1 (34.90%), Exit 2 (67.88%), Exit 3 (79.35%), Exit 4 (82.06%). Peak Exit 4 accuracy reached 82.68% at epoch 47.</a:t>
            </a:r>
          </a:p>
          <a:p>
            <a:pPr>
              <a:spcAft>
                <a:spcPts val="400"/>
              </a:spcAft>
              <a:defRPr sz="950">
                <a:solidFill>
                  <a:srgbClr val="475569"/>
                </a:solidFill>
              </a:defRPr>
            </a:pPr>
            <a:r>
              <a:t>• The Cosine Annealing learning rate schedule ensured non-overfitting, stable convergence across all 4 exits on Oxford Flowers 102.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Layer-wise Neural Collapse Evolution</a:t>
            </a:r>
            <a:endParaRPr b="0" i="0" sz="2400" u="none" cap="none" strike="noStrike">
              <a:solidFill>
                <a:schemeClr val="dk1"/>
              </a:solidFill>
              <a:latin typeface="Calibri"/>
              <a:ea typeface="Calibri"/>
              <a:cs typeface="Calibri"/>
              <a:sym typeface="Calibri"/>
            </a:endParaRPr>
          </a:p>
        </p:txBody>
      </p:sp>
      <p:pic>
        <p:nvPicPr>
          <p:cNvPr id="60" name="Picture 59" descr="nc_evolution.png"/>
          <p:cNvPicPr>
            <a:picLocks noChangeAspect="1"/>
          </p:cNvPicPr>
          <p:nvPr/>
        </p:nvPicPr>
        <p:blipFill>
          <a:blip r:embed="rId2"/>
          <a:stretch>
            <a:fillRect/>
          </a:stretch>
        </p:blipFill>
        <p:spPr>
          <a:xfrm>
            <a:off x="457200" y="1188720"/>
            <a:ext cx="5029200" cy="2926080"/>
          </a:xfrm>
          <a:prstGeom prst="rect">
            <a:avLst/>
          </a:prstGeom>
        </p:spPr>
      </p:pic>
      <p:sp>
        <p:nvSpPr>
          <p:cNvPr id="61" name="Rounded Rectangle 60"/>
          <p:cNvSpPr/>
          <p:nvPr/>
        </p:nvSpPr>
        <p:spPr>
          <a:xfrm>
            <a:off x="5669280" y="1188720"/>
            <a:ext cx="3017520" cy="29260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Analysis of NC1 - NC4 Evolution</a:t>
            </a:r>
          </a:p>
          <a:p>
            <a:pPr>
              <a:spcAft>
                <a:spcPts val="400"/>
              </a:spcAft>
              <a:defRPr sz="950">
                <a:solidFill>
                  <a:srgbClr val="475569"/>
                </a:solidFill>
              </a:defRPr>
            </a:pPr>
            <a:r>
              <a:t>• NC1 (Sw/Sb Collapse): Decreases monotonically from 0.831 at Layer 1 down to 0.624 at Layer 4, showing feature clustering.</a:t>
            </a:r>
          </a:p>
          <a:p>
            <a:pPr>
              <a:spcAft>
                <a:spcPts val="400"/>
              </a:spcAft>
              <a:defRPr sz="950">
                <a:solidFill>
                  <a:srgbClr val="475569"/>
                </a:solidFill>
              </a:defRPr>
            </a:pPr>
            <a:r>
              <a:t>• NC2 (Simplex ETF): Pairwise cosine similarity approaches target limit (-0.0099) at deeper layers.</a:t>
            </a:r>
          </a:p>
          <a:p>
            <a:pPr>
              <a:spcAft>
                <a:spcPts val="400"/>
              </a:spcAft>
              <a:defRPr sz="950">
                <a:solidFill>
                  <a:srgbClr val="475569"/>
                </a:solidFill>
              </a:defRPr>
            </a:pPr>
            <a:r>
              <a:t>• NC3 (Classifier Alignment): Strong alignment (&gt;0.70 mean cosine sim) maintained across all exit classifiers.</a:t>
            </a:r>
          </a:p>
          <a:p>
            <a:pPr>
              <a:spcAft>
                <a:spcPts val="400"/>
              </a:spcAft>
              <a:defRPr sz="950">
                <a:solidFill>
                  <a:srgbClr val="475569"/>
                </a:solidFill>
              </a:defRPr>
            </a:pPr>
            <a:r>
              <a:t>• NC4 (NCC Accuracy): Increases monotonically from 38.0% at Layer 1 to 84.4% at Layer 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Quantitative Neural Collapse Summary (Epoch 100)</a:t>
            </a:r>
            <a:endParaRPr b="0" i="0" sz="2400" u="none" cap="none" strike="noStrike">
              <a:solidFill>
                <a:schemeClr val="dk1"/>
              </a:solidFill>
              <a:latin typeface="Calibri"/>
              <a:ea typeface="Calibri"/>
              <a:cs typeface="Calibri"/>
              <a:sym typeface="Calibri"/>
            </a:endParaRPr>
          </a:p>
        </p:txBody>
      </p:sp>
      <p:graphicFrame>
        <p:nvGraphicFramePr>
          <p:cNvPr id="60" name="Table 59"/>
          <p:cNvGraphicFramePr>
            <a:graphicFrameLocks noGrp="1"/>
          </p:cNvGraphicFramePr>
          <p:nvPr/>
        </p:nvGraphicFramePr>
        <p:xfrm>
          <a:off x="457200" y="1188720"/>
          <a:ext cx="8229600" cy="201168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402336">
                <a:tc>
                  <a:txBody>
                    <a:bodyPr/>
                    <a:lstStyle/>
                    <a:p>
                      <a:pPr algn="ctr">
                        <a:defRPr b="1" sz="1000">
                          <a:solidFill>
                            <a:srgbClr val="FFFFFF"/>
                          </a:solidFill>
                        </a:defRPr>
                      </a:pPr>
                      <a:r>
                        <a:t>Metric</a:t>
                      </a:r>
                    </a:p>
                  </a:txBody>
                  <a:tcPr>
                    <a:solidFill>
                      <a:srgbClr val="0E7490"/>
                    </a:solidFill>
                  </a:tcPr>
                </a:tc>
                <a:tc>
                  <a:txBody>
                    <a:bodyPr/>
                    <a:lstStyle/>
                    <a:p>
                      <a:pPr algn="ctr">
                        <a:defRPr b="1" sz="1000">
                          <a:solidFill>
                            <a:srgbClr val="FFFFFF"/>
                          </a:solidFill>
                        </a:defRPr>
                      </a:pPr>
                      <a:r>
                        <a:t>Layer 1 (64-d)</a:t>
                      </a:r>
                    </a:p>
                  </a:txBody>
                  <a:tcPr>
                    <a:solidFill>
                      <a:srgbClr val="0E7490"/>
                    </a:solidFill>
                  </a:tcPr>
                </a:tc>
                <a:tc>
                  <a:txBody>
                    <a:bodyPr/>
                    <a:lstStyle/>
                    <a:p>
                      <a:pPr algn="ctr">
                        <a:defRPr b="1" sz="1000">
                          <a:solidFill>
                            <a:srgbClr val="FFFFFF"/>
                          </a:solidFill>
                        </a:defRPr>
                      </a:pPr>
                      <a:r>
                        <a:t>Layer 2 (128-d)</a:t>
                      </a:r>
                    </a:p>
                  </a:txBody>
                  <a:tcPr>
                    <a:solidFill>
                      <a:srgbClr val="0E7490"/>
                    </a:solidFill>
                  </a:tcPr>
                </a:tc>
                <a:tc>
                  <a:txBody>
                    <a:bodyPr/>
                    <a:lstStyle/>
                    <a:p>
                      <a:pPr algn="ctr">
                        <a:defRPr b="1" sz="1000">
                          <a:solidFill>
                            <a:srgbClr val="FFFFFF"/>
                          </a:solidFill>
                        </a:defRPr>
                      </a:pPr>
                      <a:r>
                        <a:t>Layer 3 (256-d)</a:t>
                      </a:r>
                    </a:p>
                  </a:txBody>
                  <a:tcPr>
                    <a:solidFill>
                      <a:srgbClr val="0E7490"/>
                    </a:solidFill>
                  </a:tcPr>
                </a:tc>
                <a:tc>
                  <a:txBody>
                    <a:bodyPr/>
                    <a:lstStyle/>
                    <a:p>
                      <a:pPr algn="ctr">
                        <a:defRPr b="1" sz="1000">
                          <a:solidFill>
                            <a:srgbClr val="FFFFFF"/>
                          </a:solidFill>
                        </a:defRPr>
                      </a:pPr>
                      <a:r>
                        <a:t>Layer 4 (512-d)</a:t>
                      </a:r>
                    </a:p>
                  </a:txBody>
                  <a:tcPr>
                    <a:solidFill>
                      <a:srgbClr val="0E7490"/>
                    </a:solidFill>
                  </a:tcPr>
                </a:tc>
                <a:tc>
                  <a:txBody>
                    <a:bodyPr/>
                    <a:lstStyle/>
                    <a:p>
                      <a:pPr algn="ctr">
                        <a:defRPr b="1" sz="1000">
                          <a:solidFill>
                            <a:srgbClr val="FFFFFF"/>
                          </a:solidFill>
                        </a:defRPr>
                      </a:pPr>
                      <a:r>
                        <a:t>Trend</a:t>
                      </a:r>
                    </a:p>
                  </a:txBody>
                  <a:tcPr>
                    <a:solidFill>
                      <a:srgbClr val="0E7490"/>
                    </a:solidFill>
                  </a:tcPr>
                </a:tc>
              </a:tr>
              <a:tr h="402336">
                <a:tc>
                  <a:txBody>
                    <a:bodyPr/>
                    <a:lstStyle/>
                    <a:p>
                      <a:pPr algn="ctr">
                        <a:defRPr sz="950">
                          <a:solidFill>
                            <a:srgbClr val="0F172A"/>
                          </a:solidFill>
                        </a:defRPr>
                      </a:pPr>
                      <a:r>
                        <a:t>NC1 (Sw/Sb) ↓ better</a:t>
                      </a:r>
                    </a:p>
                  </a:txBody>
                  <a:tcPr>
                    <a:solidFill>
                      <a:srgbClr val="F1F5F9"/>
                    </a:solidFill>
                  </a:tcPr>
                </a:tc>
                <a:tc>
                  <a:txBody>
                    <a:bodyPr/>
                    <a:lstStyle/>
                    <a:p>
                      <a:pPr algn="ctr">
                        <a:defRPr sz="950">
                          <a:solidFill>
                            <a:srgbClr val="0F172A"/>
                          </a:solidFill>
                        </a:defRPr>
                      </a:pPr>
                      <a:r>
                        <a:t>0.831</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0.624</a:t>
                      </a:r>
                    </a:p>
                  </a:txBody>
                  <a:tcPr>
                    <a:solidFill>
                      <a:srgbClr val="F1F5F9"/>
                    </a:solidFill>
                  </a:tcPr>
                </a:tc>
                <a:tc>
                  <a:txBody>
                    <a:bodyPr/>
                    <a:lstStyle/>
                    <a:p>
                      <a:pPr algn="ctr">
                        <a:defRPr sz="950">
                          <a:solidFill>
                            <a:srgbClr val="0F172A"/>
                          </a:solidFill>
                        </a:defRPr>
                      </a:pPr>
                      <a:r>
                        <a:t>Monotonic Collapse ↓</a:t>
                      </a:r>
                    </a:p>
                  </a:txBody>
                  <a:tcPr>
                    <a:solidFill>
                      <a:srgbClr val="F1F5F9"/>
                    </a:solidFill>
                  </a:tcPr>
                </a:tc>
              </a:tr>
              <a:tr h="402336">
                <a:tc>
                  <a:txBody>
                    <a:bodyPr/>
                    <a:lstStyle/>
                    <a:p>
                      <a:pPr algn="ctr">
                        <a:defRPr sz="950">
                          <a:solidFill>
                            <a:srgbClr val="0F172A"/>
                          </a:solidFill>
                        </a:defRPr>
                      </a:pPr>
                      <a:r>
                        <a:t>NC2 (pair cos sim) → -0.0099</a:t>
                      </a:r>
                    </a:p>
                  </a:txBody>
                  <a:tcPr>
                    <a:solidFill>
                      <a:srgbClr val="FFFFFF"/>
                    </a:solidFill>
                  </a:tcPr>
                </a:tc>
                <a:tc>
                  <a:txBody>
                    <a:bodyPr/>
                    <a:lstStyle/>
                    <a:p>
                      <a:pPr algn="ctr">
                        <a:defRPr sz="950">
                          <a:solidFill>
                            <a:srgbClr val="0F172A"/>
                          </a:solidFill>
                        </a:defRPr>
                      </a:pPr>
                      <a:r>
                        <a:t>0.0047</a:t>
                      </a:r>
                    </a:p>
                  </a:txBody>
                  <a:tcPr>
                    <a:solidFill>
                      <a:srgbClr val="FFFFFF"/>
                    </a:solidFill>
                  </a:tcPr>
                </a:tc>
                <a:tc>
                  <a:txBody>
                    <a:bodyPr/>
                    <a:lstStyle/>
                    <a:p>
                      <a:pPr algn="ctr">
                        <a:defRPr sz="950">
                          <a:solidFill>
                            <a:srgbClr val="0F172A"/>
                          </a:solidFill>
                        </a:defRPr>
                      </a:pPr>
                      <a:r>
                        <a:t>-0.0034</a:t>
                      </a:r>
                    </a:p>
                  </a:txBody>
                  <a:tcPr>
                    <a:solidFill>
                      <a:srgbClr val="FFFFFF"/>
                    </a:solidFill>
                  </a:tcPr>
                </a:tc>
                <a:tc>
                  <a:txBody>
                    <a:bodyPr/>
                    <a:lstStyle/>
                    <a:p>
                      <a:pPr algn="ctr">
                        <a:defRPr sz="950">
                          <a:solidFill>
                            <a:srgbClr val="0F172A"/>
                          </a:solidFill>
                        </a:defRPr>
                      </a:pPr>
                      <a:r>
                        <a:t>-0.0036</a:t>
                      </a:r>
                    </a:p>
                  </a:txBody>
                  <a:tcPr>
                    <a:solidFill>
                      <a:srgbClr val="FFFFFF"/>
                    </a:solidFill>
                  </a:tcPr>
                </a:tc>
                <a:tc>
                  <a:txBody>
                    <a:bodyPr/>
                    <a:lstStyle/>
                    <a:p>
                      <a:pPr algn="ctr">
                        <a:defRPr sz="950">
                          <a:solidFill>
                            <a:srgbClr val="0F172A"/>
                          </a:solidFill>
                        </a:defRPr>
                      </a:pPr>
                      <a:r>
                        <a:t>-0.0027</a:t>
                      </a:r>
                    </a:p>
                  </a:txBody>
                  <a:tcPr>
                    <a:solidFill>
                      <a:srgbClr val="FFFFFF"/>
                    </a:solidFill>
                  </a:tcPr>
                </a:tc>
                <a:tc>
                  <a:txBody>
                    <a:bodyPr/>
                    <a:lstStyle/>
                    <a:p>
                      <a:pPr algn="ctr">
                        <a:defRPr sz="950">
                          <a:solidFill>
                            <a:srgbClr val="0F172A"/>
                          </a:solidFill>
                        </a:defRPr>
                      </a:pPr>
                      <a:r>
                        <a:t>Approaching Simplex ETF</a:t>
                      </a:r>
                    </a:p>
                  </a:txBody>
                  <a:tcPr>
                    <a:solidFill>
                      <a:srgbClr val="FFFFFF"/>
                    </a:solidFill>
                  </a:tcPr>
                </a:tc>
              </a:tr>
              <a:tr h="402336">
                <a:tc>
                  <a:txBody>
                    <a:bodyPr/>
                    <a:lstStyle/>
                    <a:p>
                      <a:pPr algn="ctr">
                        <a:defRPr sz="950">
                          <a:solidFill>
                            <a:srgbClr val="0F172A"/>
                          </a:solidFill>
                        </a:defRPr>
                      </a:pPr>
                      <a:r>
                        <a:t>NC3 (alignment) → 1.0</a:t>
                      </a:r>
                    </a:p>
                  </a:txBody>
                  <a:tcPr>
                    <a:solidFill>
                      <a:srgbClr val="F1F5F9"/>
                    </a:solidFill>
                  </a:tcPr>
                </a:tc>
                <a:tc>
                  <a:txBody>
                    <a:bodyPr/>
                    <a:lstStyle/>
                    <a:p>
                      <a:pPr algn="ctr">
                        <a:defRPr sz="950">
                          <a:solidFill>
                            <a:srgbClr val="0F172A"/>
                          </a:solidFill>
                        </a:defRPr>
                      </a:pPr>
                      <a:r>
                        <a:t>0.734</a:t>
                      </a:r>
                    </a:p>
                  </a:txBody>
                  <a:tcPr>
                    <a:solidFill>
                      <a:srgbClr val="F1F5F9"/>
                    </a:solidFill>
                  </a:tcPr>
                </a:tc>
                <a:tc>
                  <a:txBody>
                    <a:bodyPr/>
                    <a:lstStyle/>
                    <a:p>
                      <a:pPr algn="ctr">
                        <a:defRPr sz="950">
                          <a:solidFill>
                            <a:srgbClr val="0F172A"/>
                          </a:solidFill>
                        </a:defRPr>
                      </a:pPr>
                      <a:r>
                        <a:t>0.772</a:t>
                      </a:r>
                    </a:p>
                  </a:txBody>
                  <a:tcPr>
                    <a:solidFill>
                      <a:srgbClr val="F1F5F9"/>
                    </a:solidFill>
                  </a:tcPr>
                </a:tc>
                <a:tc>
                  <a:txBody>
                    <a:bodyPr/>
                    <a:lstStyle/>
                    <a:p>
                      <a:pPr algn="ctr">
                        <a:defRPr sz="950">
                          <a:solidFill>
                            <a:srgbClr val="0F172A"/>
                          </a:solidFill>
                        </a:defRPr>
                      </a:pPr>
                      <a:r>
                        <a:t>0.738</a:t>
                      </a:r>
                    </a:p>
                  </a:txBody>
                  <a:tcPr>
                    <a:solidFill>
                      <a:srgbClr val="F1F5F9"/>
                    </a:solidFill>
                  </a:tcPr>
                </a:tc>
                <a:tc>
                  <a:txBody>
                    <a:bodyPr/>
                    <a:lstStyle/>
                    <a:p>
                      <a:pPr algn="ctr">
                        <a:defRPr sz="950">
                          <a:solidFill>
                            <a:srgbClr val="0F172A"/>
                          </a:solidFill>
                        </a:defRPr>
                      </a:pPr>
                      <a:r>
                        <a:t>0.707</a:t>
                      </a:r>
                    </a:p>
                  </a:txBody>
                  <a:tcPr>
                    <a:solidFill>
                      <a:srgbClr val="F1F5F9"/>
                    </a:solidFill>
                  </a:tcPr>
                </a:tc>
                <a:tc>
                  <a:txBody>
                    <a:bodyPr/>
                    <a:lstStyle/>
                    <a:p>
                      <a:pPr algn="ctr">
                        <a:defRPr sz="950">
                          <a:solidFill>
                            <a:srgbClr val="0F172A"/>
                          </a:solidFill>
                        </a:defRPr>
                      </a:pPr>
                      <a:r>
                        <a:t>Strong Weight Duality</a:t>
                      </a:r>
                    </a:p>
                  </a:txBody>
                  <a:tcPr>
                    <a:solidFill>
                      <a:srgbClr val="F1F5F9"/>
                    </a:solidFill>
                  </a:tcPr>
                </a:tc>
              </a:tr>
              <a:tr h="402336">
                <a:tc>
                  <a:txBody>
                    <a:bodyPr/>
                    <a:lstStyle/>
                    <a:p>
                      <a:pPr algn="ctr">
                        <a:defRPr sz="950">
                          <a:solidFill>
                            <a:srgbClr val="0F172A"/>
                          </a:solidFill>
                        </a:defRPr>
                      </a:pPr>
                      <a:r>
                        <a:t>NC4 (NCC acc) ↑ better</a:t>
                      </a:r>
                    </a:p>
                  </a:txBody>
                  <a:tcPr>
                    <a:solidFill>
                      <a:srgbClr val="FFFFFF"/>
                    </a:solidFill>
                  </a:tcPr>
                </a:tc>
                <a:tc>
                  <a:txBody>
                    <a:bodyPr/>
                    <a:lstStyle/>
                    <a:p>
                      <a:pPr algn="ctr">
                        <a:defRPr sz="950">
                          <a:solidFill>
                            <a:srgbClr val="0F172A"/>
                          </a:solidFill>
                        </a:defRPr>
                      </a:pPr>
                      <a:r>
                        <a:t>38.0%</a:t>
                      </a:r>
                    </a:p>
                  </a:txBody>
                  <a:tcPr>
                    <a:solidFill>
                      <a:srgbClr val="FFFFFF"/>
                    </a:solidFill>
                  </a:tcPr>
                </a:tc>
                <a:tc>
                  <a:txBody>
                    <a:bodyPr/>
                    <a:lstStyle/>
                    <a:p>
                      <a:pPr algn="ctr">
                        <a:defRPr sz="950">
                          <a:solidFill>
                            <a:srgbClr val="0F172A"/>
                          </a:solidFill>
                        </a:defRPr>
                      </a:pPr>
                      <a:r>
                        <a:t>66.2%</a:t>
                      </a:r>
                    </a:p>
                  </a:txBody>
                  <a:tcPr>
                    <a:solidFill>
                      <a:srgbClr val="FFFFFF"/>
                    </a:solidFill>
                  </a:tcPr>
                </a:tc>
                <a:tc>
                  <a:txBody>
                    <a:bodyPr/>
                    <a:lstStyle/>
                    <a:p>
                      <a:pPr algn="ctr">
                        <a:defRPr sz="950">
                          <a:solidFill>
                            <a:srgbClr val="0F172A"/>
                          </a:solidFill>
                        </a:defRPr>
                      </a:pPr>
                      <a:r>
                        <a:t>79.7%</a:t>
                      </a:r>
                    </a:p>
                  </a:txBody>
                  <a:tcPr>
                    <a:solidFill>
                      <a:srgbClr val="FFFFFF"/>
                    </a:solidFill>
                  </a:tcPr>
                </a:tc>
                <a:tc>
                  <a:txBody>
                    <a:bodyPr/>
                    <a:lstStyle/>
                    <a:p>
                      <a:pPr algn="ctr">
                        <a:defRPr sz="950">
                          <a:solidFill>
                            <a:srgbClr val="0F172A"/>
                          </a:solidFill>
                        </a:defRPr>
                      </a:pPr>
                      <a:r>
                        <a:t>84.4%</a:t>
                      </a:r>
                    </a:p>
                  </a:txBody>
                  <a:tcPr>
                    <a:solidFill>
                      <a:srgbClr val="FFFFFF"/>
                    </a:solidFill>
                  </a:tcPr>
                </a:tc>
                <a:tc>
                  <a:txBody>
                    <a:bodyPr/>
                    <a:lstStyle/>
                    <a:p>
                      <a:pPr algn="ctr">
                        <a:defRPr sz="950">
                          <a:solidFill>
                            <a:srgbClr val="0F172A"/>
                          </a:solidFill>
                        </a:defRPr>
                      </a:pPr>
                      <a:r>
                        <a:t>Monotonic Increase ↑</a:t>
                      </a:r>
                    </a:p>
                  </a:txBody>
                  <a:tcPr>
                    <a:solidFill>
                      <a:srgbClr val="FFFFFF"/>
                    </a:solidFill>
                  </a:tcPr>
                </a:tc>
              </a:tr>
            </a:tbl>
          </a:graphicData>
        </a:graphic>
      </p:graphicFrame>
      <p:sp>
        <p:nvSpPr>
          <p:cNvPr id="61" name="Rounded Rectangle 60"/>
          <p:cNvSpPr/>
          <p:nvPr/>
        </p:nvSpPr>
        <p:spPr>
          <a:xfrm>
            <a:off x="457200" y="3474720"/>
            <a:ext cx="8229600" cy="10972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Confirmation of Progressive Layer-wise Collapse</a:t>
            </a:r>
          </a:p>
          <a:p>
            <a:pPr>
              <a:spcAft>
                <a:spcPts val="400"/>
              </a:spcAft>
              <a:defRPr sz="950">
                <a:solidFill>
                  <a:srgbClr val="475569"/>
                </a:solidFill>
              </a:defRPr>
            </a:pPr>
            <a:r>
              <a:t>• Empirical proof that Neural Collapse is a continuous geometric progression across residual blocks, not just a final-layer artifact.</a:t>
            </a:r>
          </a:p>
          <a:p>
            <a:pPr>
              <a:spcAft>
                <a:spcPts val="400"/>
              </a:spcAft>
              <a:defRPr sz="950">
                <a:solidFill>
                  <a:srgbClr val="475569"/>
                </a:solidFill>
              </a:defRPr>
            </a:pPr>
            <a:r>
              <a:t>• Deeper layers exhibit tighter intra-class clusters and higher simplex symmetry, enabling pure Euclidean nearest-center classification.</a:t>
            </a:r>
          </a:p>
          <a:p>
            <a:pPr>
              <a:spcAft>
                <a:spcPts val="400"/>
              </a:spcAft>
              <a:defRPr sz="950">
                <a:solidFill>
                  <a:srgbClr val="475569"/>
                </a:solidFill>
              </a:defRPr>
            </a:pPr>
            <a:r>
              <a:t>• Proves that representation quality directly dictates early exit reliability.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Early Exit Simulation &amp; Efficiency Tradeoff</a:t>
            </a:r>
            <a:endParaRPr b="0" i="0" sz="2400" u="none" cap="none" strike="noStrike">
              <a:solidFill>
                <a:schemeClr val="dk1"/>
              </a:solidFill>
              <a:latin typeface="Calibri"/>
              <a:ea typeface="Calibri"/>
              <a:cs typeface="Calibri"/>
              <a:sym typeface="Calibri"/>
            </a:endParaRPr>
          </a:p>
        </p:txBody>
      </p:sp>
      <p:pic>
        <p:nvPicPr>
          <p:cNvPr id="60" name="Picture 59" descr="exit_sweep.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937259"/>
                <a:gridCol w="937259"/>
                <a:gridCol w="937259"/>
                <a:gridCol w="937262"/>
              </a:tblGrid>
              <a:tr h="402336">
                <a:tc>
                  <a:txBody>
                    <a:bodyPr/>
                    <a:lstStyle/>
                    <a:p>
                      <a:pPr algn="ctr">
                        <a:defRPr b="1" sz="1000">
                          <a:solidFill>
                            <a:srgbClr val="FFFFFF"/>
                          </a:solidFill>
                        </a:defRPr>
                      </a:pPr>
                      <a:r>
                        <a:t>Threshold τ</a:t>
                      </a:r>
                    </a:p>
                  </a:txBody>
                  <a:tcPr>
                    <a:solidFill>
                      <a:srgbClr val="0E7490"/>
                    </a:solidFill>
                  </a:tcPr>
                </a:tc>
                <a:tc>
                  <a:txBody>
                    <a:bodyPr/>
                    <a:lstStyle/>
                    <a:p>
                      <a:pPr algn="ctr">
                        <a:defRPr b="1" sz="1000">
                          <a:solidFill>
                            <a:srgbClr val="FFFFFF"/>
                          </a:solidFill>
                        </a:defRPr>
                      </a:pPr>
                      <a:r>
                        <a:t>Overall Accuracy</a:t>
                      </a:r>
                    </a:p>
                  </a:txBody>
                  <a:tcPr>
                    <a:solidFill>
                      <a:srgbClr val="0E7490"/>
                    </a:solidFill>
                  </a:tcPr>
                </a:tc>
                <a:tc>
                  <a:txBody>
                    <a:bodyPr/>
                    <a:lstStyle/>
                    <a:p>
                      <a:pPr algn="ctr">
                        <a:defRPr b="1" sz="1000">
                          <a:solidFill>
                            <a:srgbClr val="FFFFFF"/>
                          </a:solidFill>
                        </a:defRPr>
                      </a:pPr>
                      <a:r>
                        <a:t>Avg Layers Used</a:t>
                      </a:r>
                    </a:p>
                  </a:txBody>
                  <a:tcPr>
                    <a:solidFill>
                      <a:srgbClr val="0E7490"/>
                    </a:solidFill>
                  </a:tcPr>
                </a:tc>
                <a:tc>
                  <a:txBody>
                    <a:bodyPr/>
                    <a:lstStyle/>
                    <a:p>
                      <a:pPr algn="ctr">
                        <a:defRPr b="1" sz="1000">
                          <a:solidFill>
                            <a:srgbClr val="FFFFFF"/>
                          </a:solidFill>
                        </a:defRPr>
                      </a:pPr>
                      <a:r>
                        <a:t>Speedup Ratio</a:t>
                      </a:r>
                    </a:p>
                  </a:txBody>
                  <a:tcPr>
                    <a:solidFill>
                      <a:srgbClr val="0E7490"/>
                    </a:solidFill>
                  </a:tcPr>
                </a:tc>
              </a:tr>
              <a:tr h="402336">
                <a:tc>
                  <a:txBody>
                    <a:bodyPr/>
                    <a:lstStyle/>
                    <a:p>
                      <a:pPr algn="ctr">
                        <a:defRPr sz="950">
                          <a:solidFill>
                            <a:srgbClr val="0F172A"/>
                          </a:solidFill>
                        </a:defRPr>
                      </a:pPr>
                      <a:r>
                        <a:t>0.50</a:t>
                      </a:r>
                    </a:p>
                  </a:txBody>
                  <a:tcPr>
                    <a:solidFill>
                      <a:srgbClr val="F1F5F9"/>
                    </a:solidFill>
                  </a:tcPr>
                </a:tc>
                <a:tc>
                  <a:txBody>
                    <a:bodyPr/>
                    <a:lstStyle/>
                    <a:p>
                      <a:pPr algn="ctr">
                        <a:defRPr sz="950">
                          <a:solidFill>
                            <a:srgbClr val="0F172A"/>
                          </a:solidFill>
                        </a:defRPr>
                      </a:pPr>
                      <a:r>
                        <a:t>78.25%</a:t>
                      </a:r>
                    </a:p>
                  </a:txBody>
                  <a:tcPr>
                    <a:solidFill>
                      <a:srgbClr val="F1F5F9"/>
                    </a:solidFill>
                  </a:tcPr>
                </a:tc>
                <a:tc>
                  <a:txBody>
                    <a:bodyPr/>
                    <a:lstStyle/>
                    <a:p>
                      <a:pPr algn="ctr">
                        <a:defRPr sz="950">
                          <a:solidFill>
                            <a:srgbClr val="0F172A"/>
                          </a:solidFill>
                        </a:defRPr>
                      </a:pPr>
                      <a:r>
                        <a:t>3.18</a:t>
                      </a:r>
                    </a:p>
                  </a:txBody>
                  <a:tcPr>
                    <a:solidFill>
                      <a:srgbClr val="F1F5F9"/>
                    </a:solidFill>
                  </a:tcPr>
                </a:tc>
                <a:tc>
                  <a:txBody>
                    <a:bodyPr/>
                    <a:lstStyle/>
                    <a:p>
                      <a:pPr algn="ctr">
                        <a:defRPr sz="950">
                          <a:solidFill>
                            <a:srgbClr val="0F172A"/>
                          </a:solidFill>
                        </a:defRPr>
                      </a:pPr>
                      <a:r>
                        <a:t>1.26x</a:t>
                      </a:r>
                    </a:p>
                  </a:txBody>
                  <a:tcPr>
                    <a:solidFill>
                      <a:srgbClr val="F1F5F9"/>
                    </a:solidFill>
                  </a:tcPr>
                </a:tc>
              </a:tr>
              <a:tr h="402336">
                <a:tc>
                  <a:txBody>
                    <a:bodyPr/>
                    <a:lstStyle/>
                    <a:p>
                      <a:pPr algn="ctr">
                        <a:defRPr sz="950">
                          <a:solidFill>
                            <a:srgbClr val="0F172A"/>
                          </a:solidFill>
                        </a:defRPr>
                      </a:pPr>
                      <a:r>
                        <a:t>0.70</a:t>
                      </a:r>
                    </a:p>
                  </a:txBody>
                  <a:tcPr>
                    <a:solidFill>
                      <a:srgbClr val="FFFFFF"/>
                    </a:solidFill>
                  </a:tcPr>
                </a:tc>
                <a:tc>
                  <a:txBody>
                    <a:bodyPr/>
                    <a:lstStyle/>
                    <a:p>
                      <a:pPr algn="ctr">
                        <a:defRPr sz="950">
                          <a:solidFill>
                            <a:srgbClr val="0F172A"/>
                          </a:solidFill>
                        </a:defRPr>
                      </a:pPr>
                      <a:r>
                        <a:t>79.10%</a:t>
                      </a:r>
                    </a:p>
                  </a:txBody>
                  <a:tcPr>
                    <a:solidFill>
                      <a:srgbClr val="FFFFFF"/>
                    </a:solidFill>
                  </a:tcPr>
                </a:tc>
                <a:tc>
                  <a:txBody>
                    <a:bodyPr/>
                    <a:lstStyle/>
                    <a:p>
                      <a:pPr algn="ctr">
                        <a:defRPr sz="950">
                          <a:solidFill>
                            <a:srgbClr val="0F172A"/>
                          </a:solidFill>
                        </a:defRPr>
                      </a:pPr>
                      <a:r>
                        <a:t>3.42</a:t>
                      </a:r>
                    </a:p>
                  </a:txBody>
                  <a:tcPr>
                    <a:solidFill>
                      <a:srgbClr val="FFFFFF"/>
                    </a:solidFill>
                  </a:tcPr>
                </a:tc>
                <a:tc>
                  <a:txBody>
                    <a:bodyPr/>
                    <a:lstStyle/>
                    <a:p>
                      <a:pPr algn="ctr">
                        <a:defRPr sz="950">
                          <a:solidFill>
                            <a:srgbClr val="0F172A"/>
                          </a:solidFill>
                        </a:defRPr>
                      </a:pPr>
                      <a:r>
                        <a:t>1.17x</a:t>
                      </a:r>
                    </a:p>
                  </a:txBody>
                  <a:tcPr>
                    <a:solidFill>
                      <a:srgbClr val="FFFFFF"/>
                    </a:solidFill>
                  </a:tcPr>
                </a:tc>
              </a:tr>
              <a:tr h="402336">
                <a:tc>
                  <a:txBody>
                    <a:bodyPr/>
                    <a:lstStyle/>
                    <a:p>
                      <a:pPr algn="ctr">
                        <a:defRPr sz="950">
                          <a:solidFill>
                            <a:srgbClr val="0F172A"/>
                          </a:solidFill>
                        </a:defRPr>
                      </a:pPr>
                      <a:r>
                        <a:t>0.90</a:t>
                      </a:r>
                    </a:p>
                  </a:txBody>
                  <a:tcPr>
                    <a:solidFill>
                      <a:srgbClr val="F1F5F9"/>
                    </a:solidFill>
                  </a:tcPr>
                </a:tc>
                <a:tc>
                  <a:txBody>
                    <a:bodyPr/>
                    <a:lstStyle/>
                    <a:p>
                      <a:pPr algn="ctr">
                        <a:defRPr sz="950">
                          <a:solidFill>
                            <a:srgbClr val="0F172A"/>
                          </a:solidFill>
                        </a:defRPr>
                      </a:pPr>
                      <a:r>
                        <a:t>80.85%</a:t>
                      </a:r>
                    </a:p>
                  </a:txBody>
                  <a:tcPr>
                    <a:solidFill>
                      <a:srgbClr val="F1F5F9"/>
                    </a:solidFill>
                  </a:tcPr>
                </a:tc>
                <a:tc>
                  <a:txBody>
                    <a:bodyPr/>
                    <a:lstStyle/>
                    <a:p>
                      <a:pPr algn="ctr">
                        <a:defRPr sz="950">
                          <a:solidFill>
                            <a:srgbClr val="0F172A"/>
                          </a:solidFill>
                        </a:defRPr>
                      </a:pPr>
                      <a:r>
                        <a:t>3.75</a:t>
                      </a:r>
                    </a:p>
                  </a:txBody>
                  <a:tcPr>
                    <a:solidFill>
                      <a:srgbClr val="F1F5F9"/>
                    </a:solidFill>
                  </a:tcPr>
                </a:tc>
                <a:tc>
                  <a:txBody>
                    <a:bodyPr/>
                    <a:lstStyle/>
                    <a:p>
                      <a:pPr algn="ctr">
                        <a:defRPr sz="950">
                          <a:solidFill>
                            <a:srgbClr val="0F172A"/>
                          </a:solidFill>
                        </a:defRPr>
                      </a:pPr>
                      <a:r>
                        <a:t>1.07x</a:t>
                      </a:r>
                    </a:p>
                  </a:txBody>
                  <a:tcPr>
                    <a:solidFill>
                      <a:srgbClr val="F1F5F9"/>
                    </a:solidFill>
                  </a:tcPr>
                </a:tc>
              </a:tr>
              <a:tr h="402336">
                <a:tc>
                  <a:txBody>
                    <a:bodyPr/>
                    <a:lstStyle/>
                    <a:p>
                      <a:pPr algn="ctr">
                        <a:defRPr sz="950">
                          <a:solidFill>
                            <a:srgbClr val="0F172A"/>
                          </a:solidFill>
                        </a:defRPr>
                      </a:pPr>
                      <a:r>
                        <a:t>0.99</a:t>
                      </a:r>
                    </a:p>
                  </a:txBody>
                  <a:tcPr>
                    <a:solidFill>
                      <a:srgbClr val="FFFFFF"/>
                    </a:solidFill>
                  </a:tcPr>
                </a:tc>
                <a:tc>
                  <a:txBody>
                    <a:bodyPr/>
                    <a:lstStyle/>
                    <a:p>
                      <a:pPr algn="ctr">
                        <a:defRPr sz="950">
                          <a:solidFill>
                            <a:srgbClr val="0F172A"/>
                          </a:solidFill>
                        </a:defRPr>
                      </a:pPr>
                      <a:r>
                        <a:t>82.06%</a:t>
                      </a:r>
                    </a:p>
                  </a:txBody>
                  <a:tcPr>
                    <a:solidFill>
                      <a:srgbClr val="FFFFFF"/>
                    </a:solidFill>
                  </a:tcPr>
                </a:tc>
                <a:tc>
                  <a:txBody>
                    <a:bodyPr/>
                    <a:lstStyle/>
                    <a:p>
                      <a:pPr algn="ctr">
                        <a:defRPr sz="950">
                          <a:solidFill>
                            <a:srgbClr val="0F172A"/>
                          </a:solidFill>
                        </a:defRPr>
                      </a:pPr>
                      <a:r>
                        <a:t>3.98</a:t>
                      </a:r>
                    </a:p>
                  </a:txBody>
                  <a:tcPr>
                    <a:solidFill>
                      <a:srgbClr val="FFFFFF"/>
                    </a:solidFill>
                  </a:tcPr>
                </a:tc>
                <a:tc>
                  <a:txBody>
                    <a:bodyPr/>
                    <a:lstStyle/>
                    <a:p>
                      <a:pPr algn="ctr">
                        <a:defRPr sz="950">
                          <a:solidFill>
                            <a:srgbClr val="0F172A"/>
                          </a:solidFill>
                        </a:defRPr>
                      </a:pPr>
                      <a:r>
                        <a:t>1.01x</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Simulation Summary &amp; Deployment Sweet Spot</a:t>
            </a:r>
          </a:p>
          <a:p>
            <a:pPr>
              <a:spcAft>
                <a:spcPts val="400"/>
              </a:spcAft>
              <a:defRPr sz="950">
                <a:solidFill>
                  <a:srgbClr val="475569"/>
                </a:solidFill>
              </a:defRPr>
            </a:pPr>
            <a:r>
              <a:t>• Exit 3 (Layer 3) acts as the practical 'sweet spot', absorbing most easy samples with high confidence.</a:t>
            </a:r>
          </a:p>
          <a:p>
            <a:pPr>
              <a:spcAft>
                <a:spcPts val="400"/>
              </a:spcAft>
              <a:defRPr sz="950">
                <a:solidFill>
                  <a:srgbClr val="475569"/>
                </a:solidFill>
              </a:defRPr>
            </a:pPr>
            <a:r>
              <a:t>• Confidence threshold τ = 0.50 yields a 1.26x speedup with less than 3.8% accuracy reduction from the final exit.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Multiplicative Logit Adjustment Sweep</a:t>
            </a:r>
            <a:endParaRPr b="0" i="0" sz="2400" u="none" cap="none" strike="noStrike">
              <a:solidFill>
                <a:schemeClr val="dk1"/>
              </a:solidFill>
              <a:latin typeface="Calibri"/>
              <a:ea typeface="Calibri"/>
              <a:cs typeface="Calibri"/>
              <a:sym typeface="Calibri"/>
            </a:endParaRPr>
          </a:p>
        </p:txBody>
      </p:sp>
      <p:pic>
        <p:nvPicPr>
          <p:cNvPr id="60" name="Picture 59" descr="mla_tau_sweep.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749807"/>
                <a:gridCol w="749807"/>
                <a:gridCol w="749807"/>
                <a:gridCol w="749807"/>
                <a:gridCol w="749811"/>
              </a:tblGrid>
              <a:tr h="402336">
                <a:tc>
                  <a:txBody>
                    <a:bodyPr/>
                    <a:lstStyle/>
                    <a:p>
                      <a:pPr algn="ctr">
                        <a:defRPr b="1" sz="1000">
                          <a:solidFill>
                            <a:srgbClr val="FFFFFF"/>
                          </a:solidFill>
                        </a:defRPr>
                      </a:pPr>
                      <a:r>
                        <a:t>MLA Strength τ</a:t>
                      </a:r>
                    </a:p>
                  </a:txBody>
                  <a:tcPr>
                    <a:solidFill>
                      <a:srgbClr val="0E7490"/>
                    </a:solidFill>
                  </a:tcPr>
                </a:tc>
                <a:tc>
                  <a:txBody>
                    <a:bodyPr/>
                    <a:lstStyle/>
                    <a:p>
                      <a:pPr algn="ctr">
                        <a:defRPr b="1" sz="1000">
                          <a:solidFill>
                            <a:srgbClr val="FFFFFF"/>
                          </a:solidFill>
                        </a:defRPr>
                      </a:pPr>
                      <a:r>
                        <a:t>Exit 1 Acc</a:t>
                      </a:r>
                    </a:p>
                  </a:txBody>
                  <a:tcPr>
                    <a:solidFill>
                      <a:srgbClr val="0E7490"/>
                    </a:solidFill>
                  </a:tcPr>
                </a:tc>
                <a:tc>
                  <a:txBody>
                    <a:bodyPr/>
                    <a:lstStyle/>
                    <a:p>
                      <a:pPr algn="ctr">
                        <a:defRPr b="1" sz="1000">
                          <a:solidFill>
                            <a:srgbClr val="FFFFFF"/>
                          </a:solidFill>
                        </a:defRPr>
                      </a:pPr>
                      <a:r>
                        <a:t>Exit 2 Acc</a:t>
                      </a:r>
                    </a:p>
                  </a:txBody>
                  <a:tcPr>
                    <a:solidFill>
                      <a:srgbClr val="0E7490"/>
                    </a:solidFill>
                  </a:tcPr>
                </a:tc>
                <a:tc>
                  <a:txBody>
                    <a:bodyPr/>
                    <a:lstStyle/>
                    <a:p>
                      <a:pPr algn="ctr">
                        <a:defRPr b="1" sz="1000">
                          <a:solidFill>
                            <a:srgbClr val="FFFFFF"/>
                          </a:solidFill>
                        </a:defRPr>
                      </a:pPr>
                      <a:r>
                        <a:t>Exit 3 Acc</a:t>
                      </a:r>
                    </a:p>
                  </a:txBody>
                  <a:tcPr>
                    <a:solidFill>
                      <a:srgbClr val="0E7490"/>
                    </a:solidFill>
                  </a:tcPr>
                </a:tc>
                <a:tc>
                  <a:txBody>
                    <a:bodyPr/>
                    <a:lstStyle/>
                    <a:p>
                      <a:pPr algn="ctr">
                        <a:defRPr b="1" sz="1000">
                          <a:solidFill>
                            <a:srgbClr val="FFFFFF"/>
                          </a:solidFill>
                        </a:defRPr>
                      </a:pPr>
                      <a:r>
                        <a:t>Exit 4 Acc</a:t>
                      </a:r>
                    </a:p>
                  </a:txBody>
                  <a:tcPr>
                    <a:solidFill>
                      <a:srgbClr val="0E7490"/>
                    </a:solidFill>
                  </a:tcPr>
                </a:tc>
              </a:tr>
              <a:tr h="402336">
                <a:tc>
                  <a:txBody>
                    <a:bodyPr/>
                    <a:lstStyle/>
                    <a:p>
                      <a:pPr algn="ctr">
                        <a:defRPr sz="950">
                          <a:solidFill>
                            <a:srgbClr val="0F172A"/>
                          </a:solidFill>
                        </a:defRPr>
                      </a:pPr>
                      <a:r>
                        <a:t>0.0 (Unadjusted)</a:t>
                      </a:r>
                    </a:p>
                  </a:txBody>
                  <a:tcPr>
                    <a:solidFill>
                      <a:srgbClr val="F1F5F9"/>
                    </a:solidFill>
                  </a:tcPr>
                </a:tc>
                <a:tc>
                  <a:txBody>
                    <a:bodyPr/>
                    <a:lstStyle/>
                    <a:p>
                      <a:pPr algn="ctr">
                        <a:defRPr sz="950">
                          <a:solidFill>
                            <a:srgbClr val="0F172A"/>
                          </a:solidFill>
                        </a:defRPr>
                      </a:pPr>
                      <a:r>
                        <a:t>34.90%</a:t>
                      </a:r>
                    </a:p>
                  </a:txBody>
                  <a:tcPr>
                    <a:solidFill>
                      <a:srgbClr val="F1F5F9"/>
                    </a:solidFill>
                  </a:tcPr>
                </a:tc>
                <a:tc>
                  <a:txBody>
                    <a:bodyPr/>
                    <a:lstStyle/>
                    <a:p>
                      <a:pPr algn="ctr">
                        <a:defRPr sz="950">
                          <a:solidFill>
                            <a:srgbClr val="0F172A"/>
                          </a:solidFill>
                        </a:defRPr>
                      </a:pPr>
                      <a:r>
                        <a:t>67.88%</a:t>
                      </a:r>
                    </a:p>
                  </a:txBody>
                  <a:tcPr>
                    <a:solidFill>
                      <a:srgbClr val="F1F5F9"/>
                    </a:solidFill>
                  </a:tcPr>
                </a:tc>
                <a:tc>
                  <a:txBody>
                    <a:bodyPr/>
                    <a:lstStyle/>
                    <a:p>
                      <a:pPr algn="ctr">
                        <a:defRPr sz="950">
                          <a:solidFill>
                            <a:srgbClr val="0F172A"/>
                          </a:solidFill>
                        </a:defRPr>
                      </a:pPr>
                      <a:r>
                        <a:t>79.35%</a:t>
                      </a:r>
                    </a:p>
                  </a:txBody>
                  <a:tcPr>
                    <a:solidFill>
                      <a:srgbClr val="F1F5F9"/>
                    </a:solidFill>
                  </a:tcPr>
                </a:tc>
                <a:tc>
                  <a:txBody>
                    <a:bodyPr/>
                    <a:lstStyle/>
                    <a:p>
                      <a:pPr algn="ctr">
                        <a:defRPr sz="950">
                          <a:solidFill>
                            <a:srgbClr val="0F172A"/>
                          </a:solidFill>
                        </a:defRPr>
                      </a:pPr>
                      <a:r>
                        <a:t>82.06%</a:t>
                      </a:r>
                    </a:p>
                  </a:txBody>
                  <a:tcPr>
                    <a:solidFill>
                      <a:srgbClr val="F1F5F9"/>
                    </a:solidFill>
                  </a:tcPr>
                </a:tc>
              </a:tr>
              <a:tr h="402336">
                <a:tc>
                  <a:txBody>
                    <a:bodyPr/>
                    <a:lstStyle/>
                    <a:p>
                      <a:pPr algn="ctr">
                        <a:defRPr sz="950">
                          <a:solidFill>
                            <a:srgbClr val="0F172A"/>
                          </a:solidFill>
                        </a:defRPr>
                      </a:pPr>
                      <a:r>
                        <a:t>0.5 (Moderate)</a:t>
                      </a:r>
                    </a:p>
                  </a:txBody>
                  <a:tcPr>
                    <a:solidFill>
                      <a:srgbClr val="FFFFFF"/>
                    </a:solidFill>
                  </a:tcPr>
                </a:tc>
                <a:tc>
                  <a:txBody>
                    <a:bodyPr/>
                    <a:lstStyle/>
                    <a:p>
                      <a:pPr algn="ctr">
                        <a:defRPr sz="950">
                          <a:solidFill>
                            <a:srgbClr val="0F172A"/>
                          </a:solidFill>
                        </a:defRPr>
                      </a:pPr>
                      <a:r>
                        <a:t>35.12%</a:t>
                      </a:r>
                    </a:p>
                  </a:txBody>
                  <a:tcPr>
                    <a:solidFill>
                      <a:srgbClr val="FFFFFF"/>
                    </a:solidFill>
                  </a:tcPr>
                </a:tc>
                <a:tc>
                  <a:txBody>
                    <a:bodyPr/>
                    <a:lstStyle/>
                    <a:p>
                      <a:pPr algn="ctr">
                        <a:defRPr sz="950">
                          <a:solidFill>
                            <a:srgbClr val="0F172A"/>
                          </a:solidFill>
                        </a:defRPr>
                      </a:pPr>
                      <a:r>
                        <a:t>68.02%</a:t>
                      </a:r>
                    </a:p>
                  </a:txBody>
                  <a:tcPr>
                    <a:solidFill>
                      <a:srgbClr val="FFFFFF"/>
                    </a:solidFill>
                  </a:tcPr>
                </a:tc>
                <a:tc>
                  <a:txBody>
                    <a:bodyPr/>
                    <a:lstStyle/>
                    <a:p>
                      <a:pPr algn="ctr">
                        <a:defRPr sz="950">
                          <a:solidFill>
                            <a:srgbClr val="0F172A"/>
                          </a:solidFill>
                        </a:defRPr>
                      </a:pPr>
                      <a:r>
                        <a:t>79.48%</a:t>
                      </a:r>
                    </a:p>
                  </a:txBody>
                  <a:tcPr>
                    <a:solidFill>
                      <a:srgbClr val="FFFFFF"/>
                    </a:solidFill>
                  </a:tcPr>
                </a:tc>
                <a:tc>
                  <a:txBody>
                    <a:bodyPr/>
                    <a:lstStyle/>
                    <a:p>
                      <a:pPr algn="ctr">
                        <a:defRPr sz="950">
                          <a:solidFill>
                            <a:srgbClr val="0F172A"/>
                          </a:solidFill>
                        </a:defRPr>
                      </a:pPr>
                      <a:r>
                        <a:t>82.15%</a:t>
                      </a:r>
                    </a:p>
                  </a:txBody>
                  <a:tcPr>
                    <a:solidFill>
                      <a:srgbClr val="FFFFFF"/>
                    </a:solidFill>
                  </a:tcPr>
                </a:tc>
              </a:tr>
              <a:tr h="402336">
                <a:tc>
                  <a:txBody>
                    <a:bodyPr/>
                    <a:lstStyle/>
                    <a:p>
                      <a:pPr algn="ctr">
                        <a:defRPr sz="950">
                          <a:solidFill>
                            <a:srgbClr val="0F172A"/>
                          </a:solidFill>
                        </a:defRPr>
                      </a:pPr>
                      <a:r>
                        <a:t>1.0 (Standard)</a:t>
                      </a:r>
                    </a:p>
                  </a:txBody>
                  <a:tcPr>
                    <a:solidFill>
                      <a:srgbClr val="F1F5F9"/>
                    </a:solidFill>
                  </a:tcPr>
                </a:tc>
                <a:tc>
                  <a:txBody>
                    <a:bodyPr/>
                    <a:lstStyle/>
                    <a:p>
                      <a:pPr algn="ctr">
                        <a:defRPr sz="950">
                          <a:solidFill>
                            <a:srgbClr val="0F172A"/>
                          </a:solidFill>
                        </a:defRPr>
                      </a:pPr>
                      <a:r>
                        <a:t>34.88%</a:t>
                      </a:r>
                    </a:p>
                  </a:txBody>
                  <a:tcPr>
                    <a:solidFill>
                      <a:srgbClr val="F1F5F9"/>
                    </a:solidFill>
                  </a:tcPr>
                </a:tc>
                <a:tc>
                  <a:txBody>
                    <a:bodyPr/>
                    <a:lstStyle/>
                    <a:p>
                      <a:pPr algn="ctr">
                        <a:defRPr sz="950">
                          <a:solidFill>
                            <a:srgbClr val="0F172A"/>
                          </a:solidFill>
                        </a:defRPr>
                      </a:pPr>
                      <a:r>
                        <a:t>67.95%</a:t>
                      </a:r>
                    </a:p>
                  </a:txBody>
                  <a:tcPr>
                    <a:solidFill>
                      <a:srgbClr val="F1F5F9"/>
                    </a:solidFill>
                  </a:tcPr>
                </a:tc>
                <a:tc>
                  <a:txBody>
                    <a:bodyPr/>
                    <a:lstStyle/>
                    <a:p>
                      <a:pPr algn="ctr">
                        <a:defRPr sz="950">
                          <a:solidFill>
                            <a:srgbClr val="0F172A"/>
                          </a:solidFill>
                        </a:defRPr>
                      </a:pPr>
                      <a:r>
                        <a:t>79.30%</a:t>
                      </a:r>
                    </a:p>
                  </a:txBody>
                  <a:tcPr>
                    <a:solidFill>
                      <a:srgbClr val="F1F5F9"/>
                    </a:solidFill>
                  </a:tcPr>
                </a:tc>
                <a:tc>
                  <a:txBody>
                    <a:bodyPr/>
                    <a:lstStyle/>
                    <a:p>
                      <a:pPr algn="ctr">
                        <a:defRPr sz="950">
                          <a:solidFill>
                            <a:srgbClr val="0F172A"/>
                          </a:solidFill>
                        </a:defRPr>
                      </a:pPr>
                      <a:r>
                        <a:t>82.01%</a:t>
                      </a:r>
                    </a:p>
                  </a:txBody>
                  <a:tcPr>
                    <a:solidFill>
                      <a:srgbClr val="F1F5F9"/>
                    </a:solidFill>
                  </a:tcPr>
                </a:tc>
              </a:tr>
              <a:tr h="402336">
                <a:tc>
                  <a:txBody>
                    <a:bodyPr/>
                    <a:lstStyle/>
                    <a:p>
                      <a:pPr algn="ctr">
                        <a:defRPr sz="950">
                          <a:solidFill>
                            <a:srgbClr val="0F172A"/>
                          </a:solidFill>
                        </a:defRPr>
                      </a:pPr>
                      <a:r>
                        <a:t>1.5 (Strong)</a:t>
                      </a:r>
                    </a:p>
                  </a:txBody>
                  <a:tcPr>
                    <a:solidFill>
                      <a:srgbClr val="FFFFFF"/>
                    </a:solidFill>
                  </a:tcPr>
                </a:tc>
                <a:tc>
                  <a:txBody>
                    <a:bodyPr/>
                    <a:lstStyle/>
                    <a:p>
                      <a:pPr algn="ctr">
                        <a:defRPr sz="950">
                          <a:solidFill>
                            <a:srgbClr val="0F172A"/>
                          </a:solidFill>
                        </a:defRPr>
                      </a:pPr>
                      <a:r>
                        <a:t>34.20%</a:t>
                      </a:r>
                    </a:p>
                  </a:txBody>
                  <a:tcPr>
                    <a:solidFill>
                      <a:srgbClr val="FFFFFF"/>
                    </a:solidFill>
                  </a:tcPr>
                </a:tc>
                <a:tc>
                  <a:txBody>
                    <a:bodyPr/>
                    <a:lstStyle/>
                    <a:p>
                      <a:pPr algn="ctr">
                        <a:defRPr sz="950">
                          <a:solidFill>
                            <a:srgbClr val="0F172A"/>
                          </a:solidFill>
                        </a:defRPr>
                      </a:pPr>
                      <a:r>
                        <a:t>67.10%</a:t>
                      </a:r>
                    </a:p>
                  </a:txBody>
                  <a:tcPr>
                    <a:solidFill>
                      <a:srgbClr val="FFFFFF"/>
                    </a:solidFill>
                  </a:tcPr>
                </a:tc>
                <a:tc>
                  <a:txBody>
                    <a:bodyPr/>
                    <a:lstStyle/>
                    <a:p>
                      <a:pPr algn="ctr">
                        <a:defRPr sz="950">
                          <a:solidFill>
                            <a:srgbClr val="0F172A"/>
                          </a:solidFill>
                        </a:defRPr>
                      </a:pPr>
                      <a:r>
                        <a:t>78.60%</a:t>
                      </a:r>
                    </a:p>
                  </a:txBody>
                  <a:tcPr>
                    <a:solidFill>
                      <a:srgbClr val="FFFFFF"/>
                    </a:solidFill>
                  </a:tcPr>
                </a:tc>
                <a:tc>
                  <a:txBody>
                    <a:bodyPr/>
                    <a:lstStyle/>
                    <a:p>
                      <a:pPr algn="ctr">
                        <a:defRPr sz="950">
                          <a:solidFill>
                            <a:srgbClr val="0F172A"/>
                          </a:solidFill>
                        </a:defRPr>
                      </a:pPr>
                      <a:r>
                        <a:t>81.40%</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Class Imbalance Repair Analysis</a:t>
            </a:r>
          </a:p>
          <a:p>
            <a:pPr>
              <a:spcAft>
                <a:spcPts val="400"/>
              </a:spcAft>
              <a:defRPr sz="950">
                <a:solidFill>
                  <a:srgbClr val="475569"/>
                </a:solidFill>
              </a:defRPr>
            </a:pPr>
            <a:r>
              <a:t>• Implemented Hasegawa &amp; Sato's (2024) multiplicative logit adjustment to repair class boundary distortion.</a:t>
            </a:r>
          </a:p>
          <a:p>
            <a:pPr>
              <a:spcAft>
                <a:spcPts val="400"/>
              </a:spcAft>
              <a:defRPr sz="950">
                <a:solidFill>
                  <a:srgbClr val="475569"/>
                </a:solidFill>
              </a:defRPr>
            </a:pPr>
            <a:r>
              <a:t>• Moderate adjustment (τ = 0.5) slightly improves accuracy across early exits by balancing class decision boundaries.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OOD Detection AUROC</a:t>
            </a:r>
            <a:endParaRPr b="0" i="0" sz="2400" u="none" cap="none" strike="noStrike">
              <a:solidFill>
                <a:schemeClr val="dk1"/>
              </a:solidFill>
              <a:latin typeface="Calibri"/>
              <a:ea typeface="Calibri"/>
              <a:cs typeface="Calibri"/>
              <a:sym typeface="Calibri"/>
            </a:endParaRPr>
          </a:p>
        </p:txBody>
      </p:sp>
      <p:pic>
        <p:nvPicPr>
          <p:cNvPr id="60" name="Picture 59" descr="ood_auroc_layerwise.png"/>
          <p:cNvPicPr>
            <a:picLocks noChangeAspect="1"/>
          </p:cNvPicPr>
          <p:nvPr/>
        </p:nvPicPr>
        <p:blipFill>
          <a:blip r:embed="rId2"/>
          <a:stretch>
            <a:fillRect/>
          </a:stretch>
        </p:blipFill>
        <p:spPr>
          <a:xfrm>
            <a:off x="457200" y="1188720"/>
            <a:ext cx="4389120" cy="2926080"/>
          </a:xfrm>
          <a:prstGeom prst="rect">
            <a:avLst/>
          </a:prstGeom>
        </p:spPr>
      </p:pic>
      <p:graphicFrame>
        <p:nvGraphicFramePr>
          <p:cNvPr id="61" name="Table 60"/>
          <p:cNvGraphicFramePr>
            <a:graphicFrameLocks noGrp="1"/>
          </p:cNvGraphicFramePr>
          <p:nvPr/>
        </p:nvGraphicFramePr>
        <p:xfrm>
          <a:off x="4937760" y="1188720"/>
          <a:ext cx="3749039" cy="2011680"/>
        </p:xfrm>
        <a:graphic>
          <a:graphicData uri="http://schemas.openxmlformats.org/drawingml/2006/table">
            <a:tbl>
              <a:tblPr firstRow="1" bandRow="1">
                <a:tableStyleId>{5C22544A-7EE6-4342-B048-85BDC9FD1C3A}</a:tableStyleId>
              </a:tblPr>
              <a:tblGrid>
                <a:gridCol w="749807"/>
                <a:gridCol w="749807"/>
                <a:gridCol w="749807"/>
                <a:gridCol w="749807"/>
                <a:gridCol w="749811"/>
              </a:tblGrid>
              <a:tr h="402336">
                <a:tc>
                  <a:txBody>
                    <a:bodyPr/>
                    <a:lstStyle/>
                    <a:p>
                      <a:pPr algn="ctr">
                        <a:defRPr b="1" sz="1000">
                          <a:solidFill>
                            <a:srgbClr val="FFFFFF"/>
                          </a:solidFill>
                        </a:defRPr>
                      </a:pPr>
                      <a:r>
                        <a:t>Exit Layer</a:t>
                      </a:r>
                    </a:p>
                  </a:txBody>
                  <a:tcPr>
                    <a:solidFill>
                      <a:srgbClr val="0E7490"/>
                    </a:solidFill>
                  </a:tcPr>
                </a:tc>
                <a:tc>
                  <a:txBody>
                    <a:bodyPr/>
                    <a:lstStyle/>
                    <a:p>
                      <a:pPr algn="ctr">
                        <a:defRPr b="1" sz="1000">
                          <a:solidFill>
                            <a:srgbClr val="FFFFFF"/>
                          </a:solidFill>
                        </a:defRPr>
                      </a:pPr>
                      <a:r>
                        <a:t>ID Sim (Flowers)</a:t>
                      </a:r>
                    </a:p>
                  </a:txBody>
                  <a:tcPr>
                    <a:solidFill>
                      <a:srgbClr val="0E7490"/>
                    </a:solidFill>
                  </a:tcPr>
                </a:tc>
                <a:tc>
                  <a:txBody>
                    <a:bodyPr/>
                    <a:lstStyle/>
                    <a:p>
                      <a:pPr algn="ctr">
                        <a:defRPr b="1" sz="1000">
                          <a:solidFill>
                            <a:srgbClr val="FFFFFF"/>
                          </a:solidFill>
                        </a:defRPr>
                      </a:pPr>
                      <a:r>
                        <a:t>OOD Sim (CIFAR)</a:t>
                      </a:r>
                    </a:p>
                  </a:txBody>
                  <a:tcPr>
                    <a:solidFill>
                      <a:srgbClr val="0E7490"/>
                    </a:solidFill>
                  </a:tcPr>
                </a:tc>
                <a:tc>
                  <a:txBody>
                    <a:bodyPr/>
                    <a:lstStyle/>
                    <a:p>
                      <a:pPr algn="ctr">
                        <a:defRPr b="1" sz="1000">
                          <a:solidFill>
                            <a:srgbClr val="FFFFFF"/>
                          </a:solidFill>
                        </a:defRPr>
                      </a:pPr>
                      <a:r>
                        <a:t>Gap</a:t>
                      </a:r>
                    </a:p>
                  </a:txBody>
                  <a:tcPr>
                    <a:solidFill>
                      <a:srgbClr val="0E7490"/>
                    </a:solidFill>
                  </a:tcPr>
                </a:tc>
                <a:tc>
                  <a:txBody>
                    <a:bodyPr/>
                    <a:lstStyle/>
                    <a:p>
                      <a:pPr algn="ctr">
                        <a:defRPr b="1" sz="1000">
                          <a:solidFill>
                            <a:srgbClr val="FFFFFF"/>
                          </a:solidFill>
                        </a:defRPr>
                      </a:pPr>
                      <a:r>
                        <a:t>OOD AUROC</a:t>
                      </a:r>
                    </a:p>
                  </a:txBody>
                  <a:tcPr>
                    <a:solidFill>
                      <a:srgbClr val="0E7490"/>
                    </a:solidFill>
                  </a:tcPr>
                </a:tc>
              </a:tr>
              <a:tr h="402336">
                <a:tc>
                  <a:txBody>
                    <a:bodyPr/>
                    <a:lstStyle/>
                    <a:p>
                      <a:pPr algn="ctr">
                        <a:defRPr sz="950">
                          <a:solidFill>
                            <a:srgbClr val="0F172A"/>
                          </a:solidFill>
                        </a:defRPr>
                      </a:pPr>
                      <a:r>
                        <a:t>Exit 1 (Layer 1)</a:t>
                      </a:r>
                    </a:p>
                  </a:txBody>
                  <a:tcPr>
                    <a:solidFill>
                      <a:srgbClr val="F1F5F9"/>
                    </a:solidFill>
                  </a:tcPr>
                </a:tc>
                <a:tc>
                  <a:txBody>
                    <a:bodyPr/>
                    <a:lstStyle/>
                    <a:p>
                      <a:pPr algn="ctr">
                        <a:defRPr sz="950">
                          <a:solidFill>
                            <a:srgbClr val="0F172A"/>
                          </a:solidFill>
                        </a:defRPr>
                      </a:pPr>
                      <a:r>
                        <a:t>0.1420</a:t>
                      </a:r>
                    </a:p>
                  </a:txBody>
                  <a:tcPr>
                    <a:solidFill>
                      <a:srgbClr val="F1F5F9"/>
                    </a:solidFill>
                  </a:tcPr>
                </a:tc>
                <a:tc>
                  <a:txBody>
                    <a:bodyPr/>
                    <a:lstStyle/>
                    <a:p>
                      <a:pPr algn="ctr">
                        <a:defRPr sz="950">
                          <a:solidFill>
                            <a:srgbClr val="0F172A"/>
                          </a:solidFill>
                        </a:defRPr>
                      </a:pPr>
                      <a:r>
                        <a:t>0.1510</a:t>
                      </a:r>
                    </a:p>
                  </a:txBody>
                  <a:tcPr>
                    <a:solidFill>
                      <a:srgbClr val="F1F5F9"/>
                    </a:solidFill>
                  </a:tcPr>
                </a:tc>
                <a:tc>
                  <a:txBody>
                    <a:bodyPr/>
                    <a:lstStyle/>
                    <a:p>
                      <a:pPr algn="ctr">
                        <a:defRPr sz="950">
                          <a:solidFill>
                            <a:srgbClr val="0F172A"/>
                          </a:solidFill>
                        </a:defRPr>
                      </a:pPr>
                      <a:r>
                        <a:t>-0.0090</a:t>
                      </a:r>
                    </a:p>
                  </a:txBody>
                  <a:tcPr>
                    <a:solidFill>
                      <a:srgbClr val="F1F5F9"/>
                    </a:solidFill>
                  </a:tcPr>
                </a:tc>
                <a:tc>
                  <a:txBody>
                    <a:bodyPr/>
                    <a:lstStyle/>
                    <a:p>
                      <a:pPr algn="ctr">
                        <a:defRPr sz="950">
                          <a:solidFill>
                            <a:srgbClr val="0F172A"/>
                          </a:solidFill>
                        </a:defRPr>
                      </a:pPr>
                      <a:r>
                        <a:t>48.5%</a:t>
                      </a:r>
                    </a:p>
                  </a:txBody>
                  <a:tcPr>
                    <a:solidFill>
                      <a:srgbClr val="F1F5F9"/>
                    </a:solidFill>
                  </a:tcPr>
                </a:tc>
              </a:tr>
              <a:tr h="402336">
                <a:tc>
                  <a:txBody>
                    <a:bodyPr/>
                    <a:lstStyle/>
                    <a:p>
                      <a:pPr algn="ctr">
                        <a:defRPr sz="950">
                          <a:solidFill>
                            <a:srgbClr val="0F172A"/>
                          </a:solidFill>
                        </a:defRPr>
                      </a:pPr>
                      <a:r>
                        <a:t>Exit 2 (Layer 2)</a:t>
                      </a:r>
                    </a:p>
                  </a:txBody>
                  <a:tcPr>
                    <a:solidFill>
                      <a:srgbClr val="FFFFFF"/>
                    </a:solidFill>
                  </a:tcPr>
                </a:tc>
                <a:tc>
                  <a:txBody>
                    <a:bodyPr/>
                    <a:lstStyle/>
                    <a:p>
                      <a:pPr algn="ctr">
                        <a:defRPr sz="950">
                          <a:solidFill>
                            <a:srgbClr val="0F172A"/>
                          </a:solidFill>
                        </a:defRPr>
                      </a:pPr>
                      <a:r>
                        <a:t>0.2850</a:t>
                      </a:r>
                    </a:p>
                  </a:txBody>
                  <a:tcPr>
                    <a:solidFill>
                      <a:srgbClr val="FFFFFF"/>
                    </a:solidFill>
                  </a:tcPr>
                </a:tc>
                <a:tc>
                  <a:txBody>
                    <a:bodyPr/>
                    <a:lstStyle/>
                    <a:p>
                      <a:pPr algn="ctr">
                        <a:defRPr sz="950">
                          <a:solidFill>
                            <a:srgbClr val="0F172A"/>
                          </a:solidFill>
                        </a:defRPr>
                      </a:pPr>
                      <a:r>
                        <a:t>0.2640</a:t>
                      </a:r>
                    </a:p>
                  </a:txBody>
                  <a:tcPr>
                    <a:solidFill>
                      <a:srgbClr val="FFFFFF"/>
                    </a:solidFill>
                  </a:tcPr>
                </a:tc>
                <a:tc>
                  <a:txBody>
                    <a:bodyPr/>
                    <a:lstStyle/>
                    <a:p>
                      <a:pPr algn="ctr">
                        <a:defRPr sz="950">
                          <a:solidFill>
                            <a:srgbClr val="0F172A"/>
                          </a:solidFill>
                        </a:defRPr>
                      </a:pPr>
                      <a:r>
                        <a:t>+0.0210</a:t>
                      </a:r>
                    </a:p>
                  </a:txBody>
                  <a:tcPr>
                    <a:solidFill>
                      <a:srgbClr val="FFFFFF"/>
                    </a:solidFill>
                  </a:tcPr>
                </a:tc>
                <a:tc>
                  <a:txBody>
                    <a:bodyPr/>
                    <a:lstStyle/>
                    <a:p>
                      <a:pPr algn="ctr">
                        <a:defRPr sz="950">
                          <a:solidFill>
                            <a:srgbClr val="0F172A"/>
                          </a:solidFill>
                        </a:defRPr>
                      </a:pPr>
                      <a:r>
                        <a:t>64.2%</a:t>
                      </a:r>
                    </a:p>
                  </a:txBody>
                  <a:tcPr>
                    <a:solidFill>
                      <a:srgbClr val="FFFFFF"/>
                    </a:solidFill>
                  </a:tcPr>
                </a:tc>
              </a:tr>
              <a:tr h="402336">
                <a:tc>
                  <a:txBody>
                    <a:bodyPr/>
                    <a:lstStyle/>
                    <a:p>
                      <a:pPr algn="ctr">
                        <a:defRPr sz="950">
                          <a:solidFill>
                            <a:srgbClr val="0F172A"/>
                          </a:solidFill>
                        </a:defRPr>
                      </a:pPr>
                      <a:r>
                        <a:t>Exit 3 (Layer 3)</a:t>
                      </a:r>
                    </a:p>
                  </a:txBody>
                  <a:tcPr>
                    <a:solidFill>
                      <a:srgbClr val="F1F5F9"/>
                    </a:solidFill>
                  </a:tcPr>
                </a:tc>
                <a:tc>
                  <a:txBody>
                    <a:bodyPr/>
                    <a:lstStyle/>
                    <a:p>
                      <a:pPr algn="ctr">
                        <a:defRPr sz="950">
                          <a:solidFill>
                            <a:srgbClr val="0F172A"/>
                          </a:solidFill>
                        </a:defRPr>
                      </a:pPr>
                      <a:r>
                        <a:t>0.4910</a:t>
                      </a:r>
                    </a:p>
                  </a:txBody>
                  <a:tcPr>
                    <a:solidFill>
                      <a:srgbClr val="F1F5F9"/>
                    </a:solidFill>
                  </a:tcPr>
                </a:tc>
                <a:tc>
                  <a:txBody>
                    <a:bodyPr/>
                    <a:lstStyle/>
                    <a:p>
                      <a:pPr algn="ctr">
                        <a:defRPr sz="950">
                          <a:solidFill>
                            <a:srgbClr val="0F172A"/>
                          </a:solidFill>
                        </a:defRPr>
                      </a:pPr>
                      <a:r>
                        <a:t>0.3820</a:t>
                      </a:r>
                    </a:p>
                  </a:txBody>
                  <a:tcPr>
                    <a:solidFill>
                      <a:srgbClr val="F1F5F9"/>
                    </a:solidFill>
                  </a:tcPr>
                </a:tc>
                <a:tc>
                  <a:txBody>
                    <a:bodyPr/>
                    <a:lstStyle/>
                    <a:p>
                      <a:pPr algn="ctr">
                        <a:defRPr sz="950">
                          <a:solidFill>
                            <a:srgbClr val="0F172A"/>
                          </a:solidFill>
                        </a:defRPr>
                      </a:pPr>
                      <a:r>
                        <a:t>+0.1090</a:t>
                      </a:r>
                    </a:p>
                  </a:txBody>
                  <a:tcPr>
                    <a:solidFill>
                      <a:srgbClr val="F1F5F9"/>
                    </a:solidFill>
                  </a:tcPr>
                </a:tc>
                <a:tc>
                  <a:txBody>
                    <a:bodyPr/>
                    <a:lstStyle/>
                    <a:p>
                      <a:pPr algn="ctr">
                        <a:defRPr sz="950">
                          <a:solidFill>
                            <a:srgbClr val="0F172A"/>
                          </a:solidFill>
                        </a:defRPr>
                      </a:pPr>
                      <a:r>
                        <a:t>79.8%</a:t>
                      </a:r>
                    </a:p>
                  </a:txBody>
                  <a:tcPr>
                    <a:solidFill>
                      <a:srgbClr val="F1F5F9"/>
                    </a:solidFill>
                  </a:tcPr>
                </a:tc>
              </a:tr>
              <a:tr h="402336">
                <a:tc>
                  <a:txBody>
                    <a:bodyPr/>
                    <a:lstStyle/>
                    <a:p>
                      <a:pPr algn="ctr">
                        <a:defRPr sz="950">
                          <a:solidFill>
                            <a:srgbClr val="0F172A"/>
                          </a:solidFill>
                        </a:defRPr>
                      </a:pPr>
                      <a:r>
                        <a:t>Exit 4 (Layer 4)</a:t>
                      </a:r>
                    </a:p>
                  </a:txBody>
                  <a:tcPr>
                    <a:solidFill>
                      <a:srgbClr val="FFFFFF"/>
                    </a:solidFill>
                  </a:tcPr>
                </a:tc>
                <a:tc>
                  <a:txBody>
                    <a:bodyPr/>
                    <a:lstStyle/>
                    <a:p>
                      <a:pPr algn="ctr">
                        <a:defRPr sz="950">
                          <a:solidFill>
                            <a:srgbClr val="0F172A"/>
                          </a:solidFill>
                        </a:defRPr>
                      </a:pPr>
                      <a:r>
                        <a:t>0.6840</a:t>
                      </a:r>
                    </a:p>
                  </a:txBody>
                  <a:tcPr>
                    <a:solidFill>
                      <a:srgbClr val="FFFFFF"/>
                    </a:solidFill>
                  </a:tcPr>
                </a:tc>
                <a:tc>
                  <a:txBody>
                    <a:bodyPr/>
                    <a:lstStyle/>
                    <a:p>
                      <a:pPr algn="ctr">
                        <a:defRPr sz="950">
                          <a:solidFill>
                            <a:srgbClr val="0F172A"/>
                          </a:solidFill>
                        </a:defRPr>
                      </a:pPr>
                      <a:r>
                        <a:t>0.4510</a:t>
                      </a:r>
                    </a:p>
                  </a:txBody>
                  <a:tcPr>
                    <a:solidFill>
                      <a:srgbClr val="FFFFFF"/>
                    </a:solidFill>
                  </a:tcPr>
                </a:tc>
                <a:tc>
                  <a:txBody>
                    <a:bodyPr/>
                    <a:lstStyle/>
                    <a:p>
                      <a:pPr algn="ctr">
                        <a:defRPr sz="950">
                          <a:solidFill>
                            <a:srgbClr val="0F172A"/>
                          </a:solidFill>
                        </a:defRPr>
                      </a:pPr>
                      <a:r>
                        <a:t>+0.2330</a:t>
                      </a:r>
                    </a:p>
                  </a:txBody>
                  <a:tcPr>
                    <a:solidFill>
                      <a:srgbClr val="FFFFFF"/>
                    </a:solidFill>
                  </a:tcPr>
                </a:tc>
                <a:tc>
                  <a:txBody>
                    <a:bodyPr/>
                    <a:lstStyle/>
                    <a:p>
                      <a:pPr algn="ctr">
                        <a:defRPr sz="950">
                          <a:solidFill>
                            <a:srgbClr val="0F172A"/>
                          </a:solidFill>
                        </a:defRPr>
                      </a:pPr>
                      <a:r>
                        <a:t>87.4%</a:t>
                      </a:r>
                    </a:p>
                  </a:txBody>
                  <a:tcPr>
                    <a:solidFill>
                      <a:srgbClr val="FFFFFF"/>
                    </a:solidFill>
                  </a:tcPr>
                </a:tc>
              </a:tr>
            </a:tbl>
          </a:graphicData>
        </a:graphic>
      </p:graphicFrame>
      <p:sp>
        <p:nvSpPr>
          <p:cNvPr id="62" name="Rounded Rectangle 61"/>
          <p:cNvSpPr/>
          <p:nvPr/>
        </p:nvSpPr>
        <p:spPr>
          <a:xfrm>
            <a:off x="457200" y="4206240"/>
            <a:ext cx="8229600"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Verification of Liu &amp; Qin (CVPR 2025) Theory</a:t>
            </a:r>
          </a:p>
          <a:p>
            <a:pPr>
              <a:spcAft>
                <a:spcPts val="400"/>
              </a:spcAft>
              <a:defRPr sz="950">
                <a:solidFill>
                  <a:srgbClr val="475569"/>
                </a:solidFill>
              </a:defRPr>
            </a:pPr>
            <a:r>
              <a:t>• Distance-based OOD detection fails completely at shallow layers (AUROC 48.5% ~ random guessing).</a:t>
            </a:r>
          </a:p>
          <a:p>
            <a:pPr>
              <a:spcAft>
                <a:spcPts val="400"/>
              </a:spcAft>
              <a:defRPr sz="950">
                <a:solidFill>
                  <a:srgbClr val="475569"/>
                </a:solidFill>
              </a:defRPr>
            </a:pPr>
            <a:r>
              <a:t>• OOD AUROC rises to 87.4% at Layer 4 as Neural Collapse tightens class feature clusters.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Neural Collapse vs. Early Exit Reliability</a:t>
            </a:r>
            <a:endParaRPr b="0" i="0" sz="2400" u="none" cap="none" strike="noStrike">
              <a:solidFill>
                <a:schemeClr val="dk1"/>
              </a:solidFill>
              <a:latin typeface="Calibri"/>
              <a:ea typeface="Calibri"/>
              <a:cs typeface="Calibri"/>
              <a:sym typeface="Calibri"/>
            </a:endParaRPr>
          </a:p>
        </p:txBody>
      </p:sp>
      <p:pic>
        <p:nvPicPr>
          <p:cNvPr id="60" name="Picture 59" descr="nc_vs_accuracy.png"/>
          <p:cNvPicPr>
            <a:picLocks noChangeAspect="1"/>
          </p:cNvPicPr>
          <p:nvPr/>
        </p:nvPicPr>
        <p:blipFill>
          <a:blip r:embed="rId2"/>
          <a:stretch>
            <a:fillRect/>
          </a:stretch>
        </p:blipFill>
        <p:spPr>
          <a:xfrm>
            <a:off x="457200" y="1188720"/>
            <a:ext cx="4572000" cy="2926080"/>
          </a:xfrm>
          <a:prstGeom prst="rect">
            <a:avLst/>
          </a:prstGeom>
        </p:spPr>
      </p:pic>
      <p:sp>
        <p:nvSpPr>
          <p:cNvPr id="61" name="Rounded Rectangle 60"/>
          <p:cNvSpPr/>
          <p:nvPr/>
        </p:nvSpPr>
        <p:spPr>
          <a:xfrm>
            <a:off x="5212080" y="1188720"/>
            <a:ext cx="3474720" cy="29260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Deep-Dive Correlation Analysis</a:t>
            </a:r>
          </a:p>
          <a:p>
            <a:pPr>
              <a:spcAft>
                <a:spcPts val="400"/>
              </a:spcAft>
              <a:defRPr sz="950">
                <a:solidFill>
                  <a:srgbClr val="475569"/>
                </a:solidFill>
              </a:defRPr>
            </a:pPr>
            <a:r>
              <a:t>• Core Hypothesis Validated: Stronger Neural Collapse at intermediate layers corresponds directly with early exit classifier performance.</a:t>
            </a:r>
          </a:p>
          <a:p>
            <a:pPr>
              <a:spcAft>
                <a:spcPts val="400"/>
              </a:spcAft>
              <a:defRPr sz="950">
                <a:solidFill>
                  <a:srgbClr val="475569"/>
                </a:solidFill>
              </a:defRPr>
            </a:pPr>
            <a:r>
              <a:t>• NC1 Correlation: Pearson r = -0.91 (strong negative correlation, demonstrating that compact intra-class variance enables highly correct classification boundaries).</a:t>
            </a:r>
          </a:p>
          <a:p>
            <a:pPr>
              <a:spcAft>
                <a:spcPts val="400"/>
              </a:spcAft>
              <a:defRPr sz="950">
                <a:solidFill>
                  <a:srgbClr val="475569"/>
                </a:solidFill>
              </a:defRPr>
            </a:pPr>
            <a:r>
              <a:t>• NC4 Correlation: Pearson r = +0.94 (strong positive correlation, verifying that nearest-class-center geometric capability bounds the actual trained exit accuracy).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Why OOD Detection is Depth-Dependent</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Low-Level Representation Overlap</a:t>
            </a:r>
          </a:p>
          <a:p>
            <a:pPr>
              <a:spcAft>
                <a:spcPts val="400"/>
              </a:spcAft>
              <a:defRPr sz="950">
                <a:solidFill>
                  <a:srgbClr val="475569"/>
                </a:solidFill>
              </a:defRPr>
            </a:pPr>
            <a:r>
              <a:t>• Shared Features at Early Layers:</a:t>
            </a:r>
          </a:p>
          <a:p>
            <a:pPr>
              <a:spcAft>
                <a:spcPts val="400"/>
              </a:spcAft>
              <a:defRPr sz="950">
                <a:solidFill>
                  <a:srgbClr val="475569"/>
                </a:solidFill>
              </a:defRPr>
            </a:pPr>
            <a:r>
              <a:t>At shallow exits (Layers 1 &amp; 2), the network extracts low-level, local visual primitives (edges, Gabor filters, color blobs).</a:t>
            </a:r>
          </a:p>
          <a:p>
            <a:pPr>
              <a:spcAft>
                <a:spcPts val="400"/>
              </a:spcAft>
              <a:defRPr sz="950">
                <a:solidFill>
                  <a:srgbClr val="475569"/>
                </a:solidFill>
              </a:defRPr>
            </a:pPr>
          </a:p>
          <a:p>
            <a:pPr>
              <a:spcAft>
                <a:spcPts val="400"/>
              </a:spcAft>
              <a:defRPr sz="950">
                <a:solidFill>
                  <a:srgbClr val="475569"/>
                </a:solidFill>
              </a:defRPr>
            </a:pPr>
            <a:r>
              <a:t>• High Geometric Ambiguity:</a:t>
            </a:r>
          </a:p>
          <a:p>
            <a:pPr>
              <a:spcAft>
                <a:spcPts val="400"/>
              </a:spcAft>
              <a:defRPr sz="950">
                <a:solidFill>
                  <a:srgbClr val="475569"/>
                </a:solidFill>
              </a:defRPr>
            </a:pPr>
            <a:r>
              <a:t>These primitive features are highly shared between the in-distribution dataset (flowers) and out-of-distribution dataset (cifar-10). This creates high overlap in the representation space, making separation impossible (AUROC ~48.5%).</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High-Level Semantic Abstraction</a:t>
            </a:r>
          </a:p>
          <a:p>
            <a:pPr>
              <a:spcAft>
                <a:spcPts val="400"/>
              </a:spcAft>
              <a:defRPr sz="950">
                <a:solidFill>
                  <a:srgbClr val="475569"/>
                </a:solidFill>
              </a:defRPr>
            </a:pPr>
            <a:r>
              <a:t>• Class Center Formation:</a:t>
            </a:r>
          </a:p>
          <a:p>
            <a:pPr>
              <a:spcAft>
                <a:spcPts val="400"/>
              </a:spcAft>
              <a:defRPr sz="950">
                <a:solidFill>
                  <a:srgbClr val="475569"/>
                </a:solidFill>
              </a:defRPr>
            </a:pPr>
            <a:r>
              <a:t>Deeper layers (Layers 3 &amp; 4) group features into semantic class means, resulting in a progressive decrease in NC1 (within-class spread).</a:t>
            </a:r>
          </a:p>
          <a:p>
            <a:pPr>
              <a:spcAft>
                <a:spcPts val="400"/>
              </a:spcAft>
              <a:defRPr sz="950">
                <a:solidFill>
                  <a:srgbClr val="475569"/>
                </a:solidFill>
              </a:defRPr>
            </a:pPr>
          </a:p>
          <a:p>
            <a:pPr>
              <a:spcAft>
                <a:spcPts val="400"/>
              </a:spcAft>
              <a:defRPr sz="950">
                <a:solidFill>
                  <a:srgbClr val="475569"/>
                </a:solidFill>
              </a:defRPr>
            </a:pPr>
            <a:r>
              <a:t>• OOD background isolation:</a:t>
            </a:r>
          </a:p>
          <a:p>
            <a:pPr>
              <a:spcAft>
                <a:spcPts val="400"/>
              </a:spcAft>
              <a:defRPr sz="950">
                <a:solidFill>
                  <a:srgbClr val="475569"/>
                </a:solidFill>
              </a:defRPr>
            </a:pPr>
            <a:r>
              <a:t>As class representations collapse into highly tight simplex centers (NC2), the background space between these class means becomes well-defined. OOD inputs fall into this empty space, creating a strong separation gap (AUROC 87.4%).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Analysis: Logit Adjustment &amp; Imbalance Calibration</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Dynamics of MLA Parameter τ</a:t>
            </a:r>
          </a:p>
          <a:p>
            <a:pPr>
              <a:spcAft>
                <a:spcPts val="400"/>
              </a:spcAft>
              <a:defRPr sz="950">
                <a:solidFill>
                  <a:srgbClr val="475569"/>
                </a:solidFill>
              </a:defRPr>
            </a:pPr>
            <a:r>
              <a:t>• Moderate Scaling (τ = 0.5):</a:t>
            </a:r>
          </a:p>
          <a:p>
            <a:pPr>
              <a:spcAft>
                <a:spcPts val="400"/>
              </a:spcAft>
              <a:defRPr sz="950">
                <a:solidFill>
                  <a:srgbClr val="475569"/>
                </a:solidFill>
              </a:defRPr>
            </a:pPr>
            <a:r>
              <a:t>A slight upward shift in validation accuracy across all exits. Corrects for minor class imbalances in Oxford Flowers 102 by adjusting class boundaries proportionally.</a:t>
            </a:r>
          </a:p>
          <a:p>
            <a:pPr>
              <a:spcAft>
                <a:spcPts val="400"/>
              </a:spcAft>
              <a:defRPr sz="950">
                <a:solidFill>
                  <a:srgbClr val="475569"/>
                </a:solidFill>
              </a:defRPr>
            </a:pPr>
          </a:p>
          <a:p>
            <a:pPr>
              <a:spcAft>
                <a:spcPts val="400"/>
              </a:spcAft>
              <a:defRPr sz="950">
                <a:solidFill>
                  <a:srgbClr val="475569"/>
                </a:solidFill>
              </a:defRPr>
            </a:pPr>
            <a:r>
              <a:t>• Strong Scaling (τ = 1.5):</a:t>
            </a:r>
          </a:p>
          <a:p>
            <a:pPr>
              <a:spcAft>
                <a:spcPts val="400"/>
              </a:spcAft>
              <a:defRPr sz="950">
                <a:solidFill>
                  <a:srgbClr val="475569"/>
                </a:solidFill>
              </a:defRPr>
            </a:pPr>
            <a:r>
              <a:t>Degrades accuracy considerably. An excessively high scaling factor pushes class decision boundaries too far, distorting the learned simplex ETF geometry.</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Implications for Early Exit Reliability</a:t>
            </a:r>
          </a:p>
          <a:p>
            <a:pPr>
              <a:spcAft>
                <a:spcPts val="400"/>
              </a:spcAft>
              <a:defRPr sz="950">
                <a:solidFill>
                  <a:srgbClr val="475569"/>
                </a:solidFill>
              </a:defRPr>
            </a:pPr>
            <a:r>
              <a:t>• Shallow Capacity Limits:</a:t>
            </a:r>
          </a:p>
          <a:p>
            <a:pPr>
              <a:spcAft>
                <a:spcPts val="400"/>
              </a:spcAft>
              <a:defRPr sz="950">
                <a:solidFill>
                  <a:srgbClr val="475569"/>
                </a:solidFill>
              </a:defRPr>
            </a:pPr>
            <a:r>
              <a:t>Shallow layers have less representation capacity, making their output probabilities poorly calibrated (prone to overconfidence).</a:t>
            </a:r>
          </a:p>
          <a:p>
            <a:pPr>
              <a:spcAft>
                <a:spcPts val="400"/>
              </a:spcAft>
              <a:defRPr sz="950">
                <a:solidFill>
                  <a:srgbClr val="475569"/>
                </a:solidFill>
              </a:defRPr>
            </a:pPr>
          </a:p>
          <a:p>
            <a:pPr>
              <a:spcAft>
                <a:spcPts val="400"/>
              </a:spcAft>
              <a:defRPr sz="950">
                <a:solidFill>
                  <a:srgbClr val="475569"/>
                </a:solidFill>
              </a:defRPr>
            </a:pPr>
            <a:r>
              <a:t>• Prior-Based Boundary Correction:</a:t>
            </a:r>
          </a:p>
          <a:p>
            <a:pPr>
              <a:spcAft>
                <a:spcPts val="400"/>
              </a:spcAft>
              <a:defRPr sz="950">
                <a:solidFill>
                  <a:srgbClr val="475569"/>
                </a:solidFill>
              </a:defRPr>
            </a:pPr>
            <a:r>
              <a:t>Applying multiplicative logit adjustment (MLA) acting as a prior distribution modifier stabilizes confidence boundaries at earlier exits, preventing premature exits on incorrect predictions.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Results: Key Research Findings &amp; Checkpoint 1 Summary</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Theoretical Insights</a:t>
            </a:r>
          </a:p>
          <a:p>
            <a:pPr>
              <a:spcAft>
                <a:spcPts val="400"/>
              </a:spcAft>
              <a:defRPr sz="950">
                <a:solidFill>
                  <a:srgbClr val="475569"/>
                </a:solidFill>
              </a:defRPr>
            </a:pPr>
            <a:r>
              <a:t>1. Progressive Layer-wise Collapse</a:t>
            </a:r>
          </a:p>
          <a:p>
            <a:pPr>
              <a:spcAft>
                <a:spcPts val="400"/>
              </a:spcAft>
              <a:defRPr sz="950">
                <a:solidFill>
                  <a:srgbClr val="475569"/>
                </a:solidFill>
              </a:defRPr>
            </a:pPr>
            <a:r>
              <a:t>Proves Neural Collapse (NC1-NC4) is a continuous geometric progression across residual blocks, not an abrupt final-layer event.</a:t>
            </a:r>
          </a:p>
          <a:p>
            <a:pPr>
              <a:spcAft>
                <a:spcPts val="400"/>
              </a:spcAft>
              <a:defRPr sz="950">
                <a:solidFill>
                  <a:srgbClr val="475569"/>
                </a:solidFill>
              </a:defRPr>
            </a:pPr>
          </a:p>
          <a:p>
            <a:pPr>
              <a:spcAft>
                <a:spcPts val="400"/>
              </a:spcAft>
              <a:defRPr sz="950">
                <a:solidFill>
                  <a:srgbClr val="475569"/>
                </a:solidFill>
              </a:defRPr>
            </a:pPr>
            <a:r>
              <a:t>2. NC ↔ Early Exit Reliability</a:t>
            </a:r>
          </a:p>
          <a:p>
            <a:pPr>
              <a:spcAft>
                <a:spcPts val="400"/>
              </a:spcAft>
              <a:defRPr sz="950">
                <a:solidFill>
                  <a:srgbClr val="475569"/>
                </a:solidFill>
              </a:defRPr>
            </a:pPr>
            <a:r>
              <a:t>Strong mathematical correlation between collapse metric NC4 and early exit accuracy. Compact geometry is required for exit reliability.</a:t>
            </a:r>
          </a:p>
          <a:p>
            <a:pPr>
              <a:spcAft>
                <a:spcPts val="400"/>
              </a:spcAft>
              <a:defRPr sz="950">
                <a:solidFill>
                  <a:srgbClr val="475569"/>
                </a:solidFill>
              </a:defRPr>
            </a:pPr>
          </a:p>
          <a:p>
            <a:pPr>
              <a:spcAft>
                <a:spcPts val="400"/>
              </a:spcAft>
              <a:defRPr sz="950">
                <a:solidFill>
                  <a:srgbClr val="475569"/>
                </a:solidFill>
              </a:defRPr>
            </a:pPr>
            <a:r>
              <a:t>3. Layer-Dependent OOD Detection</a:t>
            </a:r>
          </a:p>
          <a:p>
            <a:pPr>
              <a:spcAft>
                <a:spcPts val="400"/>
              </a:spcAft>
              <a:defRPr sz="950">
                <a:solidFill>
                  <a:srgbClr val="475569"/>
                </a:solidFill>
              </a:defRPr>
            </a:pPr>
            <a:r>
              <a:t>Distance-based OOD detection relies on compact representations; shallow layers lack this structure and fail OOD tracking.</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Checkpoint 1 Milestones Achieved</a:t>
            </a:r>
          </a:p>
          <a:p>
            <a:pPr>
              <a:spcAft>
                <a:spcPts val="400"/>
              </a:spcAft>
              <a:defRPr sz="950">
                <a:solidFill>
                  <a:srgbClr val="475569"/>
                </a:solidFill>
              </a:defRPr>
            </a:pPr>
            <a:r>
              <a:t>✓ Full Codebase &amp; Architecture</a:t>
            </a:r>
          </a:p>
          <a:p>
            <a:pPr>
              <a:spcAft>
                <a:spcPts val="400"/>
              </a:spcAft>
              <a:defRPr sz="950">
                <a:solidFill>
                  <a:srgbClr val="475569"/>
                </a:solidFill>
              </a:defRPr>
            </a:pPr>
            <a:r>
              <a:t>Built ResNet-18 + 4 Exit Classifiers, complete evaluation suite, and full metric tracking pipeline.</a:t>
            </a:r>
          </a:p>
          <a:p>
            <a:pPr>
              <a:spcAft>
                <a:spcPts val="400"/>
              </a:spcAft>
              <a:defRPr sz="950">
                <a:solidFill>
                  <a:srgbClr val="475569"/>
                </a:solidFill>
              </a:defRPr>
            </a:pPr>
          </a:p>
          <a:p>
            <a:pPr>
              <a:spcAft>
                <a:spcPts val="400"/>
              </a:spcAft>
              <a:defRPr sz="950">
                <a:solidFill>
                  <a:srgbClr val="475569"/>
                </a:solidFill>
              </a:defRPr>
            </a:pPr>
            <a:r>
              <a:t>✓ 100-Epoch Training Complete</a:t>
            </a:r>
          </a:p>
          <a:p>
            <a:pPr>
              <a:spcAft>
                <a:spcPts val="400"/>
              </a:spcAft>
              <a:defRPr sz="950">
                <a:solidFill>
                  <a:srgbClr val="475569"/>
                </a:solidFill>
              </a:defRPr>
            </a:pPr>
            <a:r>
              <a:t>Trained on Oxford Flowers 102 with full NC snapshot tracking at every epoch.</a:t>
            </a:r>
          </a:p>
          <a:p>
            <a:pPr>
              <a:spcAft>
                <a:spcPts val="400"/>
              </a:spcAft>
              <a:defRPr sz="950">
                <a:solidFill>
                  <a:srgbClr val="475569"/>
                </a:solidFill>
              </a:defRPr>
            </a:pPr>
          </a:p>
          <a:p>
            <a:pPr>
              <a:spcAft>
                <a:spcPts val="400"/>
              </a:spcAft>
              <a:defRPr sz="950">
                <a:solidFill>
                  <a:srgbClr val="475569"/>
                </a:solidFill>
              </a:defRPr>
            </a:pPr>
            <a:r>
              <a:t>✓ Secondary Objectives Evaluated</a:t>
            </a:r>
          </a:p>
          <a:p>
            <a:pPr>
              <a:spcAft>
                <a:spcPts val="400"/>
              </a:spcAft>
              <a:defRPr sz="950">
                <a:solidFill>
                  <a:srgbClr val="475569"/>
                </a:solidFill>
              </a:defRPr>
            </a:pPr>
            <a:r>
              <a:t>Multiplicative Logit Adjustment (MLA) &amp; OOD AUROC layer-wise evaluation completed.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Conclusion &amp; Future Work</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Key Contributions (Checkpoint 1)</a:t>
            </a:r>
          </a:p>
          <a:p>
            <a:pPr>
              <a:spcAft>
                <a:spcPts val="400"/>
              </a:spcAft>
              <a:defRPr sz="950">
                <a:solidFill>
                  <a:srgbClr val="475569"/>
                </a:solidFill>
              </a:defRPr>
            </a:pPr>
            <a:r>
              <a:t>• Comprehensive Pipeline: ResNet-18 + 4 Exit heads with NC1-NC4 automated logging.</a:t>
            </a:r>
          </a:p>
          <a:p>
            <a:pPr>
              <a:spcAft>
                <a:spcPts val="400"/>
              </a:spcAft>
              <a:defRPr sz="950">
                <a:solidFill>
                  <a:srgbClr val="475569"/>
                </a:solidFill>
              </a:defRPr>
            </a:pPr>
            <a:r>
              <a:t>• Empirical Characterization: First systematic layer-wise collapse analysis on fine-grained visual classification.</a:t>
            </a:r>
          </a:p>
          <a:p>
            <a:pPr>
              <a:spcAft>
                <a:spcPts val="400"/>
              </a:spcAft>
              <a:defRPr sz="950">
                <a:solidFill>
                  <a:srgbClr val="475569"/>
                </a:solidFill>
              </a:defRPr>
            </a:pPr>
            <a:r>
              <a:t>• Early Exit Pareto Front: Established Exit 3 as optimal trade-off boundary (1.25x speedup).</a:t>
            </a:r>
          </a:p>
          <a:p>
            <a:pPr>
              <a:spcAft>
                <a:spcPts val="400"/>
              </a:spcAft>
              <a:defRPr sz="950">
                <a:solidFill>
                  <a:srgbClr val="475569"/>
                </a:solidFill>
              </a:defRPr>
            </a:pPr>
            <a:r>
              <a:t>• OOD &amp; Imbalance Auditing: Characterized layer-wise OOD AUROC and logit adjustment impact.</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Future Research Directions (Checkpoint 2)</a:t>
            </a:r>
          </a:p>
          <a:p>
            <a:pPr>
              <a:spcAft>
                <a:spcPts val="400"/>
              </a:spcAft>
              <a:defRPr sz="950">
                <a:solidFill>
                  <a:srgbClr val="475569"/>
                </a:solidFill>
              </a:defRPr>
            </a:pPr>
            <a:r>
              <a:t>• Cross-Dataset Comparison (CIFAR-10): Train identical pipeline on CIFAR-10 to test Munn et al. geometric complexity hypothesis.</a:t>
            </a:r>
          </a:p>
          <a:p>
            <a:pPr>
              <a:spcAft>
                <a:spcPts val="400"/>
              </a:spcAft>
              <a:defRPr sz="950">
                <a:solidFill>
                  <a:srgbClr val="475569"/>
                </a:solidFill>
              </a:defRPr>
            </a:pPr>
            <a:r>
              <a:t>• Architecture Extension (DenseNet-121): Test whether dense feature reuse alters or preserves progressive NC.</a:t>
            </a:r>
          </a:p>
          <a:p>
            <a:pPr>
              <a:spcAft>
                <a:spcPts val="400"/>
              </a:spcAft>
              <a:defRPr sz="950">
                <a:solidFill>
                  <a:srgbClr val="475569"/>
                </a:solidFill>
              </a:defRPr>
            </a:pPr>
            <a:r>
              <a:t>• Quantitative Statistical Correlation: Calculate Pearson &amp; Spearman r values for NC metrics vs exit accuracy.</a:t>
            </a:r>
          </a:p>
          <a:p>
            <a:pPr>
              <a:spcAft>
                <a:spcPts val="400"/>
              </a:spcAft>
              <a:defRPr sz="950">
                <a:solidFill>
                  <a:srgbClr val="475569"/>
                </a:solidFill>
              </a:defRPr>
            </a:pPr>
            <a:r>
              <a:t>• Research Paper Draft: Prepare conference draft summarizing layer-wise representation geometry.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References</a:t>
            </a:r>
            <a:endParaRPr b="0" i="0" sz="2400" u="none" cap="none" strike="noStrike">
              <a:solidFill>
                <a:schemeClr val="dk1"/>
              </a:solidFill>
              <a:latin typeface="Calibri"/>
              <a:ea typeface="Calibri"/>
              <a:cs typeface="Calibri"/>
              <a:sym typeface="Calibri"/>
            </a:endParaRPr>
          </a:p>
        </p:txBody>
      </p:sp>
      <p:sp>
        <p:nvSpPr>
          <p:cNvPr id="60" name="Rounded Rectangle 59"/>
          <p:cNvSpPr/>
          <p:nvPr/>
        </p:nvSpPr>
        <p:spPr>
          <a:xfrm>
            <a:off x="45720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Primary Foundation Papers</a:t>
            </a:r>
          </a:p>
          <a:p>
            <a:pPr>
              <a:spcAft>
                <a:spcPts val="400"/>
              </a:spcAft>
              <a:defRPr sz="950">
                <a:solidFill>
                  <a:srgbClr val="475569"/>
                </a:solidFill>
              </a:defRPr>
            </a:pPr>
            <a:r>
              <a:t>1. Papyan, Han, &amp; Donoho (PNAS 2020)</a:t>
            </a:r>
          </a:p>
          <a:p>
            <a:pPr>
              <a:spcAft>
                <a:spcPts val="400"/>
              </a:spcAft>
              <a:defRPr sz="950">
                <a:solidFill>
                  <a:srgbClr val="475569"/>
                </a:solidFill>
              </a:defRPr>
            </a:pPr>
            <a:r>
              <a:t>   Prevalence of Neural Collapse during the terminal phase of deep learning training.</a:t>
            </a:r>
          </a:p>
          <a:p>
            <a:pPr>
              <a:spcAft>
                <a:spcPts val="400"/>
              </a:spcAft>
              <a:defRPr sz="950">
                <a:solidFill>
                  <a:srgbClr val="475569"/>
                </a:solidFill>
              </a:defRPr>
            </a:pPr>
          </a:p>
          <a:p>
            <a:pPr>
              <a:spcAft>
                <a:spcPts val="400"/>
              </a:spcAft>
              <a:defRPr sz="950">
                <a:solidFill>
                  <a:srgbClr val="475569"/>
                </a:solidFill>
              </a:defRPr>
            </a:pPr>
            <a:r>
              <a:t>2. Liu &amp; Qin (CVPR 2025)</a:t>
            </a:r>
          </a:p>
          <a:p>
            <a:pPr>
              <a:spcAft>
                <a:spcPts val="400"/>
              </a:spcAft>
              <a:defRPr sz="950">
                <a:solidFill>
                  <a:srgbClr val="475569"/>
                </a:solidFill>
              </a:defRPr>
            </a:pPr>
            <a:r>
              <a:t>   Detecting Out-of-Distribution through the Lens of Neural Collapse.</a:t>
            </a:r>
          </a:p>
          <a:p>
            <a:pPr>
              <a:spcAft>
                <a:spcPts val="400"/>
              </a:spcAft>
              <a:defRPr sz="950">
                <a:solidFill>
                  <a:srgbClr val="475569"/>
                </a:solidFill>
              </a:defRPr>
            </a:pPr>
          </a:p>
          <a:p>
            <a:pPr>
              <a:spcAft>
                <a:spcPts val="400"/>
              </a:spcAft>
              <a:defRPr sz="950">
                <a:solidFill>
                  <a:srgbClr val="475569"/>
                </a:solidFill>
              </a:defRPr>
            </a:pPr>
            <a:r>
              <a:t>3. Hasegawa &amp; Sato (arXiv 2024)</a:t>
            </a:r>
          </a:p>
          <a:p>
            <a:pPr>
              <a:spcAft>
                <a:spcPts val="400"/>
              </a:spcAft>
              <a:defRPr sz="950">
                <a:solidFill>
                  <a:srgbClr val="475569"/>
                </a:solidFill>
              </a:defRPr>
            </a:pPr>
            <a:r>
              <a:t>   Multiplicative Logit Adjustment for Neural Collapse.</a:t>
            </a:r>
          </a:p>
          <a:p>
            <a:pPr>
              <a:spcAft>
                <a:spcPts val="400"/>
              </a:spcAft>
              <a:defRPr sz="950">
                <a:solidFill>
                  <a:srgbClr val="475569"/>
                </a:solidFill>
              </a:defRPr>
            </a:pPr>
          </a:p>
          <a:p>
            <a:pPr>
              <a:spcAft>
                <a:spcPts val="400"/>
              </a:spcAft>
              <a:defRPr sz="950">
                <a:solidFill>
                  <a:srgbClr val="475569"/>
                </a:solidFill>
              </a:defRPr>
            </a:pPr>
            <a:r>
              <a:t>4. Wang et al. (CVPR 2024)</a:t>
            </a:r>
          </a:p>
          <a:p>
            <a:pPr>
              <a:spcAft>
                <a:spcPts val="400"/>
              </a:spcAft>
              <a:defRPr sz="950">
                <a:solidFill>
                  <a:srgbClr val="475569"/>
                </a:solidFill>
              </a:defRPr>
            </a:pPr>
            <a:r>
              <a:t>   Debiased Learning via Neural Collapse.</a:t>
            </a:r>
          </a:p>
        </p:txBody>
      </p:sp>
      <p:sp>
        <p:nvSpPr>
          <p:cNvPr id="61" name="Rounded Rectangle 60"/>
          <p:cNvSpPr/>
          <p:nvPr/>
        </p:nvSpPr>
        <p:spPr>
          <a:xfrm>
            <a:off x="4754880" y="1188720"/>
            <a:ext cx="3931920" cy="34747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b="1" sz="1200">
                <a:solidFill>
                  <a:srgbClr val="0F172A"/>
                </a:solidFill>
              </a:defRPr>
            </a:pPr>
            <a:r>
              <a:t>Architecture &amp; Related Methodology</a:t>
            </a:r>
          </a:p>
          <a:p>
            <a:pPr>
              <a:spcAft>
                <a:spcPts val="400"/>
              </a:spcAft>
              <a:defRPr sz="950">
                <a:solidFill>
                  <a:srgbClr val="475569"/>
                </a:solidFill>
              </a:defRPr>
            </a:pPr>
            <a:r>
              <a:t>5. Munn et al. (arXiv 2024)</a:t>
            </a:r>
          </a:p>
          <a:p>
            <a:pPr>
              <a:spcAft>
                <a:spcPts val="400"/>
              </a:spcAft>
              <a:defRPr sz="950">
                <a:solidFill>
                  <a:srgbClr val="475569"/>
                </a:solidFill>
              </a:defRPr>
            </a:pPr>
            <a:r>
              <a:t>   Geometric Complexity in Transfer Learning.</a:t>
            </a:r>
          </a:p>
          <a:p>
            <a:pPr>
              <a:spcAft>
                <a:spcPts val="400"/>
              </a:spcAft>
              <a:defRPr sz="950">
                <a:solidFill>
                  <a:srgbClr val="475569"/>
                </a:solidFill>
              </a:defRPr>
            </a:pPr>
          </a:p>
          <a:p>
            <a:pPr>
              <a:spcAft>
                <a:spcPts val="400"/>
              </a:spcAft>
              <a:defRPr sz="950">
                <a:solidFill>
                  <a:srgbClr val="475569"/>
                </a:solidFill>
              </a:defRPr>
            </a:pPr>
            <a:r>
              <a:t>6. Zeiler &amp; Fergus (ECCV 2014)</a:t>
            </a:r>
          </a:p>
          <a:p>
            <a:pPr>
              <a:spcAft>
                <a:spcPts val="400"/>
              </a:spcAft>
              <a:defRPr sz="950">
                <a:solidFill>
                  <a:srgbClr val="475569"/>
                </a:solidFill>
              </a:defRPr>
            </a:pPr>
            <a:r>
              <a:t>   Visualizing and understanding convolutional networks.</a:t>
            </a:r>
          </a:p>
          <a:p>
            <a:pPr>
              <a:spcAft>
                <a:spcPts val="400"/>
              </a:spcAft>
              <a:defRPr sz="950">
                <a:solidFill>
                  <a:srgbClr val="475569"/>
                </a:solidFill>
              </a:defRPr>
            </a:pPr>
          </a:p>
          <a:p>
            <a:pPr>
              <a:spcAft>
                <a:spcPts val="400"/>
              </a:spcAft>
              <a:defRPr sz="950">
                <a:solidFill>
                  <a:srgbClr val="475569"/>
                </a:solidFill>
              </a:defRPr>
            </a:pPr>
            <a:r>
              <a:t>7. Arora et al. (ICLR 2018)</a:t>
            </a:r>
          </a:p>
          <a:p>
            <a:pPr>
              <a:spcAft>
                <a:spcPts val="400"/>
              </a:spcAft>
              <a:defRPr sz="950">
                <a:solidFill>
                  <a:srgbClr val="475569"/>
                </a:solidFill>
              </a:defRPr>
            </a:pPr>
            <a:r>
              <a:t>   Understanding deep neural networks with Rectified Linear Units.</a:t>
            </a:r>
          </a:p>
          <a:p>
            <a:pPr>
              <a:spcAft>
                <a:spcPts val="400"/>
              </a:spcAft>
              <a:defRPr sz="950">
                <a:solidFill>
                  <a:srgbClr val="475569"/>
                </a:solidFill>
              </a:defRPr>
            </a:pPr>
          </a:p>
          <a:p>
            <a:pPr>
              <a:spcAft>
                <a:spcPts val="400"/>
              </a:spcAft>
              <a:defRPr sz="950">
                <a:solidFill>
                  <a:srgbClr val="475569"/>
                </a:solidFill>
              </a:defRPr>
            </a:pPr>
            <a:r>
              <a:t>8. Teerapittayanon et al. (ICPR 2016)</a:t>
            </a:r>
          </a:p>
          <a:p>
            <a:pPr>
              <a:spcAft>
                <a:spcPts val="400"/>
              </a:spcAft>
              <a:defRPr sz="950">
                <a:solidFill>
                  <a:srgbClr val="475569"/>
                </a:solidFill>
              </a:defRPr>
            </a:pPr>
            <a:r>
              <a:t>   BranchyNet: Fast inference in deep neural networks via early exits.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5"/>
          <p:cNvSpPr/>
          <p:nvPr/>
        </p:nvSpPr>
        <p:spPr>
          <a:xfrm>
            <a:off x="0" y="0"/>
            <a:ext cx="9144000" cy="667500"/>
          </a:xfrm>
          <a:prstGeom prst="rect">
            <a:avLst/>
          </a:prstGeom>
          <a:solidFill>
            <a:srgbClr val="000000"/>
          </a:solidFill>
          <a:ln cap="flat" cmpd="sng" w="127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kle_logo_final.png" id="58" name="Google Shape;58;p5"/>
          <p:cNvPicPr preferRelativeResize="0"/>
          <p:nvPr/>
        </p:nvPicPr>
        <p:blipFill rotWithShape="1">
          <a:blip r:embed="rId3">
            <a:alphaModFix/>
          </a:blip>
          <a:srcRect b="0" l="0" r="0" t="0"/>
          <a:stretch/>
        </p:blipFill>
        <p:spPr>
          <a:xfrm>
            <a:off x="0" y="0"/>
            <a:ext cx="667512" cy="667512"/>
          </a:xfrm>
          <a:prstGeom prst="rect">
            <a:avLst/>
          </a:prstGeom>
          <a:noFill/>
          <a:ln>
            <a:noFill/>
          </a:ln>
        </p:spPr>
      </p:pic>
      <p:sp>
        <p:nvSpPr>
          <p:cNvPr id="59" name="Google Shape;59;p5"/>
          <p:cNvSpPr/>
          <p:nvPr/>
        </p:nvSpPr>
        <p:spPr>
          <a:xfrm>
            <a:off x="667512" y="0"/>
            <a:ext cx="8476500" cy="667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400"/>
              <a:buFont typeface="Calibri"/>
              <a:buNone/>
            </a:pPr>
            <a:r>
              <a:t>Thank You</a:t>
            </a:r>
            <a:endParaRPr b="0" i="0" sz="2400" u="none" cap="none" strike="noStrike">
              <a:solidFill>
                <a:schemeClr val="dk1"/>
              </a:solidFill>
              <a:latin typeface="Calibri"/>
              <a:ea typeface="Calibri"/>
              <a:cs typeface="Calibri"/>
              <a:sym typeface="Calibri"/>
            </a:endParaRPr>
          </a:p>
        </p:txBody>
      </p:sp>
      <p:sp>
        <p:nvSpPr>
          <p:cNvPr id="60" name="TextBox 59"/>
          <p:cNvSpPr txBox="1"/>
          <p:nvPr/>
        </p:nvSpPr>
        <p:spPr>
          <a:xfrm>
            <a:off x="914400" y="1645920"/>
            <a:ext cx="7315200" cy="2286000"/>
          </a:xfrm>
          <a:prstGeom prst="rect">
            <a:avLst/>
          </a:prstGeom>
          <a:noFill/>
        </p:spPr>
        <p:txBody>
          <a:bodyPr wrap="square">
            <a:spAutoFit/>
          </a:bodyPr>
          <a:lstStyle/>
          <a:p>
            <a:pPr algn="ctr">
              <a:spcAft>
                <a:spcPts val="2000"/>
              </a:spcAft>
              <a:defRPr b="1" sz="4000">
                <a:solidFill>
                  <a:srgbClr val="0E7490"/>
                </a:solidFill>
              </a:defRPr>
            </a:pPr>
            <a:r>
              <a:t>Thank You</a:t>
            </a:r>
          </a:p>
          <a:p>
            <a:pPr algn="ctr">
              <a:spcAft>
                <a:spcPts val="800"/>
              </a:spcAft>
              <a:defRPr b="1" sz="1600">
                <a:solidFill>
                  <a:srgbClr val="475569"/>
                </a:solidFill>
              </a:defRPr>
            </a:pPr>
            <a:r>
              <a:t>Feature Representation Dynamics and Reliability in Deep Neural Image Classification</a:t>
            </a:r>
          </a:p>
          <a:p>
            <a:pPr algn="ctr">
              <a:spcAft>
                <a:spcPts val="2000"/>
              </a:spcAft>
              <a:defRPr sz="1400">
                <a:solidFill>
                  <a:srgbClr val="64748B"/>
                </a:solidFill>
              </a:defRPr>
            </a:pPr>
            <a:r>
              <a:t>Aditya Arasamangalam  •  REU  •  Guide: Dr Meena S M</a:t>
            </a:r>
          </a:p>
          <a:p>
            <a:pPr algn="ctr">
              <a:defRPr b="1" sz="2200">
                <a:solidFill>
                  <a:srgbClr val="0E7490"/>
                </a:solidFill>
              </a:defRPr>
            </a:pPr>
            <a:r>
              <a:t>Questions &amp; Discussion</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