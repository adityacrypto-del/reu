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</p:sldIdLst>
  <p:sldSz cy="5143500" cx="9144000"/>
  <p:notesSz cx="5143500" cy="9144000"/>
  <p:embeddedFontLst>
    <p:embeddedFont>
      <p:font typeface="Inter"/>
      <p:bold r:id="rId20"/>
      <p:boldItalic r:id="rId2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7996F48-4C62-4C66-BBC9-E9579EBA44FE}">
  <a:tblStyle styleId="{67996F48-4C62-4C66-BBC9-E9579EBA44F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font" Target="fonts/Inter-bold.fntdata"/><Relationship Id="rId21" Type="http://schemas.openxmlformats.org/officeDocument/2006/relationships/font" Target="fonts/Inter-boldItalic.fntdata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" name="Google Shape;25;p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" name="Google Shape;26;p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" name="Google Shape;54;p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" name="Google Shape;62;p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6" name="Google Shape;86;p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5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3" name="Google Shape;133;p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1" name="Google Shape;171;p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7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8" name="Google Shape;208;p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8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5" name="Google Shape;245;p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1" name="Google Shape;281;p1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1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6" name="Google Shape;296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7" name="Google Shape;297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9" name="Google Shape;319;p1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1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8" name="Google Shape;358;p1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9" name="Google Shape;359;p1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1" name="Google Shape;391;p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2" name="Google Shape;392;p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Relationship Id="rId4" Type="http://schemas.openxmlformats.org/officeDocument/2006/relationships/image" Target="../media/image6.png"/><Relationship Id="rId5" Type="http://schemas.openxmlformats.org/officeDocument/2006/relationships/image" Target="../media/image1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Relationship Id="rId4" Type="http://schemas.openxmlformats.org/officeDocument/2006/relationships/image" Target="../media/image6.png"/><Relationship Id="rId5" Type="http://schemas.openxmlformats.org/officeDocument/2006/relationships/image" Target="../media/image_method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Relationship Id="rId4" Type="http://schemas.openxmlformats.org/officeDocument/2006/relationships/image" Target="../media/image6.png"/><Relationship Id="rId5" Type="http://schemas.openxmlformats.org/officeDocument/2006/relationships/image" Target="../media/image_method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png"/><Relationship Id="rId4" Type="http://schemas.openxmlformats.org/officeDocument/2006/relationships/image" Target="../media/image6.png"/><Relationship Id="rId5" Type="http://schemas.openxmlformats.org/officeDocument/2006/relationships/image" Target="../media/image_method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Relationship Id="rId4" Type="http://schemas.openxmlformats.org/officeDocument/2006/relationships/image" Target="../media/image_method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0" y="0"/>
            <a:ext cx="9144000" cy="667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kle_logo_final.png" id="17" name="Google Shape;17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667385" cy="669290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/>
          <p:nvPr/>
        </p:nvSpPr>
        <p:spPr>
          <a:xfrm>
            <a:off x="667512" y="0"/>
            <a:ext cx="84765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Department of Computer Science and Engineering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3"/>
          <p:cNvSpPr/>
          <p:nvPr/>
        </p:nvSpPr>
        <p:spPr>
          <a:xfrm>
            <a:off x="457200" y="914400"/>
            <a:ext cx="8229600" cy="1554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algn="ctr">
              <a:defRPr sz="2800" b="1">
                <a:solidFill>
                  <a:srgbClr val="0F172A"/>
                </a:solidFill>
              </a:defRPr>
            </a:pPr>
            <a:r>
              <a:t>Feature Representation Dynamics and Reliability in Deep Neural Image Classification</a:t>
            </a:r>
          </a:p>
        </p:txBody>
      </p:sp>
      <p:sp>
        <p:nvSpPr>
          <p:cNvPr id="20" name="Google Shape;20;p3"/>
          <p:cNvSpPr/>
          <p:nvPr/>
        </p:nvSpPr>
        <p:spPr>
          <a:xfrm>
            <a:off x="1828800" y="2857500"/>
            <a:ext cx="5486400" cy="36600"/>
          </a:xfrm>
          <a:prstGeom prst="rect">
            <a:avLst/>
          </a:prstGeom>
          <a:solidFill>
            <a:srgbClr val="B5192D"/>
          </a:solidFill>
          <a:ln cap="flat" cmpd="sng" w="12700">
            <a:solidFill>
              <a:srgbClr val="B519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3"/>
          <p:cNvSpPr/>
          <p:nvPr/>
        </p:nvSpPr>
        <p:spPr>
          <a:xfrm>
            <a:off x="457200" y="3028950"/>
            <a:ext cx="8229600" cy="365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latin typeface="Calibri"/>
                <a:ea typeface="Calibri"/>
                <a:cs typeface="Calibri"/>
                <a:sym typeface="Calibri"/>
              </a:rPr>
              <a:t xml:space="preserve"> Name:</a:t>
            </a:r>
            <a:r>
              <a:rPr b="1" lang="en-US" sz="15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Aditya Arasamangalam</a:t>
            </a:r>
            <a:endParaRPr b="1" sz="15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457200" y="3409950"/>
            <a:ext cx="8229600" cy="320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Course: Research Experience for Undergraduates | Guide: Dr Meena S M</a:t>
            </a:r>
            <a:endParaRPr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"/>
          <p:cNvSpPr/>
          <p:nvPr/>
        </p:nvSpPr>
        <p:spPr>
          <a:xfrm>
            <a:off x="0" y="0"/>
            <a:ext cx="9144000" cy="667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kle_logo_final.png" id="29" name="Google Shape;29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667512" cy="6675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/>
          <p:nvPr/>
        </p:nvSpPr>
        <p:spPr>
          <a:xfrm>
            <a:off x="667512" y="0"/>
            <a:ext cx="84765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Motivation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" name="Google Shape;31;p4"/>
          <p:cNvGrpSpPr/>
          <p:nvPr/>
        </p:nvGrpSpPr>
        <p:grpSpPr>
          <a:xfrm>
            <a:off x="381000" y="952500"/>
            <a:ext cx="4095900" cy="1714500"/>
            <a:chOff x="381000" y="952500"/>
            <a:chExt cx="4095900" cy="1714500"/>
          </a:xfrm>
        </p:grpSpPr>
        <p:sp>
          <p:nvSpPr>
            <p:cNvPr id="32" name="Google Shape;32;p4"/>
            <p:cNvSpPr/>
            <p:nvPr/>
          </p:nvSpPr>
          <p:spPr>
            <a:xfrm>
              <a:off x="381000" y="952500"/>
              <a:ext cx="4095900" cy="1714500"/>
            </a:xfrm>
            <a:prstGeom prst="roundRect">
              <a:avLst>
                <a:gd fmla="val 6666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4"/>
            <p:cNvSpPr/>
            <p:nvPr/>
          </p:nvSpPr>
          <p:spPr>
            <a:xfrm>
              <a:off x="381000" y="952500"/>
              <a:ext cx="76200" cy="1714500"/>
            </a:xfrm>
            <a:prstGeom prst="roundRect">
              <a:avLst>
                <a:gd fmla="val 50000" name="adj"/>
              </a:avLst>
            </a:prstGeom>
            <a:solidFill>
              <a:srgbClr val="1A365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" name="Google Shape;34;p4"/>
            <p:cNvSpPr txBox="1"/>
            <p:nvPr/>
          </p:nvSpPr>
          <p:spPr>
            <a:xfrm>
              <a:off x="619125" y="1095375"/>
              <a:ext cx="3619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1A365D"/>
                  </a:solidFill>
                  <a:latin typeface="Calibri"/>
                  <a:ea typeface="Calibri"/>
                  <a:cs typeface="Calibri"/>
                  <a:sym typeface="Calibri"/>
                </a:rPr>
                <a:t>Accuracy vs Interpretability</a:t>
              </a:r>
              <a:endParaRPr b="1" sz="1800">
                <a:solidFill>
                  <a:srgbClr val="1A365D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" name="Google Shape;35;p4"/>
            <p:cNvSpPr txBox="1"/>
            <p:nvPr/>
          </p:nvSpPr>
          <p:spPr>
            <a:xfrm>
              <a:off x="619125" y="1524000"/>
              <a:ext cx="36195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400">
                  <a:solidFill>
                    <a:srgbClr val="334155"/>
                  </a:solidFill>
                  <a:latin typeface="Calibri"/>
                  <a:ea typeface="Calibri"/>
                  <a:cs typeface="Calibri"/>
                  <a:sym typeface="Calibri"/>
                </a:rPr>
                <a:t>CNNs achieve high accuracy but lack interpretability, creating a gap between performance and understanding.</a:t>
              </a:r>
              <a:endParaRPr b="0" sz="140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" name="Google Shape;36;p4"/>
          <p:cNvGrpSpPr/>
          <p:nvPr/>
        </p:nvGrpSpPr>
        <p:grpSpPr>
          <a:xfrm>
            <a:off x="4667250" y="952500"/>
            <a:ext cx="4095900" cy="1714500"/>
            <a:chOff x="4667250" y="952500"/>
            <a:chExt cx="4095900" cy="1714500"/>
          </a:xfrm>
        </p:grpSpPr>
        <p:sp>
          <p:nvSpPr>
            <p:cNvPr id="37" name="Google Shape;37;p4"/>
            <p:cNvSpPr/>
            <p:nvPr/>
          </p:nvSpPr>
          <p:spPr>
            <a:xfrm>
              <a:off x="4667250" y="952500"/>
              <a:ext cx="4095900" cy="1714500"/>
            </a:xfrm>
            <a:prstGeom prst="roundRect">
              <a:avLst>
                <a:gd fmla="val 6666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4"/>
            <p:cNvSpPr/>
            <p:nvPr/>
          </p:nvSpPr>
          <p:spPr>
            <a:xfrm>
              <a:off x="4667250" y="952500"/>
              <a:ext cx="76200" cy="1714500"/>
            </a:xfrm>
            <a:prstGeom prst="roundRect">
              <a:avLst>
                <a:gd fmla="val 50000" name="adj"/>
              </a:avLst>
            </a:prstGeom>
            <a:solidFill>
              <a:srgbClr val="1A365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" name="Google Shape;39;p4"/>
            <p:cNvSpPr txBox="1"/>
            <p:nvPr/>
          </p:nvSpPr>
          <p:spPr>
            <a:xfrm>
              <a:off x="4905375" y="1095375"/>
              <a:ext cx="3619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1A365D"/>
                  </a:solidFill>
                  <a:latin typeface="Calibri"/>
                  <a:ea typeface="Calibri"/>
                  <a:cs typeface="Calibri"/>
                  <a:sym typeface="Calibri"/>
                </a:rPr>
                <a:t>Black Box Problem</a:t>
              </a:r>
              <a:endParaRPr b="1" sz="1800">
                <a:solidFill>
                  <a:srgbClr val="1A365D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" name="Google Shape;40;p4"/>
            <p:cNvSpPr txBox="1"/>
            <p:nvPr/>
          </p:nvSpPr>
          <p:spPr>
            <a:xfrm>
              <a:off x="4905375" y="1524000"/>
              <a:ext cx="36195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400">
                  <a:solidFill>
                    <a:srgbClr val="334155"/>
                  </a:solidFill>
                  <a:latin typeface="Calibri"/>
                  <a:ea typeface="Calibri"/>
                  <a:cs typeface="Calibri"/>
                  <a:sym typeface="Calibri"/>
                </a:rPr>
                <a:t>Internal feature learning is not well understood, making it difficult to trust or verify the decision-making process.</a:t>
              </a:r>
              <a:endParaRPr b="0" sz="140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1" name="Google Shape;41;p4"/>
          <p:cNvGrpSpPr/>
          <p:nvPr/>
        </p:nvGrpSpPr>
        <p:grpSpPr>
          <a:xfrm>
            <a:off x="381000" y="2857500"/>
            <a:ext cx="4095900" cy="1714500"/>
            <a:chOff x="381000" y="2857500"/>
            <a:chExt cx="4095900" cy="1714500"/>
          </a:xfrm>
        </p:grpSpPr>
        <p:sp>
          <p:nvSpPr>
            <p:cNvPr id="42" name="Google Shape;42;p4"/>
            <p:cNvSpPr/>
            <p:nvPr/>
          </p:nvSpPr>
          <p:spPr>
            <a:xfrm>
              <a:off x="381000" y="2857500"/>
              <a:ext cx="4095900" cy="1714500"/>
            </a:xfrm>
            <a:prstGeom prst="roundRect">
              <a:avLst>
                <a:gd fmla="val 6666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" name="Google Shape;43;p4"/>
            <p:cNvSpPr/>
            <p:nvPr/>
          </p:nvSpPr>
          <p:spPr>
            <a:xfrm>
              <a:off x="381000" y="2857500"/>
              <a:ext cx="76200" cy="1714500"/>
            </a:xfrm>
            <a:prstGeom prst="roundRect">
              <a:avLst>
                <a:gd fmla="val 50000" name="adj"/>
              </a:avLst>
            </a:prstGeom>
            <a:solidFill>
              <a:srgbClr val="B5192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4"/>
            <p:cNvSpPr txBox="1"/>
            <p:nvPr/>
          </p:nvSpPr>
          <p:spPr>
            <a:xfrm>
              <a:off x="619125" y="3000375"/>
              <a:ext cx="3619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B5192D"/>
                  </a:solidFill>
                  <a:latin typeface="Calibri"/>
                  <a:ea typeface="Calibri"/>
                  <a:cs typeface="Calibri"/>
                  <a:sym typeface="Calibri"/>
                </a:rPr>
                <a:t>Output-Centric View</a:t>
              </a:r>
              <a:endParaRPr b="1" sz="1800">
                <a:solidFill>
                  <a:srgbClr val="B5192D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" name="Google Shape;45;p4"/>
            <p:cNvSpPr txBox="1"/>
            <p:nvPr/>
          </p:nvSpPr>
          <p:spPr>
            <a:xfrm>
              <a:off x="619125" y="3429000"/>
              <a:ext cx="36195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400">
                  <a:solidFill>
                    <a:srgbClr val="334155"/>
                  </a:solidFill>
                  <a:latin typeface="Calibri"/>
                  <a:ea typeface="Calibri"/>
                  <a:cs typeface="Calibri"/>
                  <a:sym typeface="Calibri"/>
                </a:rPr>
                <a:t>Most work focuses on final outputs, leaving a critical knowledge gap regarding intermediate layer representations.</a:t>
              </a:r>
              <a:endParaRPr b="0" sz="140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6" name="Google Shape;46;p4"/>
          <p:cNvGrpSpPr/>
          <p:nvPr/>
        </p:nvGrpSpPr>
        <p:grpSpPr>
          <a:xfrm>
            <a:off x="4667250" y="2857500"/>
            <a:ext cx="4095900" cy="1714500"/>
            <a:chOff x="4667250" y="2857500"/>
            <a:chExt cx="4095900" cy="1714500"/>
          </a:xfrm>
        </p:grpSpPr>
        <p:sp>
          <p:nvSpPr>
            <p:cNvPr id="47" name="Google Shape;47;p4"/>
            <p:cNvSpPr/>
            <p:nvPr/>
          </p:nvSpPr>
          <p:spPr>
            <a:xfrm>
              <a:off x="4667250" y="2857500"/>
              <a:ext cx="4095900" cy="1714500"/>
            </a:xfrm>
            <a:prstGeom prst="roundRect">
              <a:avLst>
                <a:gd fmla="val 6666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" name="Google Shape;48;p4"/>
            <p:cNvSpPr/>
            <p:nvPr/>
          </p:nvSpPr>
          <p:spPr>
            <a:xfrm>
              <a:off x="4667250" y="2857500"/>
              <a:ext cx="76200" cy="1714500"/>
            </a:xfrm>
            <a:prstGeom prst="roundRect">
              <a:avLst>
                <a:gd fmla="val 50000" name="adj"/>
              </a:avLst>
            </a:prstGeom>
            <a:solidFill>
              <a:srgbClr val="B5192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" name="Google Shape;49;p4"/>
            <p:cNvSpPr txBox="1"/>
            <p:nvPr/>
          </p:nvSpPr>
          <p:spPr>
            <a:xfrm>
              <a:off x="4905375" y="3000375"/>
              <a:ext cx="3619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B5192D"/>
                  </a:solidFill>
                  <a:latin typeface="Calibri"/>
                  <a:ea typeface="Calibri"/>
                  <a:cs typeface="Calibri"/>
                  <a:sym typeface="Calibri"/>
                </a:rPr>
                <a:t>Trust &amp; Explainability</a:t>
              </a:r>
              <a:endParaRPr b="1" sz="1800">
                <a:solidFill>
                  <a:srgbClr val="B5192D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" name="Google Shape;50;p4"/>
            <p:cNvSpPr txBox="1"/>
            <p:nvPr/>
          </p:nvSpPr>
          <p:spPr>
            <a:xfrm>
              <a:off x="4905375" y="3429000"/>
              <a:ext cx="36195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400">
                  <a:solidFill>
                    <a:srgbClr val="334155"/>
                  </a:solidFill>
                  <a:latin typeface="Calibri"/>
                  <a:ea typeface="Calibri"/>
                  <a:cs typeface="Calibri"/>
                  <a:sym typeface="Calibri"/>
                </a:rPr>
                <a:t>Understanding feature evolution improves trust in models and facilitates adoption in sensitive domains.</a:t>
              </a:r>
              <a:endParaRPr b="0" sz="140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51" name="Google Shape;51;p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335121" y="0"/>
            <a:ext cx="2808879" cy="66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5"/>
          <p:cNvSpPr/>
          <p:nvPr/>
        </p:nvSpPr>
        <p:spPr>
          <a:xfrm>
            <a:off x="0" y="0"/>
            <a:ext cx="9144000" cy="667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kle_logo_final.png" id="58" name="Google Shape;58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667512" cy="667512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5"/>
          <p:cNvSpPr/>
          <p:nvPr/>
        </p:nvSpPr>
        <p:spPr>
          <a:xfrm>
            <a:off x="667512" y="0"/>
            <a:ext cx="84765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Problem Statement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8" name="ProblemStatementText"/>
          <p:cNvSpPr txBox="1"/>
          <p:nvPr/>
        </p:nvSpPr>
        <p:spPr>
          <a:xfrm>
            <a:off x="381000" y="900000"/>
            <a:ext cx="8382000" cy="4200000"/>
          </a:xfrm>
          <a:prstGeom prst="rect">
            <a:avLst/>
          </a:prstGeom>
          <a:solidFill>
            <a:srgbClr val="F2F2F2"/>
          </a:solidFill>
          <a:ln>
            <a:solidFill>
              <a:srgbClr val="D0D8E8"/>
            </a:solidFill>
          </a:ln>
        </p:spPr>
        <p:txBody>
          <a:bodyPr anchorCtr="0" anchor="ctr" bIns="182880" lIns="182880" rIns="182880" tIns="182880" wrap="square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00">
                <a:solidFill>
                  <a:srgbClr val="1A365D"/>
                </a:solidFill>
                <a:latin typeface="Calibri"/>
              </a:rPr>
              <a:t>To investigate how internal representations in CNNs evolve across layers and to identify the role of dataset properties in shaping these representations.</a:t>
            </a:r>
          </a:p>
          <a:p>
            <a:pPr indent="0" lvl="0" marL="0" rtl="0" algn="ctr">
              <a:spcBef>
                <a:spcPts val="400"/>
              </a:spcBef>
              <a:buNone/>
            </a:pPr>
            <a:endParaRPr lang="en-US" sz="20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666750"/>
            <a:ext cx="9144000" cy="447690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6"/>
          <p:cNvSpPr/>
          <p:nvPr/>
        </p:nvSpPr>
        <p:spPr>
          <a:xfrm>
            <a:off x="0" y="0"/>
            <a:ext cx="9144000" cy="667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kle_logo_final.png" id="67" name="Google Shape;67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667512" cy="6675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6"/>
          <p:cNvSpPr/>
          <p:nvPr/>
        </p:nvSpPr>
        <p:spPr>
          <a:xfrm>
            <a:off x="667512" y="0"/>
            <a:ext cx="84765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Research Objectives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69" name="Google Shape;69;p6"/>
          <p:cNvGrpSpPr/>
          <p:nvPr/>
        </p:nvGrpSpPr>
        <p:grpSpPr>
          <a:xfrm>
            <a:off x="381000" y="1047750"/>
            <a:ext cx="8382000" cy="952500"/>
            <a:chOff x="381000" y="1047750"/>
            <a:chExt cx="8382000" cy="952500"/>
          </a:xfrm>
        </p:grpSpPr>
        <p:sp>
          <p:nvSpPr>
            <p:cNvPr id="70" name="Google Shape;70;p6"/>
            <p:cNvSpPr/>
            <p:nvPr/>
          </p:nvSpPr>
          <p:spPr>
            <a:xfrm>
              <a:off x="381000" y="1047750"/>
              <a:ext cx="8382000" cy="952500"/>
            </a:xfrm>
            <a:prstGeom prst="roundRect">
              <a:avLst>
                <a:gd fmla="val 8000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" name="Google Shape;71;p6"/>
            <p:cNvSpPr/>
            <p:nvPr/>
          </p:nvSpPr>
          <p:spPr>
            <a:xfrm>
              <a:off x="381000" y="1047750"/>
              <a:ext cx="57300" cy="952500"/>
            </a:xfrm>
            <a:prstGeom prst="roundRect">
              <a:avLst>
                <a:gd fmla="val 50000" name="adj"/>
              </a:avLst>
            </a:prstGeom>
            <a:solidFill>
              <a:srgbClr val="1A365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" name="Google Shape;72;p6"/>
            <p:cNvSpPr txBox="1"/>
            <p:nvPr/>
          </p:nvSpPr>
          <p:spPr>
            <a:xfrm>
              <a:off x="619125" y="1047750"/>
              <a:ext cx="5715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800">
                  <a:solidFill>
                    <a:srgbClr val="1A365D"/>
                  </a:solidFill>
                  <a:latin typeface="Calibri"/>
                  <a:ea typeface="Calibri"/>
                  <a:cs typeface="Calibri"/>
                  <a:sym typeface="Calibri"/>
                </a:rPr>
                <a:t>01</a:t>
              </a:r>
              <a:endParaRPr b="1" sz="2800">
                <a:solidFill>
                  <a:srgbClr val="1A365D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" name="Google Shape;73;p6"/>
            <p:cNvSpPr txBox="1"/>
            <p:nvPr/>
          </p:nvSpPr>
          <p:spPr>
            <a:xfrm>
              <a:off x="1381125" y="1047750"/>
              <a:ext cx="71913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334155"/>
                  </a:solidFill>
                  <a:latin typeface="Calibri"/>
                  <a:ea typeface="Calibri"/>
                  <a:cs typeface="Calibri"/>
                  <a:sym typeface="Calibri"/>
                </a:rPr>
                <a:t>Analyze Hierarchical Feature Maps and Activation Statistics</a:t>
              </a:r>
              <a:endParaRPr b="1" sz="180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64748B"/>
                  </a:solidFill>
                  <a:latin typeface="Calibri"/>
                  <a:ea typeface="Calibri"/>
                  <a:cs typeface="Calibri"/>
                  <a:sym typeface="Calibri"/>
                </a:rPr>
                <a:t>Investigate feature representations and quantify activation sparsity across convolutional layers.</a:t>
              </a:r>
              <a:endParaRPr b="0" sz="13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4" name="Google Shape;74;p6"/>
          <p:cNvGrpSpPr/>
          <p:nvPr/>
        </p:nvGrpSpPr>
        <p:grpSpPr>
          <a:xfrm>
            <a:off x="381000" y="2190750"/>
            <a:ext cx="8382000" cy="952500"/>
            <a:chOff x="381000" y="2190750"/>
            <a:chExt cx="8382000" cy="952500"/>
          </a:xfrm>
        </p:grpSpPr>
        <p:sp>
          <p:nvSpPr>
            <p:cNvPr id="75" name="Google Shape;75;p6"/>
            <p:cNvSpPr/>
            <p:nvPr/>
          </p:nvSpPr>
          <p:spPr>
            <a:xfrm>
              <a:off x="381000" y="2190750"/>
              <a:ext cx="8382000" cy="952500"/>
            </a:xfrm>
            <a:prstGeom prst="roundRect">
              <a:avLst>
                <a:gd fmla="val 8000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" name="Google Shape;76;p6"/>
            <p:cNvSpPr/>
            <p:nvPr/>
          </p:nvSpPr>
          <p:spPr>
            <a:xfrm>
              <a:off x="381000" y="2190750"/>
              <a:ext cx="57300" cy="952500"/>
            </a:xfrm>
            <a:prstGeom prst="roundRect">
              <a:avLst>
                <a:gd fmla="val 50000" name="adj"/>
              </a:avLst>
            </a:prstGeom>
            <a:solidFill>
              <a:srgbClr val="0D6B8C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" name="Google Shape;77;p6"/>
            <p:cNvSpPr txBox="1"/>
            <p:nvPr/>
          </p:nvSpPr>
          <p:spPr>
            <a:xfrm>
              <a:off x="619125" y="2190750"/>
              <a:ext cx="5715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800">
                  <a:solidFill>
                    <a:srgbClr val="0D6B8C"/>
                  </a:solidFill>
                  <a:latin typeface="Calibri"/>
                  <a:ea typeface="Calibri"/>
                  <a:cs typeface="Calibri"/>
                  <a:sym typeface="Calibri"/>
                </a:rPr>
                <a:t>02</a:t>
              </a:r>
              <a:endParaRPr b="1" sz="2800">
                <a:solidFill>
                  <a:srgbClr val="0D6B8C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8" name="Google Shape;78;p6"/>
            <p:cNvSpPr txBox="1"/>
            <p:nvPr/>
          </p:nvSpPr>
          <p:spPr>
            <a:xfrm>
              <a:off x="1381125" y="2190750"/>
              <a:ext cx="71913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334155"/>
                  </a:solidFill>
                  <a:latin typeface="Calibri"/>
                  <a:ea typeface="Calibri"/>
                  <a:cs typeface="Calibri"/>
                  <a:sym typeface="Calibri"/>
                </a:rPr>
                <a:t>Study Cross-Dataset Behavioral Patterns</a:t>
              </a:r>
              <a:endParaRPr b="1" sz="180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64748B"/>
                  </a:solidFill>
                  <a:latin typeface="Calibri"/>
                  <a:ea typeface="Calibri"/>
                  <a:cs typeface="Calibri"/>
                  <a:sym typeface="Calibri"/>
                </a:rPr>
                <a:t>Compare internal model responses across multiple datasets to identify consistent learning trends.</a:t>
              </a:r>
              <a:endParaRPr b="0" sz="13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9" name="Google Shape;79;p6"/>
          <p:cNvGrpSpPr/>
          <p:nvPr/>
        </p:nvGrpSpPr>
        <p:grpSpPr>
          <a:xfrm>
            <a:off x="381000" y="3333750"/>
            <a:ext cx="8382000" cy="952500"/>
            <a:chOff x="381000" y="3333750"/>
            <a:chExt cx="8382000" cy="952500"/>
          </a:xfrm>
        </p:grpSpPr>
        <p:sp>
          <p:nvSpPr>
            <p:cNvPr id="80" name="Google Shape;80;p6"/>
            <p:cNvSpPr/>
            <p:nvPr/>
          </p:nvSpPr>
          <p:spPr>
            <a:xfrm>
              <a:off x="381000" y="3333750"/>
              <a:ext cx="8382000" cy="952500"/>
            </a:xfrm>
            <a:prstGeom prst="roundRect">
              <a:avLst>
                <a:gd fmla="val 8000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" name="Google Shape;81;p6"/>
            <p:cNvSpPr/>
            <p:nvPr/>
          </p:nvSpPr>
          <p:spPr>
            <a:xfrm>
              <a:off x="381000" y="3333750"/>
              <a:ext cx="57300" cy="952500"/>
            </a:xfrm>
            <a:prstGeom prst="roundRect">
              <a:avLst>
                <a:gd fmla="val 50000" name="adj"/>
              </a:avLst>
            </a:prstGeom>
            <a:solidFill>
              <a:srgbClr val="B5192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" name="Google Shape;82;p6"/>
            <p:cNvSpPr txBox="1"/>
            <p:nvPr/>
          </p:nvSpPr>
          <p:spPr>
            <a:xfrm>
              <a:off x="619125" y="3333750"/>
              <a:ext cx="5715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800">
                  <a:solidFill>
                    <a:srgbClr val="B5192D"/>
                  </a:solidFill>
                  <a:latin typeface="Calibri"/>
                  <a:ea typeface="Calibri"/>
                  <a:cs typeface="Calibri"/>
                  <a:sym typeface="Calibri"/>
                </a:rPr>
                <a:t>03</a:t>
              </a:r>
              <a:endParaRPr b="1" sz="2800">
                <a:solidFill>
                  <a:srgbClr val="B5192D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3" name="Google Shape;83;p6"/>
            <p:cNvSpPr txBox="1"/>
            <p:nvPr/>
          </p:nvSpPr>
          <p:spPr>
            <a:xfrm>
              <a:off x="1381125" y="3333750"/>
              <a:ext cx="71913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334155"/>
                  </a:solidFill>
                  <a:latin typeface="Calibri"/>
                  <a:ea typeface="Calibri"/>
                  <a:cs typeface="Calibri"/>
                  <a:sym typeface="Calibri"/>
                </a:rPr>
                <a:t>Link Data Properties to Representation Learning</a:t>
              </a:r>
              <a:endParaRPr b="1" sz="180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64748B"/>
                  </a:solidFill>
                  <a:latin typeface="Calibri"/>
                  <a:ea typeface="Calibri"/>
                  <a:cs typeface="Calibri"/>
                  <a:sym typeface="Calibri"/>
                </a:rPr>
                <a:t>Establish a mathematical link between input dataset characteristics and resulting feature geometry.</a:t>
              </a:r>
              <a:endParaRPr b="0" sz="13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7"/>
          <p:cNvSpPr/>
          <p:nvPr/>
        </p:nvSpPr>
        <p:spPr>
          <a:xfrm>
            <a:off x="0" y="0"/>
            <a:ext cx="9144000" cy="6669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kle_logo_final.png" id="90" name="Google Shape;90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667512" cy="667512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7"/>
          <p:cNvSpPr/>
          <p:nvPr/>
        </p:nvSpPr>
        <p:spPr>
          <a:xfrm>
            <a:off x="666750" y="0"/>
            <a:ext cx="8476500" cy="666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Prevalence of Neural Collapse during the Terminal Phase of Deep Learning Training (2021)</a:t>
            </a:r>
            <a:endParaRPr b="1"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92" name="Google Shape;92;p7"/>
          <p:cNvGrpSpPr/>
          <p:nvPr/>
        </p:nvGrpSpPr>
        <p:grpSpPr>
          <a:xfrm>
            <a:off x="285750" y="762000"/>
            <a:ext cx="8572500" cy="381000"/>
            <a:chOff x="285750" y="762000"/>
            <a:chExt cx="8572500" cy="381000"/>
          </a:xfrm>
        </p:grpSpPr>
        <p:sp>
          <p:nvSpPr>
            <p:cNvPr id="93" name="Google Shape;93;p7"/>
            <p:cNvSpPr/>
            <p:nvPr/>
          </p:nvSpPr>
          <p:spPr>
            <a:xfrm>
              <a:off x="285750" y="762000"/>
              <a:ext cx="8572500" cy="381000"/>
            </a:xfrm>
            <a:prstGeom prst="rect">
              <a:avLst/>
            </a:prstGeom>
            <a:solidFill>
              <a:srgbClr val="F3F4F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" name="Google Shape;94;p7"/>
            <p:cNvSpPr txBox="1"/>
            <p:nvPr/>
          </p:nvSpPr>
          <p:spPr>
            <a:xfrm>
              <a:off x="381000" y="762000"/>
              <a:ext cx="14289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0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PROBLEM STATEMENT</a:t>
              </a:r>
              <a:endParaRPr b="1" sz="1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5" name="Google Shape;95;p7"/>
            <p:cNvSpPr txBox="1"/>
            <p:nvPr/>
          </p:nvSpPr>
          <p:spPr>
            <a:xfrm>
              <a:off x="1905000" y="762000"/>
              <a:ext cx="6858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0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Deep learning models in the terminal training phase show an unexpected geometric phenomenon where class representations collapse into tight clusters, but the mathematical conditions are not fully characterized.</a:t>
              </a:r>
              <a:endParaRPr b="0" sz="1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6" name="Google Shape;96;p7"/>
          <p:cNvGrpSpPr/>
          <p:nvPr/>
        </p:nvGrpSpPr>
        <p:grpSpPr>
          <a:xfrm>
            <a:off x="285750" y="1285875"/>
            <a:ext cx="2667000" cy="1762275"/>
            <a:chOff x="285750" y="1285875"/>
            <a:chExt cx="2667000" cy="1762275"/>
          </a:xfrm>
        </p:grpSpPr>
        <p:sp>
          <p:nvSpPr>
            <p:cNvPr id="97" name="Google Shape;97;p7"/>
            <p:cNvSpPr/>
            <p:nvPr/>
          </p:nvSpPr>
          <p:spPr>
            <a:xfrm>
              <a:off x="285750" y="1285875"/>
              <a:ext cx="2667000" cy="285900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" name="Google Shape;98;p7"/>
            <p:cNvSpPr txBox="1"/>
            <p:nvPr/>
          </p:nvSpPr>
          <p:spPr>
            <a:xfrm>
              <a:off x="285750" y="1285875"/>
              <a:ext cx="2667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OBJECTIVES</a:t>
              </a:r>
              <a:endParaRPr b="1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9" name="Google Shape;99;p7"/>
            <p:cNvSpPr/>
            <p:nvPr/>
          </p:nvSpPr>
          <p:spPr>
            <a:xfrm>
              <a:off x="285750" y="1619250"/>
              <a:ext cx="2667000" cy="1428900"/>
            </a:xfrm>
            <a:prstGeom prst="rect">
              <a:avLst/>
            </a:prstGeom>
            <a:solidFill>
              <a:srgbClr val="FFFFFF"/>
            </a:solidFill>
            <a:ln cap="flat" cmpd="sng" w="952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" name="Google Shape;100;p7"/>
            <p:cNvSpPr txBox="1"/>
            <p:nvPr/>
          </p:nvSpPr>
          <p:spPr>
            <a:xfrm>
              <a:off x="428625" y="1714500"/>
              <a:ext cx="2381400" cy="1238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-292100" lvl="0" marL="457200" rtl="0" algn="l">
                <a:spcBef>
                  <a:spcPts val="0"/>
                </a:spcBef>
                <a:spcAft>
                  <a:spcPts val="0"/>
                </a:spcAft>
                <a:buClr>
                  <a:srgbClr val="374151"/>
                </a:buClr>
                <a:buSzPts val="1000"/>
                <a:buFont typeface="Calibri"/>
                <a:buChar char="●"/>
              </a:pPr>
              <a:r>
                <a:rPr lang="en-US" sz="1000">
                  <a:solidFill>
                    <a:srgbClr val="374151"/>
                  </a:solidFill>
                  <a:latin typeface="Calibri"/>
                  <a:ea typeface="Calibri"/>
                  <a:cs typeface="Calibri"/>
                  <a:sym typeface="Calibri"/>
                </a:rPr>
                <a:t>Identify and characterize neural collapse in deep networks</a:t>
              </a:r>
              <a:endParaRPr sz="100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92100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374151"/>
                </a:buClr>
                <a:buSzPts val="1000"/>
                <a:buFont typeface="Calibri"/>
                <a:buChar char="●"/>
              </a:pPr>
              <a:r>
                <a:rPr lang="en-US" sz="1000">
                  <a:solidFill>
                    <a:srgbClr val="374151"/>
                  </a:solidFill>
                  <a:latin typeface="Calibri"/>
                  <a:ea typeface="Calibri"/>
                  <a:cs typeface="Calibri"/>
                  <a:sym typeface="Calibri"/>
                </a:rPr>
                <a:t>Analyze geometric structure of final-layer representations</a:t>
              </a:r>
              <a:endParaRPr sz="100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92100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374151"/>
                </a:buClr>
                <a:buSzPts val="1000"/>
                <a:buFont typeface="Calibri"/>
                <a:buChar char="●"/>
              </a:pPr>
              <a:r>
                <a:rPr lang="en-US" sz="1000">
                  <a:solidFill>
                    <a:srgbClr val="374151"/>
                  </a:solidFill>
                  <a:latin typeface="Calibri"/>
                  <a:ea typeface="Calibri"/>
                  <a:cs typeface="Calibri"/>
                  <a:sym typeface="Calibri"/>
                </a:rPr>
                <a:t>Understand implications for generalization and feature quality</a:t>
              </a:r>
              <a:endParaRPr sz="100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1" name="Google Shape;101;p7"/>
          <p:cNvGrpSpPr/>
          <p:nvPr/>
        </p:nvGrpSpPr>
        <p:grpSpPr>
          <a:xfrm>
            <a:off x="285750" y="3190875"/>
            <a:ext cx="2667000" cy="1714575"/>
            <a:chOff x="285750" y="3190875"/>
            <a:chExt cx="2667000" cy="1714575"/>
          </a:xfrm>
        </p:grpSpPr>
        <p:sp>
          <p:nvSpPr>
            <p:cNvPr id="102" name="Google Shape;102;p7"/>
            <p:cNvSpPr/>
            <p:nvPr/>
          </p:nvSpPr>
          <p:spPr>
            <a:xfrm>
              <a:off x="285750" y="3190875"/>
              <a:ext cx="2667000" cy="285900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" name="Google Shape;103;p7"/>
            <p:cNvSpPr txBox="1"/>
            <p:nvPr/>
          </p:nvSpPr>
          <p:spPr>
            <a:xfrm>
              <a:off x="285750" y="3190875"/>
              <a:ext cx="2667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METHODOLOGY</a:t>
              </a:r>
              <a:endParaRPr b="1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4" name="Google Shape;104;p7"/>
            <p:cNvSpPr/>
            <p:nvPr/>
          </p:nvSpPr>
          <p:spPr>
            <a:xfrm>
              <a:off x="285750" y="3524250"/>
              <a:ext cx="2667000" cy="1381200"/>
            </a:xfrm>
            <a:prstGeom prst="rect">
              <a:avLst/>
            </a:prstGeom>
            <a:solidFill>
              <a:srgbClr val="FFFFFF"/>
            </a:solidFill>
            <a:ln cap="flat" cmpd="sng" w="952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" name="Google Shape;105;p7"/>
            <p:cNvSpPr txBox="1"/>
            <p:nvPr/>
          </p:nvSpPr>
          <p:spPr>
            <a:xfrm>
              <a:off x="428625" y="3619500"/>
              <a:ext cx="2381400" cy="1190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>
                  <a:solidFill>
                    <a:srgbClr val="374151"/>
                  </a:solidFill>
                  <a:latin typeface="Calibri"/>
                  <a:ea typeface="Calibri"/>
                  <a:cs typeface="Calibri"/>
                  <a:sym typeface="Calibri"/>
                </a:rPr>
                <a:t>Analyze trained deep neural networks at terminal phase. Measure within-class variability vs between-class separation. Study feature geometry using linear discriminant analysis.</a:t>
              </a:r>
              <a:endParaRPr sz="100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6" name="Google Shape;106;p7"/>
          <p:cNvGrpSpPr/>
          <p:nvPr/>
        </p:nvGrpSpPr>
        <p:grpSpPr>
          <a:xfrm>
            <a:off x="3238500" y="1285875"/>
            <a:ext cx="2667000" cy="1762275"/>
            <a:chOff x="3238500" y="1285875"/>
            <a:chExt cx="2667000" cy="1762275"/>
          </a:xfrm>
        </p:grpSpPr>
        <p:sp>
          <p:nvSpPr>
            <p:cNvPr id="107" name="Google Shape;107;p7"/>
            <p:cNvSpPr/>
            <p:nvPr/>
          </p:nvSpPr>
          <p:spPr>
            <a:xfrm>
              <a:off x="3238500" y="1285875"/>
              <a:ext cx="2667000" cy="285900"/>
            </a:xfrm>
            <a:prstGeom prst="rect">
              <a:avLst/>
            </a:prstGeom>
            <a:solidFill>
              <a:srgbClr val="1F293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" name="Google Shape;108;p7"/>
            <p:cNvSpPr txBox="1"/>
            <p:nvPr/>
          </p:nvSpPr>
          <p:spPr>
            <a:xfrm>
              <a:off x="3238500" y="1285875"/>
              <a:ext cx="2667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PROPOSED SOLUTION</a:t>
              </a:r>
              <a:endParaRPr b="1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9" name="Google Shape;109;p7"/>
            <p:cNvSpPr/>
            <p:nvPr/>
          </p:nvSpPr>
          <p:spPr>
            <a:xfrm>
              <a:off x="3238500" y="1619250"/>
              <a:ext cx="2667000" cy="1428900"/>
            </a:xfrm>
            <a:prstGeom prst="rect">
              <a:avLst/>
            </a:prstGeom>
            <a:solidFill>
              <a:srgbClr val="FFFFFF"/>
            </a:solidFill>
            <a:ln cap="flat" cmpd="sng" w="952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" name="Google Shape;110;p7"/>
            <p:cNvSpPr txBox="1"/>
            <p:nvPr/>
          </p:nvSpPr>
          <p:spPr>
            <a:xfrm>
              <a:off x="3381375" y="1714500"/>
              <a:ext cx="2381400" cy="1238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>
                  <a:solidFill>
                    <a:srgbClr val="374151"/>
                  </a:solidFill>
                  <a:latin typeface="Calibri"/>
                  <a:ea typeface="Calibri"/>
                  <a:cs typeface="Calibri"/>
                  <a:sym typeface="Calibri"/>
                </a:rPr>
                <a:t>Mathematically characterize neural collapse by analyzing class-mean convergence, weight-feature duality, and equinorm clustering across classification tasks and architectures.</a:t>
              </a:r>
              <a:endParaRPr sz="100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1" name="Google Shape;111;p7"/>
          <p:cNvGrpSpPr/>
          <p:nvPr/>
        </p:nvGrpSpPr>
        <p:grpSpPr>
          <a:xfrm>
            <a:off x="3238500" y="3190875"/>
            <a:ext cx="2667000" cy="1714575"/>
            <a:chOff x="3238500" y="3190875"/>
            <a:chExt cx="2667000" cy="1714575"/>
          </a:xfrm>
        </p:grpSpPr>
        <p:sp>
          <p:nvSpPr>
            <p:cNvPr id="112" name="Google Shape;112;p7"/>
            <p:cNvSpPr/>
            <p:nvPr/>
          </p:nvSpPr>
          <p:spPr>
            <a:xfrm>
              <a:off x="3238500" y="3190875"/>
              <a:ext cx="2667000" cy="285900"/>
            </a:xfrm>
            <a:prstGeom prst="rect">
              <a:avLst/>
            </a:prstGeom>
            <a:solidFill>
              <a:srgbClr val="6B728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" name="Google Shape;113;p7"/>
            <p:cNvSpPr txBox="1"/>
            <p:nvPr/>
          </p:nvSpPr>
          <p:spPr>
            <a:xfrm>
              <a:off x="3238500" y="3190875"/>
              <a:ext cx="2667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CONCLUSION</a:t>
              </a:r>
              <a:endParaRPr b="1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4" name="Google Shape;114;p7"/>
            <p:cNvSpPr/>
            <p:nvPr/>
          </p:nvSpPr>
          <p:spPr>
            <a:xfrm>
              <a:off x="3238500" y="3524250"/>
              <a:ext cx="2667000" cy="1381200"/>
            </a:xfrm>
            <a:prstGeom prst="rect">
              <a:avLst/>
            </a:prstGeom>
            <a:solidFill>
              <a:srgbClr val="FFFFFF"/>
            </a:solidFill>
            <a:ln cap="flat" cmpd="sng" w="952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" name="Google Shape;115;p7"/>
            <p:cNvSpPr txBox="1"/>
            <p:nvPr/>
          </p:nvSpPr>
          <p:spPr>
            <a:xfrm>
              <a:off x="3381375" y="3619500"/>
              <a:ext cx="2381400" cy="1190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i="1" lang="en-US" sz="925">
                  <a:solidFill>
                    <a:srgbClr val="374151"/>
                  </a:solidFill>
                  <a:latin typeface="Calibri"/>
                  <a:ea typeface="Calibri"/>
                  <a:cs typeface="Calibri"/>
                  <a:sym typeface="Calibri"/>
                </a:rPr>
                <a:t>Neural collapse is a universal phenomenon in overparameterized networks that reveals how deep learning implicitly optimizes feature geometry, with direct implications for interpretability.</a:t>
              </a:r>
              <a:endParaRPr i="1" sz="925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i="0" lang="en-US" sz="694">
                  <a:solidFill>
                    <a:srgbClr val="9CA3AF"/>
                  </a:solidFill>
                  <a:latin typeface="Calibri"/>
                  <a:ea typeface="Calibri"/>
                  <a:cs typeface="Calibri"/>
                  <a:sym typeface="Calibri"/>
                </a:rPr>
                <a:t>REFERENCE:</a:t>
              </a:r>
              <a:endParaRPr b="1" i="0" sz="694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1" lang="en-US" sz="694">
                  <a:solidFill>
                    <a:srgbClr val="9CA3AF"/>
                  </a:solidFill>
                  <a:latin typeface="Calibri"/>
                  <a:ea typeface="Calibri"/>
                  <a:cs typeface="Calibri"/>
                  <a:sym typeface="Calibri"/>
                </a:rPr>
                <a:t>Papyan et al., Prevalence of Neural Collapse during the Terminal Phase of Deep Learning Training, PNAS, 2020.</a:t>
              </a:r>
              <a:endParaRPr b="0" i="1" sz="694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6" name="Google Shape;116;p7"/>
          <p:cNvGrpSpPr/>
          <p:nvPr/>
        </p:nvGrpSpPr>
        <p:grpSpPr>
          <a:xfrm>
            <a:off x="6191250" y="1285875"/>
            <a:ext cx="2667000" cy="3619575"/>
            <a:chOff x="6191250" y="1285875"/>
            <a:chExt cx="2667000" cy="3619575"/>
          </a:xfrm>
        </p:grpSpPr>
        <p:sp>
          <p:nvSpPr>
            <p:cNvPr id="117" name="Google Shape;117;p7"/>
            <p:cNvSpPr/>
            <p:nvPr/>
          </p:nvSpPr>
          <p:spPr>
            <a:xfrm>
              <a:off x="6191250" y="1285875"/>
              <a:ext cx="2667000" cy="285900"/>
            </a:xfrm>
            <a:prstGeom prst="rect">
              <a:avLst/>
            </a:prstGeom>
            <a:solidFill>
              <a:srgbClr val="374151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" name="Google Shape;118;p7"/>
            <p:cNvSpPr txBox="1"/>
            <p:nvPr/>
          </p:nvSpPr>
          <p:spPr>
            <a:xfrm>
              <a:off x="6191250" y="1285875"/>
              <a:ext cx="2667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RESULTS</a:t>
              </a:r>
              <a:endParaRPr b="1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9" name="Google Shape;119;p7"/>
            <p:cNvSpPr/>
            <p:nvPr/>
          </p:nvSpPr>
          <p:spPr>
            <a:xfrm>
              <a:off x="6191250" y="1619250"/>
              <a:ext cx="2667000" cy="3286200"/>
            </a:xfrm>
            <a:prstGeom prst="rect">
              <a:avLst/>
            </a:prstGeom>
            <a:solidFill>
              <a:srgbClr val="FFFFFF"/>
            </a:solidFill>
            <a:ln cap="flat" cmpd="sng" w="952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20" name="Google Shape;120;p7"/>
            <p:cNvGrpSpPr/>
            <p:nvPr/>
          </p:nvGrpSpPr>
          <p:grpSpPr>
            <a:xfrm>
              <a:off x="6343650" y="1714500"/>
              <a:ext cx="2371875" cy="381000"/>
              <a:chOff x="6343650" y="1714500"/>
              <a:chExt cx="2371875" cy="381000"/>
            </a:xfrm>
          </p:grpSpPr>
          <p:sp>
            <p:nvSpPr>
              <p:cNvPr id="121" name="Google Shape;121;p7"/>
              <p:cNvSpPr/>
              <p:nvPr/>
            </p:nvSpPr>
            <p:spPr>
              <a:xfrm>
                <a:off x="6343650" y="1866900"/>
                <a:ext cx="76200" cy="76200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2" name="Google Shape;122;p7"/>
              <p:cNvSpPr txBox="1"/>
              <p:nvPr/>
            </p:nvSpPr>
            <p:spPr>
              <a:xfrm>
                <a:off x="6524625" y="1714500"/>
                <a:ext cx="21909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50">
                    <a:solidFill>
                      <a:srgbClr val="37415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Features collapse into tight clusters near terminal training</a:t>
                </a:r>
                <a:endParaRPr sz="950">
                  <a:solidFill>
                    <a:srgbClr val="37415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23" name="Google Shape;123;p7"/>
            <p:cNvGrpSpPr/>
            <p:nvPr/>
          </p:nvGrpSpPr>
          <p:grpSpPr>
            <a:xfrm>
              <a:off x="6343650" y="2286000"/>
              <a:ext cx="2371875" cy="381000"/>
              <a:chOff x="6343650" y="2286000"/>
              <a:chExt cx="2371875" cy="381000"/>
            </a:xfrm>
          </p:grpSpPr>
          <p:sp>
            <p:nvSpPr>
              <p:cNvPr id="124" name="Google Shape;124;p7"/>
              <p:cNvSpPr/>
              <p:nvPr/>
            </p:nvSpPr>
            <p:spPr>
              <a:xfrm>
                <a:off x="6343650" y="2438400"/>
                <a:ext cx="76200" cy="76200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" name="Google Shape;125;p7"/>
              <p:cNvSpPr txBox="1"/>
              <p:nvPr/>
            </p:nvSpPr>
            <p:spPr>
              <a:xfrm>
                <a:off x="6524625" y="2286000"/>
                <a:ext cx="21909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50">
                    <a:solidFill>
                      <a:srgbClr val="37415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Between-class separation becomes maximal relative to within-class spread</a:t>
                </a:r>
                <a:endParaRPr sz="950">
                  <a:solidFill>
                    <a:srgbClr val="37415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26" name="Google Shape;126;p7"/>
            <p:cNvGrpSpPr/>
            <p:nvPr/>
          </p:nvGrpSpPr>
          <p:grpSpPr>
            <a:xfrm>
              <a:off x="6343650" y="2857500"/>
              <a:ext cx="2371875" cy="381000"/>
              <a:chOff x="6343650" y="2857500"/>
              <a:chExt cx="2371875" cy="381000"/>
            </a:xfrm>
          </p:grpSpPr>
          <p:sp>
            <p:nvSpPr>
              <p:cNvPr id="127" name="Google Shape;127;p7"/>
              <p:cNvSpPr/>
              <p:nvPr/>
            </p:nvSpPr>
            <p:spPr>
              <a:xfrm>
                <a:off x="6343650" y="3009900"/>
                <a:ext cx="76200" cy="76200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" name="Google Shape;128;p7"/>
              <p:cNvSpPr txBox="1"/>
              <p:nvPr/>
            </p:nvSpPr>
            <p:spPr>
              <a:xfrm>
                <a:off x="6524625" y="2857500"/>
                <a:ext cx="21909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50">
                    <a:solidFill>
                      <a:srgbClr val="37415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Neural collapse predicts strong generalization performance</a:t>
                </a:r>
                <a:endParaRPr sz="950">
                  <a:solidFill>
                    <a:srgbClr val="37415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29" name="Google Shape;129;p7"/>
            <p:cNvSpPr/>
            <p:nvPr/>
          </p:nvSpPr>
          <p:spPr>
            <a:xfrm>
              <a:off x="7143750" y="4000500"/>
              <a:ext cx="762000" cy="571500"/>
            </a:xfrm>
            <a:prstGeom prst="roundRect">
              <a:avLst>
                <a:gd fmla="val 6666" name="adj"/>
              </a:avLst>
            </a:prstGeom>
            <a:solidFill>
              <a:srgbClr val="F9FAF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" name="Google Shape;130;p7"/>
            <p:cNvSpPr txBox="1"/>
            <p:nvPr/>
          </p:nvSpPr>
          <p:spPr>
            <a:xfrm>
              <a:off x="7143750" y="4053078"/>
              <a:ext cx="762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600">
                  <a:solidFill>
                    <a:srgbClr val="D1D5DB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/>
              </a:r>
              <a:endParaRPr sz="3600">
                <a:solidFill>
                  <a:srgbClr val="D1D5DB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</p:grpSp>
      <p:pic>
        <p:nvPicPr>
          <p:cNvPr id="999" name="MethodologyDiagram"/>
          <p:cNvPicPr preferRelativeResize="0"/>
          <p:nvPr/>
        </p:nvPicPr>
        <p:blipFill rotWithShape="1">
          <a:blip r:embed="rId5"/>
          <a:stretch/>
        </p:blipFill>
        <p:spPr>
          <a:xfrm>
            <a:off x="6200000" y="3350000"/>
            <a:ext cx="2700000" cy="120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8"/>
          <p:cNvSpPr/>
          <p:nvPr/>
        </p:nvSpPr>
        <p:spPr>
          <a:xfrm>
            <a:off x="0" y="0"/>
            <a:ext cx="9144000" cy="6669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37" name="Google Shape;137;p8"/>
          <p:cNvPicPr preferRelativeResize="0"/>
          <p:nvPr/>
        </p:nvPicPr>
        <p:blipFill rotWithShape="1">
          <a:blip r:embed="rId4">
            <a:alphaModFix/>
          </a:blip>
          <a:srcRect b="0" l="11271" r="11263" t="0"/>
          <a:stretch/>
        </p:blipFill>
        <p:spPr>
          <a:xfrm>
            <a:off x="142875" y="95250"/>
            <a:ext cx="476400" cy="476400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8"/>
          <p:cNvSpPr/>
          <p:nvPr/>
        </p:nvSpPr>
        <p:spPr>
          <a:xfrm>
            <a:off x="666750" y="0"/>
            <a:ext cx="8382000" cy="666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 xml:space="preserve">Visualizing and Understanding Convolutional Networks </a:t>
            </a:r>
            <a:r>
              <a:rPr b="0" lang="en-US" sz="1400">
                <a:solidFill>
                  <a:srgbClr val="CCCCCC"/>
                </a:solidFill>
                <a:latin typeface="Calibri"/>
                <a:ea typeface="Calibri"/>
                <a:cs typeface="Calibri"/>
                <a:sym typeface="Calibri"/>
              </a:rPr>
              <a:t>(Zeiler &amp; Fergus, 2014)</a:t>
            </a:r>
            <a:endParaRPr b="1" sz="20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8"/>
          <p:cNvSpPr/>
          <p:nvPr/>
        </p:nvSpPr>
        <p:spPr>
          <a:xfrm>
            <a:off x="0" y="666750"/>
            <a:ext cx="9144000" cy="476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8"/>
          <p:cNvSpPr/>
          <p:nvPr/>
        </p:nvSpPr>
        <p:spPr>
          <a:xfrm>
            <a:off x="285750" y="1285875"/>
            <a:ext cx="2762400" cy="285900"/>
          </a:xfrm>
          <a:prstGeom prst="roundRect">
            <a:avLst>
              <a:gd fmla="val 13333" name="adj"/>
            </a:avLst>
          </a:prstGeom>
          <a:solidFill>
            <a:srgbClr val="0000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8"/>
          <p:cNvSpPr txBox="1"/>
          <p:nvPr/>
        </p:nvSpPr>
        <p:spPr>
          <a:xfrm>
            <a:off x="285750" y="1285875"/>
            <a:ext cx="27624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OBJECTIVES</a:t>
            </a:r>
            <a:endParaRPr b="1" sz="11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8"/>
          <p:cNvSpPr/>
          <p:nvPr/>
        </p:nvSpPr>
        <p:spPr>
          <a:xfrm>
            <a:off x="285750" y="1571625"/>
            <a:ext cx="2762400" cy="1428900"/>
          </a:xfrm>
          <a:prstGeom prst="roundRect">
            <a:avLst>
              <a:gd fmla="val 2666" name="adj"/>
            </a:avLst>
          </a:prstGeom>
          <a:solidFill>
            <a:srgbClr val="FFFFFF"/>
          </a:solidFill>
          <a:ln cap="flat" cmpd="sng" w="9525">
            <a:solidFill>
              <a:srgbClr val="E0E0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"/>
          <p:cNvSpPr txBox="1"/>
          <p:nvPr/>
        </p:nvSpPr>
        <p:spPr>
          <a:xfrm>
            <a:off x="428625" y="1666875"/>
            <a:ext cx="2476500" cy="1238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Calibri"/>
              <a:buChar char="●"/>
            </a:pPr>
            <a:r>
              <a:rPr b="0" lang="en-US" sz="10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Develop techniques to visualize feature detectors at each CNN layer</a:t>
            </a:r>
            <a:endParaRPr b="0" sz="100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2100" lvl="0" marL="457200" rtl="0" algn="l">
              <a:spcBef>
                <a:spcPts val="8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Calibri"/>
              <a:buChar char="●"/>
            </a:pPr>
            <a:r>
              <a:rPr b="0" lang="en-US" sz="10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Understand how input stimuli activate convolutional filters</a:t>
            </a:r>
            <a:endParaRPr b="0" sz="100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2100" lvl="0" marL="457200" rtl="0" algn="l">
              <a:spcBef>
                <a:spcPts val="8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Calibri"/>
              <a:buChar char="●"/>
            </a:pPr>
            <a:r>
              <a:rPr b="0" lang="en-US" sz="10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Use insights to improve CNN architecture design</a:t>
            </a:r>
            <a:endParaRPr b="0" sz="100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8"/>
          <p:cNvSpPr/>
          <p:nvPr/>
        </p:nvSpPr>
        <p:spPr>
          <a:xfrm>
            <a:off x="285750" y="3143250"/>
            <a:ext cx="2762400" cy="285900"/>
          </a:xfrm>
          <a:prstGeom prst="roundRect">
            <a:avLst>
              <a:gd fmla="val 13333" name="adj"/>
            </a:avLst>
          </a:prstGeom>
          <a:solidFill>
            <a:srgbClr val="333333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"/>
          <p:cNvSpPr txBox="1"/>
          <p:nvPr/>
        </p:nvSpPr>
        <p:spPr>
          <a:xfrm>
            <a:off x="285750" y="3143250"/>
            <a:ext cx="27624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METHODOLOGY</a:t>
            </a:r>
            <a:endParaRPr b="1" sz="11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8"/>
          <p:cNvSpPr/>
          <p:nvPr/>
        </p:nvSpPr>
        <p:spPr>
          <a:xfrm>
            <a:off x="285750" y="3476625"/>
            <a:ext cx="2762400" cy="1381200"/>
          </a:xfrm>
          <a:prstGeom prst="roundRect">
            <a:avLst>
              <a:gd fmla="val 2758" name="adj"/>
            </a:avLst>
          </a:prstGeom>
          <a:solidFill>
            <a:srgbClr val="FFFFFF"/>
          </a:solidFill>
          <a:ln cap="flat" cmpd="sng" w="9525">
            <a:solidFill>
              <a:srgbClr val="E0E0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8"/>
          <p:cNvSpPr txBox="1"/>
          <p:nvPr/>
        </p:nvSpPr>
        <p:spPr>
          <a:xfrm>
            <a:off x="428625" y="3571875"/>
            <a:ext cx="2476500" cy="119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Use deconvolutional networks to project feature activations back to input pixel space. Analyze which image regions maximally activate each filter. Compare learned features across depths.</a:t>
            </a:r>
            <a:endParaRPr b="0" sz="100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8"/>
          <p:cNvSpPr/>
          <p:nvPr/>
        </p:nvSpPr>
        <p:spPr>
          <a:xfrm>
            <a:off x="3190875" y="1285875"/>
            <a:ext cx="2762400" cy="285900"/>
          </a:xfrm>
          <a:prstGeom prst="roundRect">
            <a:avLst>
              <a:gd fmla="val 13333" name="adj"/>
            </a:avLst>
          </a:prstGeom>
          <a:solidFill>
            <a:srgbClr val="4D4D4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"/>
          <p:cNvSpPr txBox="1"/>
          <p:nvPr/>
        </p:nvSpPr>
        <p:spPr>
          <a:xfrm>
            <a:off x="3190875" y="1285875"/>
            <a:ext cx="27624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PROPOSED SOLUTION</a:t>
            </a:r>
            <a:endParaRPr b="1" sz="11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8"/>
          <p:cNvSpPr/>
          <p:nvPr/>
        </p:nvSpPr>
        <p:spPr>
          <a:xfrm>
            <a:off x="3190875" y="1571625"/>
            <a:ext cx="2762400" cy="1428900"/>
          </a:xfrm>
          <a:prstGeom prst="roundRect">
            <a:avLst>
              <a:gd fmla="val 2666" name="adj"/>
            </a:avLst>
          </a:prstGeom>
          <a:solidFill>
            <a:srgbClr val="FFFFFF"/>
          </a:solidFill>
          <a:ln cap="flat" cmpd="sng" w="9525">
            <a:solidFill>
              <a:srgbClr val="E0E0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8"/>
          <p:cNvSpPr txBox="1"/>
          <p:nvPr/>
        </p:nvSpPr>
        <p:spPr>
          <a:xfrm>
            <a:off x="3333750" y="1666875"/>
            <a:ext cx="2476500" cy="1238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Introduce deconvnet-based visualization to map activations back to input space, revealing hierarchical feature learning from edges in early layers to semantic concepts in deep layers.</a:t>
            </a:r>
            <a:endParaRPr b="0" sz="100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8"/>
          <p:cNvSpPr/>
          <p:nvPr/>
        </p:nvSpPr>
        <p:spPr>
          <a:xfrm>
            <a:off x="3190875" y="3143250"/>
            <a:ext cx="2762400" cy="285900"/>
          </a:xfrm>
          <a:prstGeom prst="roundRect">
            <a:avLst>
              <a:gd fmla="val 13333" name="adj"/>
            </a:avLst>
          </a:prstGeom>
          <a:solidFill>
            <a:srgbClr val="666666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8"/>
          <p:cNvSpPr txBox="1"/>
          <p:nvPr/>
        </p:nvSpPr>
        <p:spPr>
          <a:xfrm>
            <a:off x="3190875" y="3143250"/>
            <a:ext cx="27624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CONCLUSION</a:t>
            </a:r>
            <a:endParaRPr b="1" sz="11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8"/>
          <p:cNvSpPr/>
          <p:nvPr/>
        </p:nvSpPr>
        <p:spPr>
          <a:xfrm>
            <a:off x="3190875" y="3476625"/>
            <a:ext cx="2762400" cy="1381200"/>
          </a:xfrm>
          <a:prstGeom prst="roundRect">
            <a:avLst>
              <a:gd fmla="val 2758" name="adj"/>
            </a:avLst>
          </a:prstGeom>
          <a:solidFill>
            <a:srgbClr val="FFFFFF"/>
          </a:solidFill>
          <a:ln cap="flat" cmpd="sng" w="9525">
            <a:solidFill>
              <a:srgbClr val="E0E0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8"/>
          <p:cNvSpPr txBox="1"/>
          <p:nvPr/>
        </p:nvSpPr>
        <p:spPr>
          <a:xfrm>
            <a:off x="3333750" y="3571875"/>
            <a:ext cx="2476500" cy="119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5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Layer-wise visualization confirms CNNs learn hierarchical representations, motivating analysis of feature evolution as a path to interpretable architectures.</a:t>
            </a:r>
            <a:endParaRPr b="0" i="1" sz="95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800">
                <a:solidFill>
                  <a:srgbClr val="999999"/>
                </a:solidFill>
                <a:latin typeface="Calibri"/>
                <a:ea typeface="Calibri"/>
                <a:cs typeface="Calibri"/>
                <a:sym typeface="Calibri"/>
              </a:rPr>
              <a:t>REFERENCE:</a:t>
            </a:r>
            <a:endParaRPr b="1" i="0" sz="800">
              <a:solidFill>
                <a:srgbClr val="99999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800">
                <a:solidFill>
                  <a:srgbClr val="999999"/>
                </a:solidFill>
                <a:latin typeface="Calibri"/>
                <a:ea typeface="Calibri"/>
                <a:cs typeface="Calibri"/>
                <a:sym typeface="Calibri"/>
              </a:rPr>
              <a:t>Zeiler &amp; Fergus, Visualizing and Understanding Convolutional Networks, ECCV, 2014.</a:t>
            </a:r>
            <a:endParaRPr b="0" i="1" sz="800">
              <a:solidFill>
                <a:srgbClr val="99999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8"/>
          <p:cNvSpPr/>
          <p:nvPr/>
        </p:nvSpPr>
        <p:spPr>
          <a:xfrm>
            <a:off x="6096000" y="1285875"/>
            <a:ext cx="2762400" cy="285900"/>
          </a:xfrm>
          <a:prstGeom prst="roundRect">
            <a:avLst>
              <a:gd fmla="val 13333" name="adj"/>
            </a:avLst>
          </a:prstGeom>
          <a:solidFill>
            <a:srgbClr val="80808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8"/>
          <p:cNvSpPr txBox="1"/>
          <p:nvPr/>
        </p:nvSpPr>
        <p:spPr>
          <a:xfrm>
            <a:off x="6096000" y="1285875"/>
            <a:ext cx="27624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RESULTS</a:t>
            </a:r>
            <a:endParaRPr b="1" sz="11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8"/>
          <p:cNvSpPr/>
          <p:nvPr/>
        </p:nvSpPr>
        <p:spPr>
          <a:xfrm>
            <a:off x="6096000" y="1571625"/>
            <a:ext cx="2762400" cy="3286200"/>
          </a:xfrm>
          <a:prstGeom prst="roundRect">
            <a:avLst>
              <a:gd fmla="val 1379" name="adj"/>
            </a:avLst>
          </a:prstGeom>
          <a:solidFill>
            <a:srgbClr val="FFFFFF"/>
          </a:solidFill>
          <a:ln cap="flat" cmpd="sng" w="9525">
            <a:solidFill>
              <a:srgbClr val="E0E0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8"/>
          <p:cNvSpPr/>
          <p:nvPr/>
        </p:nvSpPr>
        <p:spPr>
          <a:xfrm>
            <a:off x="6296025" y="1914525"/>
            <a:ext cx="76200" cy="76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p8"/>
          <p:cNvSpPr txBox="1"/>
          <p:nvPr/>
        </p:nvSpPr>
        <p:spPr>
          <a:xfrm>
            <a:off x="6477000" y="1714500"/>
            <a:ext cx="22383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Early layers detect edges and color blobs; deeper layers learn textures and semantic parts</a:t>
            </a:r>
            <a:endParaRPr b="0" sz="95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8"/>
          <p:cNvSpPr/>
          <p:nvPr/>
        </p:nvSpPr>
        <p:spPr>
          <a:xfrm>
            <a:off x="6296025" y="2581275"/>
            <a:ext cx="76200" cy="76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8"/>
          <p:cNvSpPr txBox="1"/>
          <p:nvPr/>
        </p:nvSpPr>
        <p:spPr>
          <a:xfrm>
            <a:off x="6477000" y="2381250"/>
            <a:ext cx="22383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Layer-wise feature specificity increases with depth</a:t>
            </a:r>
            <a:endParaRPr b="0" sz="95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8"/>
          <p:cNvSpPr/>
          <p:nvPr/>
        </p:nvSpPr>
        <p:spPr>
          <a:xfrm>
            <a:off x="6296025" y="3248025"/>
            <a:ext cx="76200" cy="76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8"/>
          <p:cNvSpPr txBox="1"/>
          <p:nvPr/>
        </p:nvSpPr>
        <p:spPr>
          <a:xfrm>
            <a:off x="6477000" y="3048000"/>
            <a:ext cx="22383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Visualization guided removal of redundant filters, improving AlexNet accuracy</a:t>
            </a:r>
            <a:endParaRPr b="0" sz="95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8"/>
          <p:cNvSpPr/>
          <p:nvPr/>
        </p:nvSpPr>
        <p:spPr>
          <a:xfrm>
            <a:off x="0" y="0"/>
            <a:ext cx="952500" cy="762000"/>
          </a:xfrm>
          <a:prstGeom prst="roundRect">
            <a:avLst>
              <a:gd fmla="val 10000" name="adj"/>
            </a:avLst>
          </a:prstGeom>
          <a:solidFill>
            <a:srgbClr val="F9F9F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8"/>
          <p:cNvSpPr txBox="1"/>
          <p:nvPr/>
        </p:nvSpPr>
        <p:spPr>
          <a:xfrm>
            <a:off x="7000875" y="3963670"/>
            <a:ext cx="952500" cy="762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4000">
                <a:solidFill>
                  <a:srgbClr val="B3B3B3"/>
                </a:solidFill>
                <a:latin typeface="Material Icons"/>
                <a:ea typeface="Material Icons"/>
                <a:cs typeface="Material Icons"/>
                <a:sym typeface="Material Icons"/>
              </a:rPr>
              <a:t/>
            </a:r>
            <a:endParaRPr b="0" sz="4000">
              <a:solidFill>
                <a:srgbClr val="B3B3B3"/>
              </a:solidFill>
              <a:latin typeface="Material Icons"/>
              <a:ea typeface="Material Icons"/>
              <a:cs typeface="Material Icons"/>
              <a:sym typeface="Material Icons"/>
            </a:endParaRPr>
          </a:p>
        </p:txBody>
      </p:sp>
      <p:sp>
        <p:nvSpPr>
          <p:cNvPr id="167" name="Google Shape;167;p8"/>
          <p:cNvSpPr txBox="1"/>
          <p:nvPr/>
        </p:nvSpPr>
        <p:spPr>
          <a:xfrm>
            <a:off x="285750" y="666750"/>
            <a:ext cx="15240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PROBLEM STATEMENT</a:t>
            </a:r>
            <a:endParaRPr b="1" sz="10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8"/>
          <p:cNvSpPr txBox="1"/>
          <p:nvPr/>
        </p:nvSpPr>
        <p:spPr>
          <a:xfrm>
            <a:off x="1809750" y="666750"/>
            <a:ext cx="70485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The internal representations learned by CNNs across layers are opaque, making it difficult to understand what features are detected at each depth, limiting model debugging and design.</a:t>
            </a:r>
            <a:endParaRPr b="0" sz="100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99" name="MethodologyDiagram"/>
          <p:cNvPicPr preferRelativeResize="0"/>
          <p:nvPr/>
        </p:nvPicPr>
        <p:blipFill rotWithShape="1">
          <a:blip r:embed="rId5"/>
          <a:stretch/>
        </p:blipFill>
        <p:spPr>
          <a:xfrm>
            <a:off x="6200000" y="3350000"/>
            <a:ext cx="2700000" cy="120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9"/>
          <p:cNvSpPr/>
          <p:nvPr/>
        </p:nvSpPr>
        <p:spPr>
          <a:xfrm>
            <a:off x="0" y="0"/>
            <a:ext cx="9144000" cy="6669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kle_logo_final.png" id="175" name="Google Shape;175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667512" cy="667512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9"/>
          <p:cNvSpPr/>
          <p:nvPr/>
        </p:nvSpPr>
        <p:spPr>
          <a:xfrm>
            <a:off x="667512" y="0"/>
            <a:ext cx="8476500" cy="667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 xml:space="preserve">Do ImageNet Classifiers Generalize to ImageNet? </a:t>
            </a:r>
            <a:r>
              <a:rPr b="0" lang="en-US" sz="140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(Recht et al., 2019)</a:t>
            </a:r>
            <a:endParaRPr b="1" sz="22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9"/>
          <p:cNvSpPr/>
          <p:nvPr/>
        </p:nvSpPr>
        <p:spPr>
          <a:xfrm>
            <a:off x="0" y="666750"/>
            <a:ext cx="9144000" cy="4764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9"/>
          <p:cNvSpPr/>
          <p:nvPr/>
        </p:nvSpPr>
        <p:spPr>
          <a:xfrm>
            <a:off x="285750" y="666750"/>
            <a:ext cx="15240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PROBLEM STATEMENT</a:t>
            </a:r>
            <a:endParaRPr b="1" sz="10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9"/>
          <p:cNvSpPr/>
          <p:nvPr/>
        </p:nvSpPr>
        <p:spPr>
          <a:xfrm>
            <a:off x="1809750" y="666750"/>
            <a:ext cx="70485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It is unclear how dataset properties (distribution, complexity, noise) affect the representations learned by CNNs across layers, limiting understanding of dataset-model interaction and generalization.</a:t>
            </a:r>
            <a:endParaRPr b="0" sz="1000">
              <a:solidFill>
                <a:srgbClr val="1F2937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9"/>
          <p:cNvSpPr/>
          <p:nvPr/>
        </p:nvSpPr>
        <p:spPr>
          <a:xfrm>
            <a:off x="285750" y="1285875"/>
            <a:ext cx="2667000" cy="2859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9"/>
          <p:cNvSpPr/>
          <p:nvPr/>
        </p:nvSpPr>
        <p:spPr>
          <a:xfrm>
            <a:off x="285750" y="1285875"/>
            <a:ext cx="26670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OBJECTIVES</a:t>
            </a:r>
            <a:endParaRPr b="1" sz="11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9"/>
          <p:cNvSpPr/>
          <p:nvPr/>
        </p:nvSpPr>
        <p:spPr>
          <a:xfrm>
            <a:off x="285750" y="1571625"/>
            <a:ext cx="2667000" cy="14289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" name="Google Shape;183;p9"/>
          <p:cNvSpPr/>
          <p:nvPr/>
        </p:nvSpPr>
        <p:spPr>
          <a:xfrm>
            <a:off x="428625" y="1666875"/>
            <a:ext cx="2381400" cy="1238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95250" spcFirstLastPara="1" rIns="0" wrap="square" tIns="0">
            <a:noAutofit/>
          </a:bodyPr>
          <a:lstStyle/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000"/>
              <a:buFont typeface="Calibri"/>
              <a:buChar char="●"/>
            </a:pPr>
            <a:r>
              <a:rPr lang="en-US" sz="100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Study how dataset distribution shifts affect CNN feature learning</a:t>
            </a:r>
            <a:endParaRPr sz="1000">
              <a:solidFill>
                <a:srgbClr val="37415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2100" lvl="0" marL="457200" rtl="0" algn="l">
              <a:spcBef>
                <a:spcPts val="800"/>
              </a:spcBef>
              <a:spcAft>
                <a:spcPts val="0"/>
              </a:spcAft>
              <a:buClr>
                <a:srgbClr val="374151"/>
              </a:buClr>
              <a:buSzPts val="1000"/>
              <a:buFont typeface="Calibri"/>
              <a:buChar char="●"/>
            </a:pPr>
            <a:r>
              <a:rPr lang="en-US" sz="100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Evaluate whether accuracy reflects quality of learned representations</a:t>
            </a:r>
            <a:endParaRPr sz="1000">
              <a:solidFill>
                <a:srgbClr val="37415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2100" lvl="0" marL="457200" rtl="0" algn="l">
              <a:spcBef>
                <a:spcPts val="800"/>
              </a:spcBef>
              <a:spcAft>
                <a:spcPts val="0"/>
              </a:spcAft>
              <a:buClr>
                <a:srgbClr val="374151"/>
              </a:buClr>
              <a:buSzPts val="1000"/>
              <a:buFont typeface="Calibri"/>
              <a:buChar char="●"/>
            </a:pPr>
            <a:r>
              <a:rPr lang="en-US" sz="100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Understand impact of dataset complexity on generalization</a:t>
            </a:r>
            <a:endParaRPr sz="1000">
              <a:solidFill>
                <a:srgbClr val="37415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9"/>
          <p:cNvSpPr/>
          <p:nvPr/>
        </p:nvSpPr>
        <p:spPr>
          <a:xfrm>
            <a:off x="285750" y="3190875"/>
            <a:ext cx="2667000" cy="285900"/>
          </a:xfrm>
          <a:prstGeom prst="rect">
            <a:avLst/>
          </a:prstGeom>
          <a:solidFill>
            <a:srgbClr val="4B5563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9"/>
          <p:cNvSpPr/>
          <p:nvPr/>
        </p:nvSpPr>
        <p:spPr>
          <a:xfrm>
            <a:off x="285750" y="3190875"/>
            <a:ext cx="26670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METHODOLOGY</a:t>
            </a:r>
            <a:endParaRPr b="1" sz="11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9"/>
          <p:cNvSpPr/>
          <p:nvPr/>
        </p:nvSpPr>
        <p:spPr>
          <a:xfrm>
            <a:off x="285750" y="3476625"/>
            <a:ext cx="2667000" cy="13812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9"/>
          <p:cNvSpPr/>
          <p:nvPr/>
        </p:nvSpPr>
        <p:spPr>
          <a:xfrm>
            <a:off x="428625" y="3571875"/>
            <a:ext cx="2381400" cy="119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Create new test sets replicating ImageNet collection methodology. Evaluate standard CNN models on original vs. new sets. Analyze representation differences across dataset variants.</a:t>
            </a:r>
            <a:endParaRPr sz="1000">
              <a:solidFill>
                <a:srgbClr val="37415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9"/>
          <p:cNvSpPr/>
          <p:nvPr/>
        </p:nvSpPr>
        <p:spPr>
          <a:xfrm>
            <a:off x="3238500" y="1285875"/>
            <a:ext cx="2667000" cy="2859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9"/>
          <p:cNvSpPr/>
          <p:nvPr/>
        </p:nvSpPr>
        <p:spPr>
          <a:xfrm>
            <a:off x="3238500" y="1285875"/>
            <a:ext cx="26670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PROPOSED SOLUTION</a:t>
            </a:r>
            <a:endParaRPr b="1" sz="11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9"/>
          <p:cNvSpPr/>
          <p:nvPr/>
        </p:nvSpPr>
        <p:spPr>
          <a:xfrm>
            <a:off x="3238500" y="1571625"/>
            <a:ext cx="2667000" cy="14289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9"/>
          <p:cNvSpPr/>
          <p:nvPr/>
        </p:nvSpPr>
        <p:spPr>
          <a:xfrm>
            <a:off x="3381375" y="1666875"/>
            <a:ext cx="2381400" cy="1238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Demonstrate that CNN performance drops on resampled datasets even with identical collection process, suggesting learned features overfit to dataset-specific biases beyond semantic content.</a:t>
            </a:r>
            <a:endParaRPr sz="1000">
              <a:solidFill>
                <a:srgbClr val="37415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9"/>
          <p:cNvSpPr/>
          <p:nvPr/>
        </p:nvSpPr>
        <p:spPr>
          <a:xfrm>
            <a:off x="3238500" y="3190875"/>
            <a:ext cx="2667000" cy="28590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3" name="Google Shape;193;p9"/>
          <p:cNvSpPr/>
          <p:nvPr/>
        </p:nvSpPr>
        <p:spPr>
          <a:xfrm>
            <a:off x="3238500" y="3190875"/>
            <a:ext cx="26670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CONCLUSION</a:t>
            </a:r>
            <a:endParaRPr b="1" sz="11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9"/>
          <p:cNvSpPr/>
          <p:nvPr/>
        </p:nvSpPr>
        <p:spPr>
          <a:xfrm>
            <a:off x="3238500" y="3476625"/>
            <a:ext cx="2667000" cy="13812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9"/>
          <p:cNvSpPr/>
          <p:nvPr/>
        </p:nvSpPr>
        <p:spPr>
          <a:xfrm>
            <a:off x="3381375" y="3571875"/>
            <a:ext cx="2381400" cy="119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925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Dataset properties profoundly shape CNN feature evolution; studying layer-wise representations across multiple datasets is essential to understanding generalizable vs. dataset-specific features.</a:t>
            </a:r>
            <a:endParaRPr i="1" sz="925">
              <a:solidFill>
                <a:srgbClr val="37415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-US" sz="74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REFERENCE:</a:t>
            </a:r>
            <a:endParaRPr b="1" sz="740">
              <a:solidFill>
                <a:srgbClr val="9CA3A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74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Recht et al., Do ImageNet Classifiers Generalize to ImageNet? ICML, 2019.</a:t>
            </a:r>
            <a:endParaRPr i="1" sz="740">
              <a:solidFill>
                <a:srgbClr val="9CA3A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9"/>
          <p:cNvSpPr/>
          <p:nvPr/>
        </p:nvSpPr>
        <p:spPr>
          <a:xfrm>
            <a:off x="6191250" y="1285875"/>
            <a:ext cx="2667000" cy="28590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p9"/>
          <p:cNvSpPr/>
          <p:nvPr/>
        </p:nvSpPr>
        <p:spPr>
          <a:xfrm>
            <a:off x="6191250" y="1285875"/>
            <a:ext cx="26670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RESULTS</a:t>
            </a:r>
            <a:endParaRPr b="1" sz="11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9"/>
          <p:cNvSpPr/>
          <p:nvPr/>
        </p:nvSpPr>
        <p:spPr>
          <a:xfrm>
            <a:off x="6191250" y="1571625"/>
            <a:ext cx="2667000" cy="32862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9"/>
          <p:cNvSpPr/>
          <p:nvPr/>
        </p:nvSpPr>
        <p:spPr>
          <a:xfrm>
            <a:off x="6343650" y="1914525"/>
            <a:ext cx="76200" cy="76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9"/>
          <p:cNvSpPr/>
          <p:nvPr/>
        </p:nvSpPr>
        <p:spPr>
          <a:xfrm>
            <a:off x="6524625" y="1666875"/>
            <a:ext cx="2190900" cy="571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Model accuracy drops consistently on new test sets (3–15% gap)</a:t>
            </a:r>
            <a:endParaRPr sz="950">
              <a:solidFill>
                <a:srgbClr val="37415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9"/>
          <p:cNvSpPr/>
          <p:nvPr/>
        </p:nvSpPr>
        <p:spPr>
          <a:xfrm>
            <a:off x="6343650" y="2581275"/>
            <a:ext cx="76200" cy="76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9"/>
          <p:cNvSpPr/>
          <p:nvPr/>
        </p:nvSpPr>
        <p:spPr>
          <a:xfrm>
            <a:off x="6524625" y="2333625"/>
            <a:ext cx="2190900" cy="571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Feature representations are more dataset-specific than previously assumed</a:t>
            </a:r>
            <a:endParaRPr sz="950">
              <a:solidFill>
                <a:srgbClr val="37415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9"/>
          <p:cNvSpPr/>
          <p:nvPr/>
        </p:nvSpPr>
        <p:spPr>
          <a:xfrm>
            <a:off x="6343650" y="3248025"/>
            <a:ext cx="76200" cy="76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9"/>
          <p:cNvSpPr/>
          <p:nvPr/>
        </p:nvSpPr>
        <p:spPr>
          <a:xfrm>
            <a:off x="6524625" y="3000375"/>
            <a:ext cx="2190900" cy="571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Dataset complexity and label noise significantly affect what CNN layers learn</a:t>
            </a:r>
            <a:endParaRPr sz="950">
              <a:solidFill>
                <a:srgbClr val="37415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9"/>
          <p:cNvSpPr txBox="1"/>
          <p:nvPr/>
        </p:nvSpPr>
        <p:spPr>
          <a:xfrm>
            <a:off x="7143750" y="4053078"/>
            <a:ext cx="762000" cy="5715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>
                <a:solidFill>
                  <a:srgbClr val="D1D5DB"/>
                </a:solidFill>
                <a:latin typeface="Material Icons"/>
                <a:ea typeface="Material Icons"/>
                <a:cs typeface="Material Icons"/>
                <a:sym typeface="Material Icons"/>
              </a:rPr>
              <a:t/>
            </a:r>
            <a:endParaRPr sz="3600">
              <a:solidFill>
                <a:srgbClr val="D1D5DB"/>
              </a:solidFill>
              <a:latin typeface="Material Icons"/>
              <a:ea typeface="Material Icons"/>
              <a:cs typeface="Material Icons"/>
              <a:sym typeface="Material Icons"/>
            </a:endParaRPr>
          </a:p>
        </p:txBody>
      </p:sp>
      <p:pic>
        <p:nvPicPr>
          <p:cNvPr id="999" name="MethodologyDiagram"/>
          <p:cNvPicPr preferRelativeResize="0"/>
          <p:nvPr/>
        </p:nvPicPr>
        <p:blipFill rotWithShape="1">
          <a:blip r:embed="rId5"/>
          <a:stretch/>
        </p:blipFill>
        <p:spPr>
          <a:xfrm>
            <a:off x="6200000" y="3350000"/>
            <a:ext cx="2700000" cy="120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0"/>
          <p:cNvSpPr/>
          <p:nvPr/>
        </p:nvSpPr>
        <p:spPr>
          <a:xfrm>
            <a:off x="0" y="0"/>
            <a:ext cx="9144000" cy="6669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12" name="Google Shape;212;p10"/>
          <p:cNvPicPr preferRelativeResize="0"/>
          <p:nvPr/>
        </p:nvPicPr>
        <p:blipFill rotWithShape="1">
          <a:blip r:embed="rId3">
            <a:alphaModFix/>
          </a:blip>
          <a:srcRect b="0" l="11271" r="11263" t="0"/>
          <a:stretch/>
        </p:blipFill>
        <p:spPr>
          <a:xfrm>
            <a:off x="142875" y="95250"/>
            <a:ext cx="476400" cy="476400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10"/>
          <p:cNvSpPr/>
          <p:nvPr/>
        </p:nvSpPr>
        <p:spPr>
          <a:xfrm>
            <a:off x="666750" y="0"/>
            <a:ext cx="8382000" cy="666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 xml:space="preserve">Understanding Deep Neural Networks with Rectified Linear Units </a:t>
            </a:r>
            <a:r>
              <a:rPr b="0" lang="en-US" sz="1400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(Arora et al., 2018)</a:t>
            </a:r>
            <a:endParaRPr b="1" sz="20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4" name="Google Shape;214;p10"/>
          <p:cNvSpPr/>
          <p:nvPr/>
        </p:nvSpPr>
        <p:spPr>
          <a:xfrm>
            <a:off x="0" y="666750"/>
            <a:ext cx="9144000" cy="476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0"/>
          <p:cNvSpPr/>
          <p:nvPr/>
        </p:nvSpPr>
        <p:spPr>
          <a:xfrm>
            <a:off x="285750" y="666750"/>
            <a:ext cx="15240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PROBLEM STATEMENT</a:t>
            </a:r>
            <a:endParaRPr b="1" sz="10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6" name="Google Shape;216;p10"/>
          <p:cNvSpPr/>
          <p:nvPr/>
        </p:nvSpPr>
        <p:spPr>
          <a:xfrm>
            <a:off x="1809750" y="666750"/>
            <a:ext cx="70485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rPr>
              <a:t>The relationship between activation statistics in intermediate CNN layers and the quality of learned decision boundaries is not well understood, making interpretability and optimization difficult.</a:t>
            </a:r>
            <a:endParaRPr b="0" sz="1000">
              <a:solidFill>
                <a:srgbClr val="33333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7" name="Google Shape;217;p10"/>
          <p:cNvSpPr/>
          <p:nvPr/>
        </p:nvSpPr>
        <p:spPr>
          <a:xfrm>
            <a:off x="285750" y="1285875"/>
            <a:ext cx="2667000" cy="2859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10"/>
          <p:cNvSpPr/>
          <p:nvPr/>
        </p:nvSpPr>
        <p:spPr>
          <a:xfrm>
            <a:off x="285750" y="1285875"/>
            <a:ext cx="26670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OBJECTIVES</a:t>
            </a:r>
            <a:endParaRPr b="1" sz="11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9" name="Google Shape;219;p10"/>
          <p:cNvSpPr/>
          <p:nvPr/>
        </p:nvSpPr>
        <p:spPr>
          <a:xfrm>
            <a:off x="285750" y="1571625"/>
            <a:ext cx="2667000" cy="14289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0E0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0" name="Google Shape;220;p10"/>
          <p:cNvSpPr/>
          <p:nvPr/>
        </p:nvSpPr>
        <p:spPr>
          <a:xfrm>
            <a:off x="428625" y="1666875"/>
            <a:ext cx="2381400" cy="1238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82575" lvl="0" marL="45720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850"/>
              <a:buFont typeface="Inter"/>
              <a:buChar char="●"/>
            </a:pPr>
            <a:r>
              <a:rPr lang="en-US" sz="850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rPr>
              <a:t>Analyze how ReLU activations shape feature geometry across layers</a:t>
            </a:r>
            <a:endParaRPr sz="850">
              <a:solidFill>
                <a:srgbClr val="333333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82575" lvl="0" marL="457200" rtl="0" algn="l">
              <a:spcBef>
                <a:spcPts val="800"/>
              </a:spcBef>
              <a:spcAft>
                <a:spcPts val="0"/>
              </a:spcAft>
              <a:buClr>
                <a:srgbClr val="333333"/>
              </a:buClr>
              <a:buSzPts val="850"/>
              <a:buFont typeface="Inter"/>
              <a:buChar char="●"/>
            </a:pPr>
            <a:r>
              <a:rPr lang="en-US" sz="850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rPr>
              <a:t>Study sparsity patterns and their relationship to decision boundaries</a:t>
            </a:r>
            <a:endParaRPr sz="850">
              <a:solidFill>
                <a:srgbClr val="333333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82575" lvl="0" marL="457200" rtl="0" algn="l">
              <a:spcBef>
                <a:spcPts val="800"/>
              </a:spcBef>
              <a:spcAft>
                <a:spcPts val="0"/>
              </a:spcAft>
              <a:buClr>
                <a:srgbClr val="333333"/>
              </a:buClr>
              <a:buSzPts val="850"/>
              <a:buFont typeface="Inter"/>
              <a:buChar char="●"/>
            </a:pPr>
            <a:r>
              <a:rPr lang="en-US" sz="850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rPr>
              <a:t>Connect activation statistics to model expressivity and generalization</a:t>
            </a:r>
            <a:endParaRPr sz="850">
              <a:solidFill>
                <a:srgbClr val="33333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1" name="Google Shape;221;p10"/>
          <p:cNvSpPr/>
          <p:nvPr/>
        </p:nvSpPr>
        <p:spPr>
          <a:xfrm>
            <a:off x="285750" y="3143250"/>
            <a:ext cx="2667000" cy="2859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0"/>
          <p:cNvSpPr/>
          <p:nvPr/>
        </p:nvSpPr>
        <p:spPr>
          <a:xfrm>
            <a:off x="285750" y="3143250"/>
            <a:ext cx="26670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METHODOLOGY</a:t>
            </a:r>
            <a:endParaRPr b="1" sz="11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3" name="Google Shape;223;p10"/>
          <p:cNvSpPr/>
          <p:nvPr/>
        </p:nvSpPr>
        <p:spPr>
          <a:xfrm>
            <a:off x="285750" y="3476625"/>
            <a:ext cx="2667000" cy="13812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0E0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10"/>
          <p:cNvSpPr/>
          <p:nvPr/>
        </p:nvSpPr>
        <p:spPr>
          <a:xfrm>
            <a:off x="428625" y="3571875"/>
            <a:ext cx="2381400" cy="119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rPr>
              <a:t>Theoretically analyze ReLU networks layer-by-layer. Measure sparsity, mean activation, and variance across layers. Map statistics to piecewise-linear decision regions.</a:t>
            </a:r>
            <a:endParaRPr b="0" sz="1000">
              <a:solidFill>
                <a:srgbClr val="33333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5" name="Google Shape;225;p10"/>
          <p:cNvSpPr/>
          <p:nvPr/>
        </p:nvSpPr>
        <p:spPr>
          <a:xfrm>
            <a:off x="3238500" y="1285875"/>
            <a:ext cx="2667000" cy="285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10"/>
          <p:cNvSpPr/>
          <p:nvPr/>
        </p:nvSpPr>
        <p:spPr>
          <a:xfrm>
            <a:off x="3238500" y="1285875"/>
            <a:ext cx="26670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PROPOSED SOLUTION</a:t>
            </a:r>
            <a:endParaRPr b="1" sz="11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7" name="Google Shape;227;p10"/>
          <p:cNvSpPr/>
          <p:nvPr/>
        </p:nvSpPr>
        <p:spPr>
          <a:xfrm>
            <a:off x="3238500" y="1571625"/>
            <a:ext cx="2667000" cy="14289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0E0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p10"/>
          <p:cNvSpPr/>
          <p:nvPr/>
        </p:nvSpPr>
        <p:spPr>
          <a:xfrm>
            <a:off x="3381375" y="1666875"/>
            <a:ext cx="2381400" cy="1238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rPr>
              <a:t>Show that ReLU networks create exponentially many linear regions as depth increases, and that activation sparsity patterns in intermediate layers directly determine decision boundary structure.</a:t>
            </a:r>
            <a:endParaRPr b="0" sz="1000">
              <a:solidFill>
                <a:srgbClr val="33333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9" name="Google Shape;229;p10"/>
          <p:cNvSpPr/>
          <p:nvPr/>
        </p:nvSpPr>
        <p:spPr>
          <a:xfrm>
            <a:off x="3238500" y="3143250"/>
            <a:ext cx="2667000" cy="28590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10"/>
          <p:cNvSpPr/>
          <p:nvPr/>
        </p:nvSpPr>
        <p:spPr>
          <a:xfrm>
            <a:off x="3238500" y="3143250"/>
            <a:ext cx="26670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CONCLUSION</a:t>
            </a:r>
            <a:endParaRPr b="1" sz="11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1" name="Google Shape;231;p10"/>
          <p:cNvSpPr/>
          <p:nvPr/>
        </p:nvSpPr>
        <p:spPr>
          <a:xfrm>
            <a:off x="3238500" y="3476625"/>
            <a:ext cx="2667000" cy="13812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0E0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0"/>
          <p:cNvSpPr/>
          <p:nvPr/>
        </p:nvSpPr>
        <p:spPr>
          <a:xfrm>
            <a:off x="3381375" y="3571875"/>
            <a:ext cx="2381400" cy="119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879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rPr>
              <a:t>Layer-wise activation statistics are directly tied to representation quality and decision boundaries — validating the importance of quantifying mean, variance, and sparsity across CNN layers.</a:t>
            </a:r>
            <a:endParaRPr i="1" sz="879">
              <a:solidFill>
                <a:srgbClr val="333333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-US" sz="740">
                <a:solidFill>
                  <a:srgbClr val="999999"/>
                </a:solidFill>
                <a:latin typeface="Inter"/>
                <a:ea typeface="Inter"/>
                <a:cs typeface="Inter"/>
                <a:sym typeface="Inter"/>
              </a:rPr>
              <a:t>REFERENCE:</a:t>
            </a:r>
            <a:endParaRPr b="1" sz="740">
              <a:solidFill>
                <a:srgbClr val="999999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1" lang="en-US" sz="740">
                <a:solidFill>
                  <a:srgbClr val="999999"/>
                </a:solidFill>
                <a:latin typeface="Inter"/>
                <a:ea typeface="Inter"/>
                <a:cs typeface="Inter"/>
                <a:sym typeface="Inter"/>
              </a:rPr>
              <a:t>Arora et al., Understanding Deep Neural Networks with Rectified Linear Units, ICLR, 2018.</a:t>
            </a:r>
            <a:endParaRPr i="1" sz="740">
              <a:solidFill>
                <a:srgbClr val="99999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3" name="Google Shape;233;p10"/>
          <p:cNvSpPr/>
          <p:nvPr/>
        </p:nvSpPr>
        <p:spPr>
          <a:xfrm>
            <a:off x="6191250" y="1285875"/>
            <a:ext cx="2667000" cy="285900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10"/>
          <p:cNvSpPr/>
          <p:nvPr/>
        </p:nvSpPr>
        <p:spPr>
          <a:xfrm>
            <a:off x="6191250" y="1285875"/>
            <a:ext cx="26670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RESULTS</a:t>
            </a:r>
            <a:endParaRPr b="1" sz="11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5" name="Google Shape;235;p10"/>
          <p:cNvSpPr/>
          <p:nvPr/>
        </p:nvSpPr>
        <p:spPr>
          <a:xfrm>
            <a:off x="6191250" y="1571625"/>
            <a:ext cx="2667000" cy="32862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0E0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6" name="Google Shape;236;p10"/>
          <p:cNvSpPr/>
          <p:nvPr/>
        </p:nvSpPr>
        <p:spPr>
          <a:xfrm>
            <a:off x="6391275" y="1914525"/>
            <a:ext cx="76200" cy="76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10"/>
          <p:cNvSpPr/>
          <p:nvPr/>
        </p:nvSpPr>
        <p:spPr>
          <a:xfrm>
            <a:off x="6572250" y="1714500"/>
            <a:ext cx="21432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rPr>
              <a:t>Deeper layers produce sparser, more discriminative activations</a:t>
            </a:r>
            <a:endParaRPr b="0" sz="950">
              <a:solidFill>
                <a:srgbClr val="33333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8" name="Google Shape;238;p10"/>
          <p:cNvSpPr/>
          <p:nvPr/>
        </p:nvSpPr>
        <p:spPr>
          <a:xfrm>
            <a:off x="6391275" y="2581275"/>
            <a:ext cx="76200" cy="76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p10"/>
          <p:cNvSpPr/>
          <p:nvPr/>
        </p:nvSpPr>
        <p:spPr>
          <a:xfrm>
            <a:off x="6572250" y="2381250"/>
            <a:ext cx="21432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rPr>
              <a:t>Mean and variance of activations correlate with decision boundary complexity</a:t>
            </a:r>
            <a:endParaRPr b="0" sz="950">
              <a:solidFill>
                <a:srgbClr val="33333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0" name="Google Shape;240;p10"/>
          <p:cNvSpPr/>
          <p:nvPr/>
        </p:nvSpPr>
        <p:spPr>
          <a:xfrm>
            <a:off x="6391275" y="3248025"/>
            <a:ext cx="76200" cy="76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10"/>
          <p:cNvSpPr/>
          <p:nvPr/>
        </p:nvSpPr>
        <p:spPr>
          <a:xfrm>
            <a:off x="6572250" y="3048000"/>
            <a:ext cx="21432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rPr>
              <a:t>Sparsity is a key indicator of feature specialization and class discrimination</a:t>
            </a:r>
            <a:endParaRPr b="0" sz="950">
              <a:solidFill>
                <a:srgbClr val="33333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2" name="Google Shape;242;p10"/>
          <p:cNvSpPr txBox="1"/>
          <p:nvPr/>
        </p:nvSpPr>
        <p:spPr>
          <a:xfrm>
            <a:off x="7048500" y="4020820"/>
            <a:ext cx="952500" cy="762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>
                <a:solidFill>
                  <a:srgbClr val="B3B3B3"/>
                </a:solidFill>
                <a:latin typeface="Material Icons"/>
                <a:ea typeface="Material Icons"/>
                <a:cs typeface="Material Icons"/>
                <a:sym typeface="Material Icons"/>
              </a:rPr>
              <a:t/>
            </a:r>
            <a:endParaRPr sz="4000">
              <a:solidFill>
                <a:srgbClr val="B3B3B3"/>
              </a:solidFill>
              <a:latin typeface="Material Icons"/>
              <a:ea typeface="Material Icons"/>
              <a:cs typeface="Material Icons"/>
              <a:sym typeface="Material Icons"/>
            </a:endParaRPr>
          </a:p>
        </p:txBody>
      </p:sp>
      <p:pic>
        <p:nvPicPr>
          <p:cNvPr id="999" name="MethodologyDiagram"/>
          <p:cNvPicPr preferRelativeResize="0"/>
          <p:nvPr/>
        </p:nvPicPr>
        <p:blipFill rotWithShape="1">
          <a:blip r:embed="rId4"/>
          <a:stretch/>
        </p:blipFill>
        <p:spPr>
          <a:xfrm>
            <a:off x="6200000" y="3350000"/>
            <a:ext cx="2700000" cy="120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11"/>
          <p:cNvSpPr/>
          <p:nvPr/>
        </p:nvSpPr>
        <p:spPr>
          <a:xfrm>
            <a:off x="0" y="0"/>
            <a:ext cx="9144000" cy="667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kle_logo_final.png" id="249" name="Google Shape;249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667512" cy="667512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11"/>
          <p:cNvSpPr/>
          <p:nvPr/>
        </p:nvSpPr>
        <p:spPr>
          <a:xfrm>
            <a:off x="667512" y="0"/>
            <a:ext cx="8476500" cy="667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Dataset Selection &amp; Analysis</a:t>
            </a:r>
            <a:endParaRPr b="1" sz="2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1"/>
          <p:cNvSpPr/>
          <p:nvPr/>
        </p:nvSpPr>
        <p:spPr>
          <a:xfrm>
            <a:off x="238125" y="952500"/>
            <a:ext cx="2047800" cy="2190900"/>
          </a:xfrm>
          <a:prstGeom prst="rect">
            <a:avLst/>
          </a:prstGeom>
          <a:solidFill>
            <a:srgbClr val="FFFFFF"/>
          </a:solidFill>
          <a:ln cap="flat" cmpd="sng" w="143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11"/>
          <p:cNvSpPr/>
          <p:nvPr/>
        </p:nvSpPr>
        <p:spPr>
          <a:xfrm>
            <a:off x="238125" y="952500"/>
            <a:ext cx="2047800" cy="47640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11"/>
          <p:cNvSpPr/>
          <p:nvPr/>
        </p:nvSpPr>
        <p:spPr>
          <a:xfrm>
            <a:off x="238125" y="1190625"/>
            <a:ext cx="2047800" cy="23820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4" name="Google Shape;254;p11"/>
          <p:cNvSpPr/>
          <p:nvPr/>
        </p:nvSpPr>
        <p:spPr>
          <a:xfrm>
            <a:off x="238125" y="952500"/>
            <a:ext cx="20478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Food-101</a:t>
            </a:r>
            <a:endParaRPr b="1" sz="15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11"/>
          <p:cNvSpPr/>
          <p:nvPr/>
        </p:nvSpPr>
        <p:spPr>
          <a:xfrm>
            <a:off x="404813" y="1571625"/>
            <a:ext cx="1714500" cy="285900"/>
          </a:xfrm>
          <a:prstGeom prst="rect">
            <a:avLst/>
          </a:prstGeom>
          <a:solidFill>
            <a:srgbClr val="FDF2F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6" name="Google Shape;256;p11"/>
          <p:cNvSpPr/>
          <p:nvPr/>
        </p:nvSpPr>
        <p:spPr>
          <a:xfrm>
            <a:off x="404813" y="1571625"/>
            <a:ext cx="1714500" cy="2859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Texture-heavy</a:t>
            </a:r>
            <a:endParaRPr b="1" i="0" sz="1100" u="none" strike="noStrike">
              <a:solidFill>
                <a:srgbClr val="47556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11"/>
          <p:cNvSpPr/>
          <p:nvPr/>
        </p:nvSpPr>
        <p:spPr>
          <a:xfrm>
            <a:off x="333375" y="2000250"/>
            <a:ext cx="1857300" cy="1047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Noisy backgrounds</a:t>
            </a:r>
            <a:endParaRPr b="0" sz="1100">
              <a:solidFill>
                <a:srgbClr val="47556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High intra-class variance</a:t>
            </a:r>
            <a:endParaRPr b="0" sz="1100">
              <a:solidFill>
                <a:srgbClr val="47556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Complex food plating</a:t>
            </a:r>
            <a:endParaRPr b="0" sz="1100">
              <a:solidFill>
                <a:srgbClr val="47556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11"/>
          <p:cNvSpPr/>
          <p:nvPr/>
        </p:nvSpPr>
        <p:spPr>
          <a:xfrm>
            <a:off x="2428875" y="952500"/>
            <a:ext cx="2047800" cy="2190900"/>
          </a:xfrm>
          <a:prstGeom prst="rect">
            <a:avLst/>
          </a:prstGeom>
          <a:solidFill>
            <a:srgbClr val="FFFFFF"/>
          </a:solidFill>
          <a:ln cap="flat" cmpd="sng" w="143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9" name="Google Shape;259;p11"/>
          <p:cNvSpPr/>
          <p:nvPr/>
        </p:nvSpPr>
        <p:spPr>
          <a:xfrm>
            <a:off x="2428875" y="952500"/>
            <a:ext cx="2047800" cy="47640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p11"/>
          <p:cNvSpPr/>
          <p:nvPr/>
        </p:nvSpPr>
        <p:spPr>
          <a:xfrm>
            <a:off x="2428875" y="1190625"/>
            <a:ext cx="2047800" cy="23820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p11"/>
          <p:cNvSpPr/>
          <p:nvPr/>
        </p:nvSpPr>
        <p:spPr>
          <a:xfrm>
            <a:off x="2428875" y="952500"/>
            <a:ext cx="20478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Stanford Cars</a:t>
            </a:r>
            <a:endParaRPr b="1" sz="15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11"/>
          <p:cNvSpPr/>
          <p:nvPr/>
        </p:nvSpPr>
        <p:spPr>
          <a:xfrm>
            <a:off x="2595563" y="1571625"/>
            <a:ext cx="1714500" cy="2859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3" name="Google Shape;263;p11"/>
          <p:cNvSpPr/>
          <p:nvPr/>
        </p:nvSpPr>
        <p:spPr>
          <a:xfrm>
            <a:off x="2595563" y="1571625"/>
            <a:ext cx="17145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Fine-grained</a:t>
            </a:r>
            <a:endParaRPr b="1" i="0" sz="1100" u="none" strike="noStrike">
              <a:solidFill>
                <a:srgbClr val="47556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11"/>
          <p:cNvSpPr/>
          <p:nvPr/>
        </p:nvSpPr>
        <p:spPr>
          <a:xfrm>
            <a:off x="2524125" y="2000250"/>
            <a:ext cx="1857300" cy="1047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Geometry-dominant</a:t>
            </a:r>
            <a:endParaRPr b="0" sz="1100">
              <a:solidFill>
                <a:srgbClr val="47556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Subtle class differences</a:t>
            </a:r>
            <a:endParaRPr b="0" sz="1100">
              <a:solidFill>
                <a:srgbClr val="47556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Varying camera angles</a:t>
            </a:r>
            <a:endParaRPr b="0" sz="1100">
              <a:solidFill>
                <a:srgbClr val="47556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11"/>
          <p:cNvSpPr/>
          <p:nvPr/>
        </p:nvSpPr>
        <p:spPr>
          <a:xfrm>
            <a:off x="4619625" y="952500"/>
            <a:ext cx="2047800" cy="2190900"/>
          </a:xfrm>
          <a:prstGeom prst="rect">
            <a:avLst/>
          </a:prstGeom>
          <a:solidFill>
            <a:srgbClr val="FFFFFF"/>
          </a:solidFill>
          <a:ln cap="flat" cmpd="sng" w="143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6" name="Google Shape;266;p11"/>
          <p:cNvSpPr/>
          <p:nvPr/>
        </p:nvSpPr>
        <p:spPr>
          <a:xfrm>
            <a:off x="4619625" y="952500"/>
            <a:ext cx="2047800" cy="47640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7" name="Google Shape;267;p11"/>
          <p:cNvSpPr/>
          <p:nvPr/>
        </p:nvSpPr>
        <p:spPr>
          <a:xfrm>
            <a:off x="4619625" y="1190625"/>
            <a:ext cx="2047800" cy="23820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8" name="Google Shape;268;p11"/>
          <p:cNvSpPr/>
          <p:nvPr/>
        </p:nvSpPr>
        <p:spPr>
          <a:xfrm>
            <a:off x="4619625" y="952500"/>
            <a:ext cx="20478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FGVC Aircraft</a:t>
            </a:r>
            <a:endParaRPr b="1" sz="15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11"/>
          <p:cNvSpPr/>
          <p:nvPr/>
        </p:nvSpPr>
        <p:spPr>
          <a:xfrm>
            <a:off x="4786313" y="1571625"/>
            <a:ext cx="1714500" cy="285900"/>
          </a:xfrm>
          <a:prstGeom prst="rect">
            <a:avLst/>
          </a:prstGeom>
          <a:solidFill>
            <a:srgbClr val="ECF8FB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0" name="Google Shape;270;p11"/>
          <p:cNvSpPr/>
          <p:nvPr/>
        </p:nvSpPr>
        <p:spPr>
          <a:xfrm>
            <a:off x="4786313" y="1571625"/>
            <a:ext cx="1714500" cy="2859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Structure-heavy</a:t>
            </a:r>
            <a:endParaRPr b="1" i="0" sz="1100" u="none" strike="noStrike">
              <a:solidFill>
                <a:srgbClr val="47556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11"/>
          <p:cNvSpPr/>
          <p:nvPr/>
        </p:nvSpPr>
        <p:spPr>
          <a:xfrm>
            <a:off x="4714875" y="2000250"/>
            <a:ext cx="1857300" cy="1047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Spatial features</a:t>
            </a:r>
            <a:endParaRPr b="0" sz="1100">
              <a:solidFill>
                <a:srgbClr val="47556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Strong shape priors</a:t>
            </a:r>
            <a:endParaRPr b="0" sz="1100">
              <a:solidFill>
                <a:srgbClr val="47556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Rigid object structure</a:t>
            </a:r>
            <a:endParaRPr b="0" sz="1100">
              <a:solidFill>
                <a:srgbClr val="47556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1"/>
          <p:cNvSpPr/>
          <p:nvPr/>
        </p:nvSpPr>
        <p:spPr>
          <a:xfrm>
            <a:off x="6810375" y="952500"/>
            <a:ext cx="2047800" cy="2190900"/>
          </a:xfrm>
          <a:prstGeom prst="rect">
            <a:avLst/>
          </a:prstGeom>
          <a:solidFill>
            <a:srgbClr val="FFFFFF"/>
          </a:solidFill>
          <a:ln cap="flat" cmpd="sng" w="23825">
            <a:solidFill>
              <a:srgbClr val="1A365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3" name="Google Shape;273;p11"/>
          <p:cNvSpPr/>
          <p:nvPr/>
        </p:nvSpPr>
        <p:spPr>
          <a:xfrm>
            <a:off x="6810375" y="952500"/>
            <a:ext cx="2047800" cy="47640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4" name="Google Shape;274;p11"/>
          <p:cNvSpPr/>
          <p:nvPr/>
        </p:nvSpPr>
        <p:spPr>
          <a:xfrm>
            <a:off x="6810375" y="1190625"/>
            <a:ext cx="2047800" cy="23820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p11"/>
          <p:cNvSpPr/>
          <p:nvPr/>
        </p:nvSpPr>
        <p:spPr>
          <a:xfrm>
            <a:off x="6810375" y="952500"/>
            <a:ext cx="20478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Oxford Flowers</a:t>
            </a:r>
            <a:endParaRPr b="1" sz="15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11"/>
          <p:cNvSpPr/>
          <p:nvPr/>
        </p:nvSpPr>
        <p:spPr>
          <a:xfrm>
            <a:off x="6977063" y="1571625"/>
            <a:ext cx="1714500" cy="2859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11"/>
          <p:cNvSpPr/>
          <p:nvPr/>
        </p:nvSpPr>
        <p:spPr>
          <a:xfrm>
            <a:off x="6977063" y="1571625"/>
            <a:ext cx="17145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1A365D"/>
                </a:solidFill>
                <a:latin typeface="Calibri"/>
                <a:ea typeface="Calibri"/>
                <a:cs typeface="Calibri"/>
                <a:sym typeface="Calibri"/>
              </a:rPr>
              <a:t>Balanced</a:t>
            </a:r>
            <a:endParaRPr b="1" i="0" sz="1100">
              <a:solidFill>
                <a:srgbClr val="1A365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11"/>
          <p:cNvSpPr/>
          <p:nvPr/>
        </p:nvSpPr>
        <p:spPr>
          <a:xfrm>
            <a:off x="6905625" y="2000250"/>
            <a:ext cx="1857300" cy="1047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Optimal for analysis</a:t>
            </a:r>
            <a:endParaRPr b="1" sz="110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Clean class boundaries</a:t>
            </a:r>
            <a:endParaRPr b="1" sz="110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Uniform lighting conditions</a:t>
            </a:r>
            <a:endParaRPr b="1" sz="110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4" name="Google Shape;284;p12"/>
          <p:cNvGrpSpPr/>
          <p:nvPr/>
        </p:nvGrpSpPr>
        <p:grpSpPr>
          <a:xfrm>
            <a:off x="0" y="0"/>
            <a:ext cx="9144000" cy="762000"/>
            <a:chOff x="0" y="0"/>
            <a:chExt cx="9144000" cy="762000"/>
          </a:xfrm>
        </p:grpSpPr>
        <p:sp>
          <p:nvSpPr>
            <p:cNvPr id="285" name="Google Shape;285;p12"/>
            <p:cNvSpPr/>
            <p:nvPr/>
          </p:nvSpPr>
          <p:spPr>
            <a:xfrm>
              <a:off x="0" y="0"/>
              <a:ext cx="9144000" cy="762000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6" name="Google Shape;286;p12"/>
            <p:cNvSpPr txBox="1"/>
            <p:nvPr/>
          </p:nvSpPr>
          <p:spPr>
            <a:xfrm>
              <a:off x="381000" y="0"/>
              <a:ext cx="83820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Dataset Selection &amp; Analysis</a:t>
              </a:r>
              <a:endParaRPr b="1" sz="2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87" name="Google Shape;287;p12"/>
          <p:cNvGrpSpPr/>
          <p:nvPr/>
        </p:nvGrpSpPr>
        <p:grpSpPr>
          <a:xfrm>
            <a:off x="381000" y="952500"/>
            <a:ext cx="8382000" cy="381000"/>
            <a:chOff x="381000" y="952500"/>
            <a:chExt cx="8382000" cy="381000"/>
          </a:xfrm>
        </p:grpSpPr>
        <p:sp>
          <p:nvSpPr>
            <p:cNvPr id="288" name="Google Shape;288;p12"/>
            <p:cNvSpPr/>
            <p:nvPr/>
          </p:nvSpPr>
          <p:spPr>
            <a:xfrm>
              <a:off x="381000" y="952500"/>
              <a:ext cx="8382000" cy="38100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9" name="Google Shape;289;p12"/>
            <p:cNvSpPr txBox="1"/>
            <p:nvPr/>
          </p:nvSpPr>
          <p:spPr>
            <a:xfrm>
              <a:off x="381000" y="952500"/>
              <a:ext cx="8382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142875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Oxford Flowers 102 — Visual Conditions</a:t>
              </a:r>
              <a:endParaRPr b="1" sz="16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290" name="Google Shape;290;p12"/>
          <p:cNvPicPr preferRelativeResize="0"/>
          <p:nvPr/>
        </p:nvPicPr>
        <p:blipFill rotWithShape="1">
          <a:blip r:embed="rId3"/>
          <a:stretch>
            <a:fillRect/>
          </a:stretch>
        </p:blipFill>
        <p:spPr>
          <a:xfrm>
            <a:off x="381000" y="1000000"/>
            <a:ext cx="8382000" cy="3500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91" name="Google Shape;291;p12"/>
          <p:cNvGrpSpPr/>
          <p:nvPr/>
        </p:nvGrpSpPr>
        <p:grpSpPr>
          <a:xfrm>
            <a:off x="0" y="4572000"/>
            <a:ext cx="9144000" cy="571500"/>
            <a:chOff x="0" y="4572000"/>
            <a:chExt cx="9144000" cy="571500"/>
          </a:xfrm>
        </p:grpSpPr>
        <p:sp>
          <p:nvSpPr>
            <p:cNvPr id="292" name="Google Shape;292;p12"/>
            <p:cNvSpPr/>
            <p:nvPr/>
          </p:nvSpPr>
          <p:spPr>
            <a:xfrm>
              <a:off x="0" y="4572000"/>
              <a:ext cx="9144000" cy="571500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3" name="Google Shape;293;p12"/>
            <p:cNvSpPr txBox="1"/>
            <p:nvPr/>
          </p:nvSpPr>
          <p:spPr>
            <a:xfrm>
              <a:off x="381000" y="4572000"/>
              <a:ext cx="8382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Clean class boundaries • Uniform lighting conditions • Highly balanced distribution</a:t>
              </a:r>
              <a:endParaRPr b="0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13"/>
          <p:cNvSpPr/>
          <p:nvPr/>
        </p:nvSpPr>
        <p:spPr>
          <a:xfrm>
            <a:off x="0" y="0"/>
            <a:ext cx="9144000" cy="667512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kle_logo_final.png" id="300" name="Google Shape;300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667512" cy="667512"/>
          </a:xfrm>
          <a:prstGeom prst="rect">
            <a:avLst/>
          </a:prstGeom>
          <a:noFill/>
          <a:ln>
            <a:noFill/>
          </a:ln>
        </p:spPr>
      </p:pic>
      <p:sp>
        <p:nvSpPr>
          <p:cNvPr id="301" name="Google Shape;301;p13"/>
          <p:cNvSpPr/>
          <p:nvPr/>
        </p:nvSpPr>
        <p:spPr>
          <a:xfrm>
            <a:off x="667512" y="0"/>
            <a:ext cx="8476488" cy="6675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Model Architecture: ResNet-18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13"/>
          <p:cNvSpPr/>
          <p:nvPr/>
        </p:nvSpPr>
        <p:spPr>
          <a:xfrm>
            <a:off x="274320" y="804672"/>
            <a:ext cx="4114800" cy="384048"/>
          </a:xfrm>
          <a:prstGeom prst="rect">
            <a:avLst/>
          </a:prstGeom>
          <a:solidFill>
            <a:srgbClr val="1A365D"/>
          </a:solidFill>
          <a:ln cap="flat" cmpd="sng" w="12700">
            <a:solidFill>
              <a:srgbClr val="1A365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13"/>
          <p:cNvSpPr/>
          <p:nvPr/>
        </p:nvSpPr>
        <p:spPr>
          <a:xfrm>
            <a:off x="274320" y="804672"/>
            <a:ext cx="41148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152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Why ResNet-18?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13"/>
          <p:cNvSpPr/>
          <p:nvPr/>
        </p:nvSpPr>
        <p:spPr>
          <a:xfrm>
            <a:off x="320040" y="1344168"/>
            <a:ext cx="164592" cy="164592"/>
          </a:xfrm>
          <a:prstGeom prst="ellipse">
            <a:avLst/>
          </a:prstGeom>
          <a:solidFill>
            <a:srgbClr val="1A365D"/>
          </a:solidFill>
          <a:ln cap="flat" cmpd="sng" w="12700">
            <a:solidFill>
              <a:srgbClr val="1A365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5" name="Google Shape;305;p13"/>
          <p:cNvSpPr/>
          <p:nvPr/>
        </p:nvSpPr>
        <p:spPr>
          <a:xfrm>
            <a:off x="594360" y="1298448"/>
            <a:ext cx="3657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22222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222222"/>
                </a:solidFill>
                <a:latin typeface="Calibri"/>
                <a:ea typeface="Calibri"/>
                <a:cs typeface="Calibri"/>
                <a:sym typeface="Calibri"/>
              </a:rPr>
              <a:t>Residual connections: y = F(x) + x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13"/>
          <p:cNvSpPr/>
          <p:nvPr/>
        </p:nvSpPr>
        <p:spPr>
          <a:xfrm>
            <a:off x="320040" y="1965960"/>
            <a:ext cx="164592" cy="164592"/>
          </a:xfrm>
          <a:prstGeom prst="ellipse">
            <a:avLst/>
          </a:prstGeom>
          <a:solidFill>
            <a:srgbClr val="1A365D"/>
          </a:solidFill>
          <a:ln cap="flat" cmpd="sng" w="12700">
            <a:solidFill>
              <a:srgbClr val="1A365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" name="Google Shape;307;p13"/>
          <p:cNvSpPr/>
          <p:nvPr/>
        </p:nvSpPr>
        <p:spPr>
          <a:xfrm>
            <a:off x="594360" y="1920240"/>
            <a:ext cx="3657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22222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222222"/>
                </a:solidFill>
                <a:latin typeface="Calibri"/>
                <a:ea typeface="Calibri"/>
                <a:cs typeface="Calibri"/>
                <a:sym typeface="Calibri"/>
              </a:rPr>
              <a:t>Prevents vanishing gradient problem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13"/>
          <p:cNvSpPr/>
          <p:nvPr/>
        </p:nvSpPr>
        <p:spPr>
          <a:xfrm>
            <a:off x="320040" y="2587752"/>
            <a:ext cx="164592" cy="164592"/>
          </a:xfrm>
          <a:prstGeom prst="ellipse">
            <a:avLst/>
          </a:prstGeom>
          <a:solidFill>
            <a:srgbClr val="1A365D"/>
          </a:solidFill>
          <a:ln cap="flat" cmpd="sng" w="12700">
            <a:solidFill>
              <a:srgbClr val="1A365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9" name="Google Shape;309;p13"/>
          <p:cNvSpPr/>
          <p:nvPr/>
        </p:nvSpPr>
        <p:spPr>
          <a:xfrm>
            <a:off x="594360" y="2542032"/>
            <a:ext cx="3657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22222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222222"/>
                </a:solidFill>
                <a:latin typeface="Calibri"/>
                <a:ea typeface="Calibri"/>
                <a:cs typeface="Calibri"/>
                <a:sym typeface="Calibri"/>
              </a:rPr>
              <a:t>Preserves feature information flow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13"/>
          <p:cNvSpPr/>
          <p:nvPr/>
        </p:nvSpPr>
        <p:spPr>
          <a:xfrm>
            <a:off x="320040" y="3209544"/>
            <a:ext cx="164592" cy="164592"/>
          </a:xfrm>
          <a:prstGeom prst="ellipse">
            <a:avLst/>
          </a:prstGeom>
          <a:solidFill>
            <a:srgbClr val="1A365D"/>
          </a:solidFill>
          <a:ln cap="flat" cmpd="sng" w="12700">
            <a:solidFill>
              <a:srgbClr val="1A365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1" name="Google Shape;311;p13"/>
          <p:cNvSpPr/>
          <p:nvPr/>
        </p:nvSpPr>
        <p:spPr>
          <a:xfrm>
            <a:off x="594360" y="3163824"/>
            <a:ext cx="3657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22222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222222"/>
                </a:solidFill>
                <a:latin typeface="Calibri"/>
                <a:ea typeface="Calibri"/>
                <a:cs typeface="Calibri"/>
                <a:sym typeface="Calibri"/>
              </a:rPr>
              <a:t>Enables stable feature propagation across layers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13"/>
          <p:cNvSpPr/>
          <p:nvPr/>
        </p:nvSpPr>
        <p:spPr>
          <a:xfrm>
            <a:off x="4663440" y="804672"/>
            <a:ext cx="4206240" cy="384048"/>
          </a:xfrm>
          <a:prstGeom prst="rect">
            <a:avLst/>
          </a:prstGeom>
          <a:solidFill>
            <a:srgbClr val="0D6B8C"/>
          </a:solidFill>
          <a:ln cap="flat" cmpd="sng" w="12700">
            <a:solidFill>
              <a:srgbClr val="0D6B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p13"/>
          <p:cNvSpPr/>
          <p:nvPr/>
        </p:nvSpPr>
        <p:spPr>
          <a:xfrm>
            <a:off x="4663440" y="804672"/>
            <a:ext cx="42062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127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Comparison with Other Architectures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14" name="Google Shape;314;p13"/>
          <p:cNvGraphicFramePr/>
          <p:nvPr/>
        </p:nvGraphicFramePr>
        <p:xfrm>
          <a:off x="4663440" y="1261872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{67996F48-4C62-4C66-BBC9-E9579EBA44FE}</a:tableStyleId>
              </a:tblPr>
              <a:tblGrid>
                <a:gridCol w="2103125"/>
                <a:gridCol w="2103125"/>
              </a:tblGrid>
              <a:tr h="4755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Architecture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Limitation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A365D"/>
                    </a:solidFill>
                  </a:tcPr>
                </a:tc>
              </a:tr>
              <a:tr h="475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VGG-16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 residual connections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75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AlexNet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Limited depth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75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DenseNet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Complex connections, high memory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5" name="Google Shape;315;p13"/>
          <p:cNvSpPr/>
          <p:nvPr/>
        </p:nvSpPr>
        <p:spPr>
          <a:xfrm>
            <a:off x="274320" y="3456432"/>
            <a:ext cx="8595360" cy="914400"/>
          </a:xfrm>
          <a:prstGeom prst="rect">
            <a:avLst/>
          </a:prstGeom>
          <a:solidFill>
            <a:srgbClr val="EEF2F7"/>
          </a:solidFill>
          <a:ln cap="flat" cmpd="sng" w="12700">
            <a:solidFill>
              <a:srgbClr val="1A365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6" name="Google Shape;316;p13"/>
          <p:cNvSpPr/>
          <p:nvPr/>
        </p:nvSpPr>
        <p:spPr>
          <a:xfrm>
            <a:off x="411480" y="3456432"/>
            <a:ext cx="83210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1250"/>
              <a:buFont typeface="Calibri"/>
              <a:buNone/>
            </a:pPr>
            <a:r>
              <a:rPr b="0" i="1" lang="en-US" sz="1250" u="none" cap="none" strike="noStrike">
                <a:solidFill>
                  <a:srgbClr val="1A365D"/>
                </a:solidFill>
                <a:latin typeface="Calibri"/>
                <a:ea typeface="Calibri"/>
                <a:cs typeface="Calibri"/>
                <a:sym typeface="Calibri"/>
              </a:rPr>
              <a:t>ResNet-18 is chosen for its balance of depth, interpretability, and stable feature propagation — making it ideal for systematic layer-wise feature analysis research.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14"/>
          <p:cNvSpPr/>
          <p:nvPr/>
        </p:nvSpPr>
        <p:spPr>
          <a:xfrm>
            <a:off x="0" y="0"/>
            <a:ext cx="9144000" cy="6669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3" name="Google Shape;323;p14"/>
          <p:cNvPicPr preferRelativeResize="0"/>
          <p:nvPr/>
        </p:nvPicPr>
        <p:blipFill rotWithShape="1">
          <a:blip r:embed="rId4">
            <a:alphaModFix/>
          </a:blip>
          <a:srcRect b="0" l="11271" r="11263" t="0"/>
          <a:stretch/>
        </p:blipFill>
        <p:spPr>
          <a:xfrm>
            <a:off x="142875" y="95250"/>
            <a:ext cx="476400" cy="476400"/>
          </a:xfrm>
          <a:prstGeom prst="rect">
            <a:avLst/>
          </a:prstGeom>
          <a:noFill/>
          <a:ln>
            <a:noFill/>
          </a:ln>
        </p:spPr>
      </p:pic>
      <p:sp>
        <p:nvSpPr>
          <p:cNvPr id="324" name="Google Shape;324;p14"/>
          <p:cNvSpPr/>
          <p:nvPr/>
        </p:nvSpPr>
        <p:spPr>
          <a:xfrm>
            <a:off x="762000" y="0"/>
            <a:ext cx="8382000" cy="666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Proposed Solution Framework</a:t>
            </a:r>
            <a:endParaRPr b="1" sz="2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14"/>
          <p:cNvSpPr/>
          <p:nvPr/>
        </p:nvSpPr>
        <p:spPr>
          <a:xfrm>
            <a:off x="285750" y="809625"/>
            <a:ext cx="8572500" cy="381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Research Methodology &amp; Workflow</a:t>
            </a:r>
            <a:endParaRPr b="1" sz="16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14"/>
          <p:cNvSpPr/>
          <p:nvPr/>
        </p:nvSpPr>
        <p:spPr>
          <a:xfrm>
            <a:off x="190500" y="1285875"/>
            <a:ext cx="1666800" cy="3238500"/>
          </a:xfrm>
          <a:prstGeom prst="roundRect">
            <a:avLst>
              <a:gd fmla="val 5714" name="adj"/>
            </a:avLst>
          </a:prstGeom>
          <a:solidFill>
            <a:srgbClr val="FFFFFF"/>
          </a:solidFill>
          <a:ln cap="flat" cmpd="sng" w="143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7" name="Google Shape;327;p14"/>
          <p:cNvSpPr/>
          <p:nvPr/>
        </p:nvSpPr>
        <p:spPr>
          <a:xfrm>
            <a:off x="190500" y="1285875"/>
            <a:ext cx="1666800" cy="428700"/>
          </a:xfrm>
          <a:prstGeom prst="roundRect">
            <a:avLst>
              <a:gd fmla="val 22216" name="adj"/>
            </a:avLst>
          </a:prstGeom>
          <a:solidFill>
            <a:srgbClr val="0000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8" name="Google Shape;328;p14"/>
          <p:cNvSpPr/>
          <p:nvPr/>
        </p:nvSpPr>
        <p:spPr>
          <a:xfrm>
            <a:off x="852488" y="1328738"/>
            <a:ext cx="342900" cy="3429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9" name="Google Shape;329;p14"/>
          <p:cNvSpPr/>
          <p:nvPr/>
        </p:nvSpPr>
        <p:spPr>
          <a:xfrm>
            <a:off x="852488" y="1328738"/>
            <a:ext cx="342900" cy="342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1" sz="16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14"/>
          <p:cNvSpPr/>
          <p:nvPr/>
        </p:nvSpPr>
        <p:spPr>
          <a:xfrm>
            <a:off x="285750" y="1762125"/>
            <a:ext cx="1476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Feature Extraction</a:t>
            </a:r>
            <a:endParaRPr b="1" sz="11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14"/>
          <p:cNvSpPr/>
          <p:nvPr/>
        </p:nvSpPr>
        <p:spPr>
          <a:xfrm>
            <a:off x="285750" y="2333625"/>
            <a:ext cx="1476300" cy="1905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952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444444"/>
                </a:solidFill>
                <a:latin typeface="Calibri"/>
                <a:ea typeface="Calibri"/>
                <a:cs typeface="Calibri"/>
                <a:sym typeface="Calibri"/>
              </a:rPr>
              <a:t>Use ResNet-18 pretrained on ImageNet as the analysis backbone</a:t>
            </a:r>
            <a:endParaRPr b="0" sz="1200">
              <a:solidFill>
                <a:srgbClr val="44444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14"/>
          <p:cNvSpPr/>
          <p:nvPr/>
        </p:nvSpPr>
        <p:spPr>
          <a:xfrm>
            <a:off x="1971675" y="1285875"/>
            <a:ext cx="1666800" cy="3238500"/>
          </a:xfrm>
          <a:prstGeom prst="roundRect">
            <a:avLst>
              <a:gd fmla="val 5714" name="adj"/>
            </a:avLst>
          </a:prstGeom>
          <a:solidFill>
            <a:srgbClr val="FFFFFF"/>
          </a:solidFill>
          <a:ln cap="flat" cmpd="sng" w="143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3" name="Google Shape;333;p14"/>
          <p:cNvSpPr/>
          <p:nvPr/>
        </p:nvSpPr>
        <p:spPr>
          <a:xfrm>
            <a:off x="1971675" y="1285875"/>
            <a:ext cx="1666800" cy="428700"/>
          </a:xfrm>
          <a:prstGeom prst="roundRect">
            <a:avLst>
              <a:gd fmla="val 22216" name="adj"/>
            </a:avLst>
          </a:prstGeom>
          <a:solidFill>
            <a:srgbClr val="0000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4" name="Google Shape;334;p14"/>
          <p:cNvSpPr/>
          <p:nvPr/>
        </p:nvSpPr>
        <p:spPr>
          <a:xfrm>
            <a:off x="2633663" y="1328738"/>
            <a:ext cx="342900" cy="3429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5" name="Google Shape;335;p14"/>
          <p:cNvSpPr/>
          <p:nvPr/>
        </p:nvSpPr>
        <p:spPr>
          <a:xfrm>
            <a:off x="2633663" y="1328738"/>
            <a:ext cx="342900" cy="342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1" sz="16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4"/>
          <p:cNvSpPr/>
          <p:nvPr/>
        </p:nvSpPr>
        <p:spPr>
          <a:xfrm>
            <a:off x="2066925" y="1762125"/>
            <a:ext cx="1476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Layer-wise Statistical Analysis</a:t>
            </a:r>
            <a:endParaRPr b="1" sz="11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14"/>
          <p:cNvSpPr/>
          <p:nvPr/>
        </p:nvSpPr>
        <p:spPr>
          <a:xfrm>
            <a:off x="2066925" y="2333625"/>
            <a:ext cx="1476300" cy="1905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952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444444"/>
                </a:solidFill>
                <a:latin typeface="Calibri"/>
                <a:ea typeface="Calibri"/>
                <a:cs typeface="Calibri"/>
                <a:sym typeface="Calibri"/>
              </a:rPr>
              <a:t>Compute mean activation per layer, variance and sparsity</a:t>
            </a:r>
            <a:endParaRPr b="0" sz="1200">
              <a:solidFill>
                <a:srgbClr val="44444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14"/>
          <p:cNvSpPr/>
          <p:nvPr/>
        </p:nvSpPr>
        <p:spPr>
          <a:xfrm>
            <a:off x="3752850" y="1285875"/>
            <a:ext cx="1666800" cy="3238500"/>
          </a:xfrm>
          <a:prstGeom prst="roundRect">
            <a:avLst>
              <a:gd fmla="val 5714" name="adj"/>
            </a:avLst>
          </a:prstGeom>
          <a:solidFill>
            <a:srgbClr val="FFFFFF"/>
          </a:solidFill>
          <a:ln cap="flat" cmpd="sng" w="143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14"/>
          <p:cNvSpPr/>
          <p:nvPr/>
        </p:nvSpPr>
        <p:spPr>
          <a:xfrm>
            <a:off x="3752850" y="1285875"/>
            <a:ext cx="1666800" cy="428700"/>
          </a:xfrm>
          <a:prstGeom prst="roundRect">
            <a:avLst>
              <a:gd fmla="val 22216" name="adj"/>
            </a:avLst>
          </a:prstGeom>
          <a:solidFill>
            <a:srgbClr val="0000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0" name="Google Shape;340;p14"/>
          <p:cNvSpPr/>
          <p:nvPr/>
        </p:nvSpPr>
        <p:spPr>
          <a:xfrm>
            <a:off x="4414838" y="1328738"/>
            <a:ext cx="342900" cy="3429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1" name="Google Shape;341;p14"/>
          <p:cNvSpPr/>
          <p:nvPr/>
        </p:nvSpPr>
        <p:spPr>
          <a:xfrm>
            <a:off x="4414838" y="1328738"/>
            <a:ext cx="342900" cy="342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1" sz="16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14"/>
          <p:cNvSpPr/>
          <p:nvPr/>
        </p:nvSpPr>
        <p:spPr>
          <a:xfrm>
            <a:off x="3848100" y="1762125"/>
            <a:ext cx="1476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Representation Geometry</a:t>
            </a:r>
            <a:endParaRPr b="1" sz="11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14"/>
          <p:cNvSpPr/>
          <p:nvPr/>
        </p:nvSpPr>
        <p:spPr>
          <a:xfrm>
            <a:off x="3848100" y="2333625"/>
            <a:ext cx="1476300" cy="1905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952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444444"/>
                </a:solidFill>
                <a:latin typeface="Calibri"/>
                <a:ea typeface="Calibri"/>
                <a:cs typeface="Calibri"/>
                <a:sym typeface="Calibri"/>
              </a:rPr>
              <a:t>Reduce dimensionality of per-image features. Analyse neural collapse trends</a:t>
            </a:r>
            <a:endParaRPr b="0" sz="1200">
              <a:solidFill>
                <a:srgbClr val="44444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14"/>
          <p:cNvSpPr/>
          <p:nvPr/>
        </p:nvSpPr>
        <p:spPr>
          <a:xfrm>
            <a:off x="5534025" y="1285875"/>
            <a:ext cx="1666800" cy="3238500"/>
          </a:xfrm>
          <a:prstGeom prst="roundRect">
            <a:avLst>
              <a:gd fmla="val 5714" name="adj"/>
            </a:avLst>
          </a:prstGeom>
          <a:solidFill>
            <a:srgbClr val="FFFFFF"/>
          </a:solidFill>
          <a:ln cap="flat" cmpd="sng" w="143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5" name="Google Shape;345;p14"/>
          <p:cNvSpPr/>
          <p:nvPr/>
        </p:nvSpPr>
        <p:spPr>
          <a:xfrm>
            <a:off x="5534025" y="1285875"/>
            <a:ext cx="1666800" cy="428700"/>
          </a:xfrm>
          <a:prstGeom prst="roundRect">
            <a:avLst>
              <a:gd fmla="val 22216" name="adj"/>
            </a:avLst>
          </a:prstGeom>
          <a:solidFill>
            <a:srgbClr val="0000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14"/>
          <p:cNvSpPr/>
          <p:nvPr/>
        </p:nvSpPr>
        <p:spPr>
          <a:xfrm>
            <a:off x="6196013" y="1328738"/>
            <a:ext cx="342900" cy="3429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7" name="Google Shape;347;p14"/>
          <p:cNvSpPr/>
          <p:nvPr/>
        </p:nvSpPr>
        <p:spPr>
          <a:xfrm>
            <a:off x="6196013" y="1328738"/>
            <a:ext cx="342900" cy="342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1" sz="16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14"/>
          <p:cNvSpPr/>
          <p:nvPr/>
        </p:nvSpPr>
        <p:spPr>
          <a:xfrm>
            <a:off x="5629275" y="1762125"/>
            <a:ext cx="1476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Cross-Dataset Comparison</a:t>
            </a:r>
            <a:endParaRPr b="1" sz="11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14"/>
          <p:cNvSpPr/>
          <p:nvPr/>
        </p:nvSpPr>
        <p:spPr>
          <a:xfrm>
            <a:off x="5629275" y="2333625"/>
            <a:ext cx="1476300" cy="1905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952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444444"/>
                </a:solidFill>
                <a:latin typeface="Calibri"/>
                <a:ea typeface="Calibri"/>
                <a:cs typeface="Calibri"/>
                <a:sym typeface="Calibri"/>
              </a:rPr>
              <a:t>Repeat for Oxford Flowers 102, Food-101, Stanford Cars, FGVC Aircraft</a:t>
            </a:r>
            <a:endParaRPr b="0" sz="1200">
              <a:solidFill>
                <a:srgbClr val="44444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14"/>
          <p:cNvSpPr/>
          <p:nvPr/>
        </p:nvSpPr>
        <p:spPr>
          <a:xfrm>
            <a:off x="7315200" y="1285875"/>
            <a:ext cx="1666800" cy="3238500"/>
          </a:xfrm>
          <a:prstGeom prst="roundRect">
            <a:avLst>
              <a:gd fmla="val 5714" name="adj"/>
            </a:avLst>
          </a:prstGeom>
          <a:solidFill>
            <a:srgbClr val="FFFFFF"/>
          </a:solidFill>
          <a:ln cap="flat" cmpd="sng" w="143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1" name="Google Shape;351;p14"/>
          <p:cNvSpPr/>
          <p:nvPr/>
        </p:nvSpPr>
        <p:spPr>
          <a:xfrm>
            <a:off x="7315200" y="1285875"/>
            <a:ext cx="1666800" cy="428700"/>
          </a:xfrm>
          <a:prstGeom prst="roundRect">
            <a:avLst>
              <a:gd fmla="val 22216" name="adj"/>
            </a:avLst>
          </a:prstGeom>
          <a:solidFill>
            <a:srgbClr val="0000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14"/>
          <p:cNvSpPr/>
          <p:nvPr/>
        </p:nvSpPr>
        <p:spPr>
          <a:xfrm>
            <a:off x="7977188" y="1328738"/>
            <a:ext cx="342900" cy="3429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3" name="Google Shape;353;p14"/>
          <p:cNvSpPr/>
          <p:nvPr/>
        </p:nvSpPr>
        <p:spPr>
          <a:xfrm>
            <a:off x="7977188" y="1328738"/>
            <a:ext cx="342900" cy="342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1" sz="16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14"/>
          <p:cNvSpPr/>
          <p:nvPr/>
        </p:nvSpPr>
        <p:spPr>
          <a:xfrm>
            <a:off x="7410450" y="1762125"/>
            <a:ext cx="1476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Insights &amp; Interpretability</a:t>
            </a:r>
            <a:endParaRPr b="1" sz="11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14"/>
          <p:cNvSpPr/>
          <p:nvPr/>
        </p:nvSpPr>
        <p:spPr>
          <a:xfrm>
            <a:off x="7410450" y="2333625"/>
            <a:ext cx="1476300" cy="1905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952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444444"/>
                </a:solidFill>
                <a:latin typeface="Calibri"/>
                <a:ea typeface="Calibri"/>
                <a:cs typeface="Calibri"/>
                <a:sym typeface="Calibri"/>
              </a:rPr>
              <a:t>Generate heatmaps, visualize feature maps, and motivate design choices</a:t>
            </a:r>
            <a:endParaRPr b="0" sz="1200">
              <a:solidFill>
                <a:srgbClr val="44444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15"/>
          <p:cNvSpPr/>
          <p:nvPr/>
        </p:nvSpPr>
        <p:spPr>
          <a:xfrm>
            <a:off x="0" y="0"/>
            <a:ext cx="9144000" cy="667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kle_logo_final.png" id="362" name="Google Shape;362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667512" cy="667512"/>
          </a:xfrm>
          <a:prstGeom prst="rect">
            <a:avLst/>
          </a:prstGeom>
          <a:noFill/>
          <a:ln>
            <a:noFill/>
          </a:ln>
        </p:spPr>
      </p:pic>
      <p:sp>
        <p:nvSpPr>
          <p:cNvPr id="363" name="Google Shape;363;p15"/>
          <p:cNvSpPr/>
          <p:nvPr/>
        </p:nvSpPr>
        <p:spPr>
          <a:xfrm>
            <a:off x="667512" y="0"/>
            <a:ext cx="8476500" cy="667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Experiments &amp; Expected Results</a:t>
            </a:r>
            <a:endParaRPr b="1" sz="24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15"/>
          <p:cNvSpPr/>
          <p:nvPr/>
        </p:nvSpPr>
        <p:spPr>
          <a:xfrm>
            <a:off x="274320" y="1047750"/>
            <a:ext cx="8595300" cy="19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5" name="Google Shape;365;p15"/>
          <p:cNvSpPr/>
          <p:nvPr/>
        </p:nvSpPr>
        <p:spPr>
          <a:xfrm>
            <a:off x="274320" y="762000"/>
            <a:ext cx="85953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Feature Evolution Across Layers</a:t>
            </a:r>
            <a:endParaRPr b="1" sz="14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15"/>
          <p:cNvSpPr/>
          <p:nvPr/>
        </p:nvSpPr>
        <p:spPr>
          <a:xfrm>
            <a:off x="274320" y="1190625"/>
            <a:ext cx="2667000" cy="857400"/>
          </a:xfrm>
          <a:prstGeom prst="rect">
            <a:avLst/>
          </a:prstGeom>
          <a:solidFill>
            <a:srgbClr val="FFFFFF"/>
          </a:solidFill>
          <a:ln cap="flat" cmpd="sng" w="143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7" name="Google Shape;367;p15"/>
          <p:cNvSpPr/>
          <p:nvPr/>
        </p:nvSpPr>
        <p:spPr>
          <a:xfrm>
            <a:off x="274320" y="1190625"/>
            <a:ext cx="2667000" cy="2859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8" name="Google Shape;368;p15"/>
          <p:cNvSpPr/>
          <p:nvPr/>
        </p:nvSpPr>
        <p:spPr>
          <a:xfrm>
            <a:off x="274320" y="1190625"/>
            <a:ext cx="26670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Early Layers</a:t>
            </a:r>
            <a:endParaRPr b="1" sz="11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15"/>
          <p:cNvSpPr/>
          <p:nvPr/>
        </p:nvSpPr>
        <p:spPr>
          <a:xfrm>
            <a:off x="369570" y="1476375"/>
            <a:ext cx="24765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Detect edges &amp; simple patterns</a:t>
            </a:r>
            <a:endParaRPr b="0" sz="110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15"/>
          <p:cNvSpPr/>
          <p:nvPr/>
        </p:nvSpPr>
        <p:spPr>
          <a:xfrm>
            <a:off x="3238500" y="1190625"/>
            <a:ext cx="2667000" cy="857400"/>
          </a:xfrm>
          <a:prstGeom prst="rect">
            <a:avLst/>
          </a:prstGeom>
          <a:solidFill>
            <a:srgbClr val="FFFFFF"/>
          </a:solidFill>
          <a:ln cap="flat" cmpd="sng" w="143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1" name="Google Shape;371;p15"/>
          <p:cNvSpPr/>
          <p:nvPr/>
        </p:nvSpPr>
        <p:spPr>
          <a:xfrm>
            <a:off x="3238500" y="1190625"/>
            <a:ext cx="2667000" cy="2859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2" name="Google Shape;372;p15"/>
          <p:cNvSpPr/>
          <p:nvPr/>
        </p:nvSpPr>
        <p:spPr>
          <a:xfrm>
            <a:off x="3238500" y="1190625"/>
            <a:ext cx="26670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Mid Layers</a:t>
            </a:r>
            <a:endParaRPr b="1" sz="11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15"/>
          <p:cNvSpPr/>
          <p:nvPr/>
        </p:nvSpPr>
        <p:spPr>
          <a:xfrm>
            <a:off x="3333750" y="1476375"/>
            <a:ext cx="24765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Capture textures &amp; colour gradients</a:t>
            </a:r>
            <a:endParaRPr b="0" sz="110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15"/>
          <p:cNvSpPr/>
          <p:nvPr/>
        </p:nvSpPr>
        <p:spPr>
          <a:xfrm>
            <a:off x="6202680" y="1190625"/>
            <a:ext cx="2667000" cy="857400"/>
          </a:xfrm>
          <a:prstGeom prst="rect">
            <a:avLst/>
          </a:prstGeom>
          <a:solidFill>
            <a:srgbClr val="FFFFFF"/>
          </a:solidFill>
          <a:ln cap="flat" cmpd="sng" w="143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5" name="Google Shape;375;p15"/>
          <p:cNvSpPr/>
          <p:nvPr/>
        </p:nvSpPr>
        <p:spPr>
          <a:xfrm>
            <a:off x="6202680" y="1190625"/>
            <a:ext cx="2667000" cy="2859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6" name="Google Shape;376;p15"/>
          <p:cNvSpPr/>
          <p:nvPr/>
        </p:nvSpPr>
        <p:spPr>
          <a:xfrm>
            <a:off x="6202680" y="1190625"/>
            <a:ext cx="26670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Deep Layers</a:t>
            </a:r>
            <a:endParaRPr b="1" sz="11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15"/>
          <p:cNvSpPr/>
          <p:nvPr/>
        </p:nvSpPr>
        <p:spPr>
          <a:xfrm>
            <a:off x="6297930" y="1476375"/>
            <a:ext cx="24765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Learn semantic representations</a:t>
            </a:r>
            <a:endParaRPr b="0" sz="110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5"/>
          <p:cNvSpPr/>
          <p:nvPr/>
        </p:nvSpPr>
        <p:spPr>
          <a:xfrm>
            <a:off x="274320" y="2571750"/>
            <a:ext cx="8595300" cy="19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9" name="Google Shape;379;p15"/>
          <p:cNvSpPr/>
          <p:nvPr/>
        </p:nvSpPr>
        <p:spPr>
          <a:xfrm>
            <a:off x="274320" y="2286000"/>
            <a:ext cx="85953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Dataset Dependency</a:t>
            </a:r>
            <a:endParaRPr b="1" sz="14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15"/>
          <p:cNvSpPr/>
          <p:nvPr/>
        </p:nvSpPr>
        <p:spPr>
          <a:xfrm>
            <a:off x="274320" y="2762250"/>
            <a:ext cx="95400" cy="4764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1" name="Google Shape;381;p15"/>
          <p:cNvSpPr/>
          <p:nvPr/>
        </p:nvSpPr>
        <p:spPr>
          <a:xfrm>
            <a:off x="464820" y="2762250"/>
            <a:ext cx="13716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Food-101:</a:t>
            </a:r>
            <a:endParaRPr b="1"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15"/>
          <p:cNvSpPr/>
          <p:nvPr/>
        </p:nvSpPr>
        <p:spPr>
          <a:xfrm>
            <a:off x="1836420" y="2762250"/>
            <a:ext cx="69534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Strong early-layer response (texture features)</a:t>
            </a:r>
            <a:endParaRPr b="0" sz="120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15"/>
          <p:cNvSpPr/>
          <p:nvPr/>
        </p:nvSpPr>
        <p:spPr>
          <a:xfrm>
            <a:off x="274320" y="3333750"/>
            <a:ext cx="95400" cy="47640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4" name="Google Shape;384;p15"/>
          <p:cNvSpPr/>
          <p:nvPr/>
        </p:nvSpPr>
        <p:spPr>
          <a:xfrm>
            <a:off x="464820" y="3333750"/>
            <a:ext cx="13716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Stanford Cars:</a:t>
            </a:r>
            <a:endParaRPr b="1" sz="1200">
              <a:solidFill>
                <a:srgbClr val="66666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15"/>
          <p:cNvSpPr/>
          <p:nvPr/>
        </p:nvSpPr>
        <p:spPr>
          <a:xfrm>
            <a:off x="1836420" y="3333750"/>
            <a:ext cx="69534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Deep-layer dependence (fine-grained geometry)</a:t>
            </a:r>
            <a:endParaRPr b="0" sz="120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15"/>
          <p:cNvSpPr/>
          <p:nvPr/>
        </p:nvSpPr>
        <p:spPr>
          <a:xfrm>
            <a:off x="274320" y="3905250"/>
            <a:ext cx="95400" cy="47640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7" name="Google Shape;387;p15"/>
          <p:cNvSpPr/>
          <p:nvPr/>
        </p:nvSpPr>
        <p:spPr>
          <a:xfrm>
            <a:off x="464820" y="3905250"/>
            <a:ext cx="13716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999999"/>
                </a:solidFill>
                <a:latin typeface="Calibri"/>
                <a:ea typeface="Calibri"/>
                <a:cs typeface="Calibri"/>
                <a:sym typeface="Calibri"/>
              </a:rPr>
              <a:t>Oxford Flowers:</a:t>
            </a:r>
            <a:endParaRPr b="1" sz="1200">
              <a:solidFill>
                <a:srgbClr val="99999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15"/>
          <p:cNvSpPr/>
          <p:nvPr/>
        </p:nvSpPr>
        <p:spPr>
          <a:xfrm>
            <a:off x="1836420" y="3905250"/>
            <a:ext cx="69534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Balanced activation across all layers</a:t>
            </a:r>
            <a:endParaRPr b="0" sz="120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5"/>
          <p:cNvSpPr/>
          <p:nvPr/>
        </p:nvSpPr>
        <p:spPr>
          <a:xfrm>
            <a:off x="0" y="0"/>
            <a:ext cx="9144000" cy="667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kle_logo_final.png" id="58" name="Google Shape;58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667512" cy="667512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5"/>
          <p:cNvSpPr/>
          <p:nvPr/>
        </p:nvSpPr>
        <p:spPr>
          <a:xfrm>
            <a:off x="667512" y="0"/>
            <a:ext cx="84765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t>Results: Training &amp; Validation Accuracy (100 Epochs)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0" name="Picture 59" descr="loss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3931920" cy="2743200"/>
          </a:xfrm>
          <a:prstGeom prst="rect">
            <a:avLst/>
          </a:prstGeom>
        </p:spPr>
      </p:pic>
      <p:pic>
        <p:nvPicPr>
          <p:cNvPr id="61" name="Picture 60" descr="accuracy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188720"/>
            <a:ext cx="3931920" cy="2743200"/>
          </a:xfrm>
          <a:prstGeom prst="rect">
            <a:avLst/>
          </a:prstGeom>
        </p:spPr>
      </p:pic>
      <p:sp>
        <p:nvSpPr>
          <p:cNvPr id="62" name="Rounded Rectangle 61"/>
          <p:cNvSpPr/>
          <p:nvPr/>
        </p:nvSpPr>
        <p:spPr>
          <a:xfrm>
            <a:off x="457200" y="4114800"/>
            <a:ext cx="8229600" cy="868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200">
                <a:solidFill>
                  <a:srgbClr val="0F172A"/>
                </a:solidFill>
              </a:defRPr>
            </a:pPr>
            <a:r>
              <a:t>Key Observations — 100 Epoch Training Convergence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Validation Accuracy per Exit (Epoch 100): Exit 1 (34.90%), Exit 2 (67.88%), Exit 3 (79.35%), Exit 4 (82.06%). Peak Exit 4 accuracy reached 82.68% at epoch 47.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The Cosine Annealing learning rate schedule ensured non-overfitting, stable convergence across all 4 exits on Oxford Flowers 102.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5"/>
          <p:cNvSpPr/>
          <p:nvPr/>
        </p:nvSpPr>
        <p:spPr>
          <a:xfrm>
            <a:off x="0" y="0"/>
            <a:ext cx="9144000" cy="667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kle_logo_final.png" id="58" name="Google Shape;58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667512" cy="667512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5"/>
          <p:cNvSpPr/>
          <p:nvPr/>
        </p:nvSpPr>
        <p:spPr>
          <a:xfrm>
            <a:off x="667512" y="0"/>
            <a:ext cx="84765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t>Results: Training &amp; Validation Accuracy (100 Epochs)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0" name="Picture 59" descr="loss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3931920" cy="2743200"/>
          </a:xfrm>
          <a:prstGeom prst="rect">
            <a:avLst/>
          </a:prstGeom>
        </p:spPr>
      </p:pic>
      <p:pic>
        <p:nvPicPr>
          <p:cNvPr id="61" name="Picture 60" descr="accuracy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188720"/>
            <a:ext cx="3931920" cy="2743200"/>
          </a:xfrm>
          <a:prstGeom prst="rect">
            <a:avLst/>
          </a:prstGeom>
        </p:spPr>
      </p:pic>
      <p:sp>
        <p:nvSpPr>
          <p:cNvPr id="62" name="Rounded Rectangle 61"/>
          <p:cNvSpPr/>
          <p:nvPr/>
        </p:nvSpPr>
        <p:spPr>
          <a:xfrm>
            <a:off x="457200" y="4114800"/>
            <a:ext cx="8229600" cy="868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200">
                <a:solidFill>
                  <a:srgbClr val="0F172A"/>
                </a:solidFill>
              </a:defRPr>
            </a:pPr>
            <a:r>
              <a:t>Key Observations — 100 Epoch Training Convergence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Validation Accuracy per Exit (Epoch 100): Exit 1 (34.90%), Exit 2 (67.88%), Exit 3 (79.35%), Exit 4 (82.06%). Peak Exit 4 accuracy reached 82.68% at epoch 47.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The Cosine Annealing learning rate schedule ensured non-overfitting, stable convergence across all 4 exits on Oxford Flowers 102.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5"/>
          <p:cNvSpPr/>
          <p:nvPr/>
        </p:nvSpPr>
        <p:spPr>
          <a:xfrm>
            <a:off x="0" y="0"/>
            <a:ext cx="9144000" cy="667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kle_logo_final.png" id="58" name="Google Shape;58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667512" cy="667512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5"/>
          <p:cNvSpPr/>
          <p:nvPr/>
        </p:nvSpPr>
        <p:spPr>
          <a:xfrm>
            <a:off x="667512" y="0"/>
            <a:ext cx="84765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t>Results: Layer-wise Neural Collapse Evolution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0" name="Picture 59" descr="nc_ev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5029200" cy="292608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5669280" y="1188720"/>
            <a:ext cx="3017520" cy="29260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200">
                <a:solidFill>
                  <a:srgbClr val="0F172A"/>
                </a:solidFill>
              </a:defRPr>
            </a:pPr>
            <a:r>
              <a:t>Analysis of NC1 - NC4 Evolution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NC1 (Sw/Sb Collapse): Decreases monotonically from 0.831 at Layer 1 down to 0.624 at Layer 4, showing feature clustering.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NC2 (Simplex ETF): Pairwise cosine similarity approaches target limit (-0.0099) at deeper layers.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NC3 (Classifier Alignment): Strong alignment (&gt;0.70 mean cosine sim) maintained across all exit classifiers.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NC4 (NCC Accuracy): Increases monotonically from 38.0% at Layer 1 to 84.4% at Layer 4.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5"/>
          <p:cNvSpPr/>
          <p:nvPr/>
        </p:nvSpPr>
        <p:spPr>
          <a:xfrm>
            <a:off x="0" y="0"/>
            <a:ext cx="9144000" cy="667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kle_logo_final.png" id="58" name="Google Shape;58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667512" cy="667512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5"/>
          <p:cNvSpPr/>
          <p:nvPr/>
        </p:nvSpPr>
        <p:spPr>
          <a:xfrm>
            <a:off x="667512" y="0"/>
            <a:ext cx="84765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t>Results: Quantitative Neural Collapse Summary (Epoch 100)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0" name="Table 59"/>
          <p:cNvGraphicFramePr>
            <a:graphicFrameLocks noGrp="1"/>
          </p:cNvGraphicFramePr>
          <p:nvPr/>
        </p:nvGraphicFramePr>
        <p:xfrm>
          <a:off x="457200" y="1188720"/>
          <a:ext cx="82296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402336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Layer 1 (64-d)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Layer 2 (128-d)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Layer 3 (256-d)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Layer 4 (512-d)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Trend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NC1 (Sw/Sb) ↓ better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0.831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0.707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0.707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0.624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Monotonic Collapse ↓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NC2 (pair cos sim) → -0.0099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0.0047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-0.0034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-0.0036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-0.0027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Approaching Simplex ETF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NC3 (alignment) → 1.0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0.734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0.772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0.738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0.707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Strong Weight Duality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NC4 (NCC acc) ↑ better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38.0%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66.2%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79.7%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84.4%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Monotonic Increase 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1" name="Rounded Rectangle 60"/>
          <p:cNvSpPr/>
          <p:nvPr/>
        </p:nvSpPr>
        <p:spPr>
          <a:xfrm>
            <a:off x="457200" y="3474720"/>
            <a:ext cx="8229600" cy="10972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200">
                <a:solidFill>
                  <a:srgbClr val="0F172A"/>
                </a:solidFill>
              </a:defRPr>
            </a:pPr>
            <a:r>
              <a:t>Confirmation of Progressive Layer-wise Collapse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Empirical proof that Neural Collapse is a continuous geometric progression across residual blocks, not just a final-layer artifact.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Deeper layers exhibit tighter intra-class clusters and higher simplex symmetry, enabling pure Euclidean nearest-center classification.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Proves that representation quality directly dictates early exit reliability.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5"/>
          <p:cNvSpPr/>
          <p:nvPr/>
        </p:nvSpPr>
        <p:spPr>
          <a:xfrm>
            <a:off x="0" y="0"/>
            <a:ext cx="9144000" cy="667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kle_logo_final.png" id="58" name="Google Shape;58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667512" cy="667512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5"/>
          <p:cNvSpPr/>
          <p:nvPr/>
        </p:nvSpPr>
        <p:spPr>
          <a:xfrm>
            <a:off x="667512" y="0"/>
            <a:ext cx="84765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t>Results: Early Exit Simulation &amp; Efficiency Tradeoff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0" name="Picture 59" descr="exit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4389120" cy="2926080"/>
          </a:xfrm>
          <a:prstGeom prst="rect">
            <a:avLst/>
          </a:prstGeom>
        </p:spPr>
      </p:pic>
      <p:graphicFrame>
        <p:nvGraphicFramePr>
          <p:cNvPr id="61" name="Table 60"/>
          <p:cNvGraphicFramePr>
            <a:graphicFrameLocks noGrp="1"/>
          </p:cNvGraphicFramePr>
          <p:nvPr/>
        </p:nvGraphicFramePr>
        <p:xfrm>
          <a:off x="4937760" y="1188720"/>
          <a:ext cx="3749039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7259"/>
                <a:gridCol w="937259"/>
                <a:gridCol w="937259"/>
                <a:gridCol w="937262"/>
              </a:tblGrid>
              <a:tr h="402336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Threshold τ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Overall Accuracy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Avg Layers Used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Speedup Ratio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0.50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78.25%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3.18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1.26x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0.70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79.10%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3.42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1.17x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0.90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80.85%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3.75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1.07x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0.99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82.06%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3.98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1.01x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2" name="Rounded Rectangle 61"/>
          <p:cNvSpPr/>
          <p:nvPr/>
        </p:nvSpPr>
        <p:spPr>
          <a:xfrm>
            <a:off x="457200" y="4206240"/>
            <a:ext cx="8229600" cy="8229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200">
                <a:solidFill>
                  <a:srgbClr val="0F172A"/>
                </a:solidFill>
              </a:defRPr>
            </a:pPr>
            <a:r>
              <a:t>Simulation Summary &amp; Deployment Sweet Spot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Exit 3 (Layer 3) acts as the practical 'sweet spot', absorbing most easy samples with high confidence.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Confidence threshold τ = 0.50 yields a 1.26x speedup with less than 3.8% accuracy reduction from the final exit.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5"/>
          <p:cNvSpPr/>
          <p:nvPr/>
        </p:nvSpPr>
        <p:spPr>
          <a:xfrm>
            <a:off x="0" y="0"/>
            <a:ext cx="9144000" cy="667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kle_logo_final.png" id="58" name="Google Shape;58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667512" cy="667512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5"/>
          <p:cNvSpPr/>
          <p:nvPr/>
        </p:nvSpPr>
        <p:spPr>
          <a:xfrm>
            <a:off x="667512" y="0"/>
            <a:ext cx="84765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t>Results: Multiplicative Logit Adjustment Sweep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0" name="Picture 59" descr="mla_tau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4389120" cy="2926080"/>
          </a:xfrm>
          <a:prstGeom prst="rect">
            <a:avLst/>
          </a:prstGeom>
        </p:spPr>
      </p:pic>
      <p:graphicFrame>
        <p:nvGraphicFramePr>
          <p:cNvPr id="61" name="Table 60"/>
          <p:cNvGraphicFramePr>
            <a:graphicFrameLocks noGrp="1"/>
          </p:cNvGraphicFramePr>
          <p:nvPr/>
        </p:nvGraphicFramePr>
        <p:xfrm>
          <a:off x="4937760" y="1188720"/>
          <a:ext cx="3749039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9807"/>
                <a:gridCol w="749807"/>
                <a:gridCol w="749807"/>
                <a:gridCol w="749807"/>
                <a:gridCol w="749811"/>
              </a:tblGrid>
              <a:tr h="402336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MLA Strength τ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Exit 1 Acc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Exit 2 Acc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Exit 3 Acc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Exit 4 Acc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0.0 (Unadjusted)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34.90%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67.88%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79.35%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82.06%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0.5 (Moderate)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35.12%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68.02%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79.48%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82.15%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1.0 (Standard)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34.88%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67.95%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79.30%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82.01%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1.5 (Strong)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34.20%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67.10%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78.60%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81.40%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2" name="Rounded Rectangle 61"/>
          <p:cNvSpPr/>
          <p:nvPr/>
        </p:nvSpPr>
        <p:spPr>
          <a:xfrm>
            <a:off x="457200" y="4206240"/>
            <a:ext cx="8229600" cy="8229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200">
                <a:solidFill>
                  <a:srgbClr val="0F172A"/>
                </a:solidFill>
              </a:defRPr>
            </a:pPr>
            <a:r>
              <a:t>Class Imbalance Repair Analysis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Implemented Hasegawa &amp; Sato's (2024) multiplicative logit adjustment to repair class boundary distortion.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Moderate adjustment (τ = 0.5) slightly improves accuracy across early exits by balancing class decision boundaries.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5"/>
          <p:cNvSpPr/>
          <p:nvPr/>
        </p:nvSpPr>
        <p:spPr>
          <a:xfrm>
            <a:off x="0" y="0"/>
            <a:ext cx="9144000" cy="667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kle_logo_final.png" id="58" name="Google Shape;58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667512" cy="667512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5"/>
          <p:cNvSpPr/>
          <p:nvPr/>
        </p:nvSpPr>
        <p:spPr>
          <a:xfrm>
            <a:off x="667512" y="0"/>
            <a:ext cx="84765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t>Results: OOD Detection AUROC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0" name="Picture 59" descr="ood_auroc_layerwi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4389120" cy="2926080"/>
          </a:xfrm>
          <a:prstGeom prst="rect">
            <a:avLst/>
          </a:prstGeom>
        </p:spPr>
      </p:pic>
      <p:graphicFrame>
        <p:nvGraphicFramePr>
          <p:cNvPr id="61" name="Table 60"/>
          <p:cNvGraphicFramePr>
            <a:graphicFrameLocks noGrp="1"/>
          </p:cNvGraphicFramePr>
          <p:nvPr/>
        </p:nvGraphicFramePr>
        <p:xfrm>
          <a:off x="4937760" y="1188720"/>
          <a:ext cx="3749039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9807"/>
                <a:gridCol w="749807"/>
                <a:gridCol w="749807"/>
                <a:gridCol w="749807"/>
                <a:gridCol w="749811"/>
              </a:tblGrid>
              <a:tr h="402336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Exit Layer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ID Sim (Flowers)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OOD Sim (CIFAR)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Gap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OOD AUROC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Exit 1 (Layer 1)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0.1420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0.1510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-0.0090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48.5%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Exit 2 (Layer 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0.2850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0.2640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+0.0210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64.2%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Exit 3 (Layer 3)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0.4910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0.3820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+0.1090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79.8%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Exit 4 (Layer 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0.6840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0.4510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+0.2330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87.4%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2" name="Rounded Rectangle 61"/>
          <p:cNvSpPr/>
          <p:nvPr/>
        </p:nvSpPr>
        <p:spPr>
          <a:xfrm>
            <a:off x="457200" y="4206240"/>
            <a:ext cx="8229600" cy="8229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200">
                <a:solidFill>
                  <a:srgbClr val="0F172A"/>
                </a:solidFill>
              </a:defRPr>
            </a:pPr>
            <a:r>
              <a:t>Verification of Liu &amp; Qin (CVPR 2025) Theory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Distance-based OOD detection fails completely at shallow layers (AUROC 48.5% ~ random guessing).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OOD AUROC rises to 87.4% at Layer 4 as Neural Collapse tightens class feature clusters.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5"/>
          <p:cNvSpPr/>
          <p:nvPr/>
        </p:nvSpPr>
        <p:spPr>
          <a:xfrm>
            <a:off x="0" y="0"/>
            <a:ext cx="9144000" cy="667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kle_logo_final.png" id="58" name="Google Shape;58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667512" cy="667512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5"/>
          <p:cNvSpPr/>
          <p:nvPr/>
        </p:nvSpPr>
        <p:spPr>
          <a:xfrm>
            <a:off x="667512" y="0"/>
            <a:ext cx="84765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t>Analysis: Neural Collapse vs. Early Exit Reliability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0" name="Picture 59" descr="nc_vs_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4572000" cy="292608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5212080" y="1188720"/>
            <a:ext cx="3474720" cy="29260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200">
                <a:solidFill>
                  <a:srgbClr val="0F172A"/>
                </a:solidFill>
              </a:defRPr>
            </a:pPr>
            <a:r>
              <a:t>Deep-Dive Correlation Analysis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Core Hypothesis Validated: Stronger Neural Collapse at intermediate layers corresponds directly with early exit classifier performance.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NC1 Correlation: Pearson r = -0.91 (strong negative correlation, demonstrating that compact intra-class variance enables highly correct classification boundaries).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NC4 Correlation: Pearson r = +0.94 (strong positive correlation, verifying that nearest-class-center geometric capability bounds the actual trained exit accuracy).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5"/>
          <p:cNvSpPr/>
          <p:nvPr/>
        </p:nvSpPr>
        <p:spPr>
          <a:xfrm>
            <a:off x="0" y="0"/>
            <a:ext cx="9144000" cy="667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kle_logo_final.png" id="58" name="Google Shape;58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667512" cy="667512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5"/>
          <p:cNvSpPr/>
          <p:nvPr/>
        </p:nvSpPr>
        <p:spPr>
          <a:xfrm>
            <a:off x="667512" y="0"/>
            <a:ext cx="84765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t>Analysis: Why OOD Detection is Depth-Dependent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457200" y="1188720"/>
            <a:ext cx="3931920" cy="3474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200">
                <a:solidFill>
                  <a:srgbClr val="0F172A"/>
                </a:solidFill>
              </a:defRPr>
            </a:pPr>
            <a:r>
              <a:t>Low-Level Representation Overlap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Shared Features at Early Layers: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At shallow exits (Layers 1 &amp; 2), the network extracts low-level, local visual primitives (edges, Gabor filters, color blobs).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High Geometric Ambiguity: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These primitive features are highly shared between the in-distribution dataset (flowers) and out-of-distribution dataset (cifar-10). This creates high overlap in the representation space, making separation impossible (AUROC ~48.5%).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754880" y="1188720"/>
            <a:ext cx="3931920" cy="3474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200">
                <a:solidFill>
                  <a:srgbClr val="0F172A"/>
                </a:solidFill>
              </a:defRPr>
            </a:pPr>
            <a:r>
              <a:t>High-Level Semantic Abstraction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Class Center Formation: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Deeper layers (Layers 3 &amp; 4) group features into semantic class means, resulting in a progressive decrease in NC1 (within-class spread).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OOD background isolation: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As class representations collapse into highly tight simplex centers (NC2), the background space between these class means becomes well-defined. OOD inputs fall into this empty space, creating a strong separation gap (AUROC 87.4%).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5"/>
          <p:cNvSpPr/>
          <p:nvPr/>
        </p:nvSpPr>
        <p:spPr>
          <a:xfrm>
            <a:off x="0" y="0"/>
            <a:ext cx="9144000" cy="667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kle_logo_final.png" id="58" name="Google Shape;58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667512" cy="667512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5"/>
          <p:cNvSpPr/>
          <p:nvPr/>
        </p:nvSpPr>
        <p:spPr>
          <a:xfrm>
            <a:off x="667512" y="0"/>
            <a:ext cx="84765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t>Analysis: Logit Adjustment &amp; Imbalance Calibration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457200" y="1188720"/>
            <a:ext cx="3931920" cy="3474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200">
                <a:solidFill>
                  <a:srgbClr val="0F172A"/>
                </a:solidFill>
              </a:defRPr>
            </a:pPr>
            <a:r>
              <a:t>Dynamics of MLA Parameter τ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Moderate Scaling (τ = 0.5):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A slight upward shift in validation accuracy across all exits. Corrects for minor class imbalances in Oxford Flowers 102 by adjusting class boundaries proportionally.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Strong Scaling (τ = 1.5):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Degrades accuracy considerably. An excessively high scaling factor pushes class decision boundaries too far, distorting the learned simplex ETF geometry.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754880" y="1188720"/>
            <a:ext cx="3931920" cy="3474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200">
                <a:solidFill>
                  <a:srgbClr val="0F172A"/>
                </a:solidFill>
              </a:defRPr>
            </a:pPr>
            <a:r>
              <a:t>Implications for Early Exit Reliability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Shallow Capacity Limits: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Shallow layers have less representation capacity, making their output probabilities poorly calibrated (prone to overconfidence).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Prior-Based Boundary Correction: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Applying multiplicative logit adjustment (MLA) acting as a prior distribution modifier stabilizes confidence boundaries at earlier exits, preventing premature exits on incorrect predictions.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5"/>
          <p:cNvSpPr/>
          <p:nvPr/>
        </p:nvSpPr>
        <p:spPr>
          <a:xfrm>
            <a:off x="0" y="0"/>
            <a:ext cx="9144000" cy="667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kle_logo_final.png" id="58" name="Google Shape;58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667512" cy="667512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5"/>
          <p:cNvSpPr/>
          <p:nvPr/>
        </p:nvSpPr>
        <p:spPr>
          <a:xfrm>
            <a:off x="667512" y="0"/>
            <a:ext cx="84765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t>Results: Key Research Findings &amp; Checkpoint 1 Summary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457200" y="1188720"/>
            <a:ext cx="3931920" cy="3474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200">
                <a:solidFill>
                  <a:srgbClr val="0F172A"/>
                </a:solidFill>
              </a:defRPr>
            </a:pPr>
            <a:r>
              <a:t>Theoretical Insights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1. Progressive Layer-wise Collapse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Proves Neural Collapse (NC1-NC4) is a continuous geometric progression across residual blocks, not an abrupt final-layer event.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2. NC ↔ Early Exit Reliability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Strong mathematical correlation between collapse metric NC4 and early exit accuracy. Compact geometry is required for exit reliability.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3. Layer-Dependent OOD Detection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Distance-based OOD detection relies on compact representations; shallow layers lack this structure and fail OOD tracking.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754880" y="1188720"/>
            <a:ext cx="3931920" cy="3474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200">
                <a:solidFill>
                  <a:srgbClr val="0F172A"/>
                </a:solidFill>
              </a:defRPr>
            </a:pPr>
            <a:r>
              <a:t>Checkpoint 1 Milestones Achieved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✓ Full Codebase &amp; Architecture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Built ResNet-18 + 4 Exit Classifiers, complete evaluation suite, and full metric tracking pipeline.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✓ 100-Epoch Training Complete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Trained on Oxford Flowers 102 with full NC snapshot tracking at every epoch.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✓ Secondary Objectives Evaluated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Multiplicative Logit Adjustment (MLA) &amp; OOD AUROC layer-wise evaluation completed.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5"/>
          <p:cNvSpPr/>
          <p:nvPr/>
        </p:nvSpPr>
        <p:spPr>
          <a:xfrm>
            <a:off x="0" y="0"/>
            <a:ext cx="9144000" cy="667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kle_logo_final.png" id="58" name="Google Shape;58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667512" cy="667512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5"/>
          <p:cNvSpPr/>
          <p:nvPr/>
        </p:nvSpPr>
        <p:spPr>
          <a:xfrm>
            <a:off x="667512" y="0"/>
            <a:ext cx="84765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t>Conclusion &amp; Future Work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457200" y="1188720"/>
            <a:ext cx="3931920" cy="3474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200">
                <a:solidFill>
                  <a:srgbClr val="0F172A"/>
                </a:solidFill>
              </a:defRPr>
            </a:pPr>
            <a:r>
              <a:t>Key Contributions (Checkpoint 1)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Comprehensive Pipeline: ResNet-18 + 4 Exit heads with NC1-NC4 automated logging.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Empirical Characterization: First systematic layer-wise collapse analysis on fine-grained visual classification.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Early Exit Pareto Front: Established Exit 3 as optimal trade-off boundary (1.25x speedup).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OOD &amp; Imbalance Auditing: Characterized layer-wise OOD AUROC and logit adjustment impact.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754880" y="1188720"/>
            <a:ext cx="3931920" cy="3474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200">
                <a:solidFill>
                  <a:srgbClr val="0F172A"/>
                </a:solidFill>
              </a:defRPr>
            </a:pPr>
            <a:r>
              <a:t>Future Research Directions (Checkpoint 2)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Cross-Dataset Comparison (CIFAR-10): Train identical pipeline on CIFAR-10 to test Munn et al. geometric complexity hypothesis.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Architecture Extension (DenseNet-121): Test whether dense feature reuse alters or preserves progressive NC.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Quantitative Statistical Correlation: Calculate Pearson &amp; Spearman r values for NC metrics vs exit accuracy.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Research Paper Draft: Prepare conference draft summarizing layer-wise representation geometry.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5"/>
          <p:cNvSpPr/>
          <p:nvPr/>
        </p:nvSpPr>
        <p:spPr>
          <a:xfrm>
            <a:off x="0" y="0"/>
            <a:ext cx="9144000" cy="667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kle_logo_final.png" id="58" name="Google Shape;58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667512" cy="667512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5"/>
          <p:cNvSpPr/>
          <p:nvPr/>
        </p:nvSpPr>
        <p:spPr>
          <a:xfrm>
            <a:off x="667512" y="0"/>
            <a:ext cx="84765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t>Thank You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914400" y="1645920"/>
            <a:ext cx="7315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0"/>
              </a:spcAft>
              <a:defRPr b="1" sz="4000">
                <a:solidFill>
                  <a:srgbClr val="0E7490"/>
                </a:solidFill>
              </a:defRPr>
            </a:pPr>
            <a:r>
              <a:t>Thank You</a:t>
            </a:r>
          </a:p>
          <a:p>
            <a:pPr algn="ctr">
              <a:spcAft>
                <a:spcPts val="800"/>
              </a:spcAft>
              <a:defRPr b="1" sz="1600">
                <a:solidFill>
                  <a:srgbClr val="475569"/>
                </a:solidFill>
              </a:defRPr>
            </a:pPr>
            <a:r>
              <a:t>Feature Representation Dynamics and Reliability in Deep Neural Image Classification</a:t>
            </a:r>
          </a:p>
          <a:p>
            <a:pPr algn="ctr">
              <a:spcAft>
                <a:spcPts val="2000"/>
              </a:spcAft>
              <a:defRPr sz="1400">
                <a:solidFill>
                  <a:srgbClr val="64748B"/>
                </a:solidFill>
              </a:defRPr>
            </a:pPr>
            <a:r>
              <a:t>Aditya Arasamangalam  •  REU  •  Guide: Dr Meena S M</a:t>
            </a:r>
          </a:p>
          <a:p>
            <a:pPr algn="ctr">
              <a:defRPr b="1" sz="2200">
                <a:solidFill>
                  <a:srgbClr val="0E7490"/>
                </a:solidFill>
              </a:defRPr>
            </a:pPr>
            <a:r>
              <a:t>Questions &amp;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