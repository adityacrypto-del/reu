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16"/>
  </p:notesMasterIdLst>
  <p:sldIdLst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</p:sldIdLst>
  <p:sldSz cx="9144000" cy="51435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8"/>
          <p:cNvSpPr txBox="1"/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8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19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20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20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21"/>
          <p:cNvSpPr txBox="1"/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21"/>
          <p:cNvSpPr txBox="1"/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2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2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23"/>
          <p:cNvSpPr txBox="1"/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23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24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7" name="Google Shape;37;p2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25"/>
          <p:cNvSpPr txBox="1"/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25"/>
          <p:cNvSpPr txBox="1"/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25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6"/>
          <p:cNvSpPr txBox="1"/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26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7"/>
          <p:cNvSpPr txBox="1"/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7"/>
          <p:cNvSpPr txBox="1"/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8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7" name="Google Shape;7;p17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Char char="●"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/>
            </a:pPr>
            <a:r>
              <a:t>Title: Layer-wise Analysis of Feature Evolution in Convolutional Neural Networks</a:t>
            </a:r>
          </a:p>
          <a:p>
            <a:pPr>
              <a:defRPr sz="1800"/>
            </a:pPr>
            <a:r>
              <a:t>Subtitle: Understanding Feature Representation and Neural Collapse</a:t>
            </a:r>
          </a:p>
          <a:p>
            <a:pPr>
              <a:defRPr sz="1800"/>
            </a:pPr>
            <a:r>
              <a:t>Author: Aditya Arasamangalam</a:t>
            </a:r>
          </a:p>
          <a:p>
            <a:pPr>
              <a:defRPr sz="1800"/>
            </a:pPr>
            <a:r>
              <a:t>Course: ReU</a:t>
            </a:r>
          </a:p>
          <a:p>
            <a:pPr>
              <a:defRPr sz="1800"/>
            </a:pPr>
            <a:r>
              <a:t>Guide: Sunil Gurlahosur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The Black Box Problem: CNNs achieve high accuracy but lack internal interpretability.</a:t>
            </a:r>
          </a:p>
          <a:p>
            <a:pPr>
              <a:defRPr sz="1800"/>
            </a:pPr>
            <a:r>
              <a:t>Output-Centric Bias: Current research predominantly evaluates final output classifications, ignoring intermediate feature structures.</a:t>
            </a:r>
          </a:p>
          <a:p>
            <a:pPr>
              <a:defRPr sz="1800"/>
            </a:pPr>
            <a:r>
              <a:t>Trust &amp; Explainability: Analyzing how features evolve across hidden layers builds reliable, transparent models for edge deployment.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 &amp; Research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Research Gap: A lack of quantifiable understanding regarding layer-by-layer feature behavior and how dataset geometric complexity influences learning dynamics.</a:t>
            </a:r>
          </a:p>
          <a:p>
            <a:pPr>
              <a:defRPr sz="1800"/>
            </a:pPr>
            <a:r>
              <a:t>Core Question: How do internal features geometrically evolve across convolution layers, and how do dataset properties accelerate or hinder this evolution?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Analyze feature maps across intermediate convolution layers.</a:t>
            </a:r>
          </a:p>
          <a:p>
            <a:pPr>
              <a:defRPr sz="1800"/>
            </a:pPr>
            <a:r>
              <a:t>Quantify progression using Neural Collapse metrics (NC1-NC4).</a:t>
            </a:r>
          </a:p>
          <a:p>
            <a:pPr>
              <a:defRPr sz="1800"/>
            </a:pPr>
            <a:r>
              <a:t>Evaluate Early Exit reliability based on intermediate geometric structure.</a:t>
            </a:r>
          </a:p>
          <a:p>
            <a:pPr>
              <a:defRPr sz="1800"/>
            </a:pPr>
            <a:r>
              <a:t>Compare behavior systematically across datasets with varying structures.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1 — OOD Detection via Neural Collapse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Paper: Liu &amp; Qin, 2025</a:t>
            </a:r>
          </a:p>
          <a:p>
            <a:pPr>
              <a:defRPr sz="1800"/>
            </a:pPr>
            <a:r>
              <a:t>Concept: Terminal-phase deep features form tightly packed clusters. This geometry acts as a strict boundary for Out-of-Distribution (OOD) detection.</a:t>
            </a:r>
          </a:p>
          <a:p>
            <a:pPr>
              <a:defRPr sz="1800"/>
            </a:pPr>
            <a:r>
              <a:t>Limitation Addressed: Focuses only on final layers; our work extends this to early exits.</a:t>
            </a:r>
          </a:p>
        </p:txBody>
      </p:sp>
      <p:pic>
        <p:nvPicPr>
          <p:cNvPr id="4" name="Picture 3" descr="mermaid_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3200400"/>
            <a:ext cx="6400800" cy="88462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2 — Debiased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Paper: Wang et al., 2024</a:t>
            </a:r>
          </a:p>
          <a:p>
            <a:pPr>
              <a:defRPr sz="1800"/>
            </a:pPr>
            <a:r>
              <a:t>Concept: Shortcut learning distorts the ideal simplex geometry of Neural Collapse. Explicit geometric regularization ensures fair, unbiased representations.</a:t>
            </a:r>
          </a:p>
          <a:p>
            <a:pPr>
              <a:defRPr sz="1800"/>
            </a:pPr>
            <a:r>
              <a:t>Limitation Addressed: Bias propagation through *intermediate* architectural blocks.</a:t>
            </a:r>
          </a:p>
        </p:txBody>
      </p:sp>
      <p:pic>
        <p:nvPicPr>
          <p:cNvPr id="4" name="Picture 3" descr="mermaid_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3200400"/>
            <a:ext cx="6400800" cy="42401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3 — Geometric Complexity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Paper: Munn et al., 2024</a:t>
            </a:r>
          </a:p>
          <a:p>
            <a:pPr>
              <a:defRPr sz="1800"/>
            </a:pPr>
            <a:r>
              <a:t>Concept: Neural Collapse is not guaranteed. It is strictly dependent on the "Geometric Complexity" (target dataset's difficulty).</a:t>
            </a:r>
          </a:p>
          <a:p>
            <a:pPr>
              <a:defRPr sz="1800"/>
            </a:pPr>
            <a:r>
              <a:t>Rationale: Complex, fine-grained datasets yield weak representation overlaps, making them harder to collapse.</a:t>
            </a:r>
          </a:p>
        </p:txBody>
      </p:sp>
      <p:pic>
        <p:nvPicPr>
          <p:cNvPr id="4" name="Picture 3" descr="mermaid_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3200400"/>
            <a:ext cx="6400800" cy="67426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4 — Logit Adjustment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Paper: Hasegawa &amp; Sato, 2024</a:t>
            </a:r>
          </a:p>
          <a:p>
            <a:pPr>
              <a:defRPr sz="1800"/>
            </a:pPr>
            <a:r>
              <a:t>Concept: Class imbalance mechanically shifts classification boundaries away from optimal Neural Collapse geometry. Multiplicative scaling can mathematically repair this.</a:t>
            </a:r>
          </a:p>
        </p:txBody>
      </p:sp>
      <p:pic>
        <p:nvPicPr>
          <p:cNvPr id="4" name="Picture 3" descr="mermaid_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3200400"/>
            <a:ext cx="6400800" cy="40192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Primary Focus: Oxford Flowers 102</a:t>
            </a:r>
          </a:p>
          <a:p>
            <a:pPr>
              <a:defRPr sz="1400"/>
            </a:pPr>
            <a:r>
              <a:t>Balance: 102 classes with moderate data scale.</a:t>
            </a:r>
          </a:p>
          <a:p>
            <a:pPr>
              <a:defRPr sz="1400"/>
            </a:pPr>
            <a:r>
              <a:t>Complexity: Fine-grained geometry (high inter-class similarity) makes it ideal for testing partial Neural Collapse.</a:t>
            </a:r>
          </a:p>
          <a:p>
            <a:pPr>
              <a:defRPr sz="1400"/>
            </a:pPr>
            <a:r>
              <a:t>Comparative Baselines:</a:t>
            </a:r>
          </a:p>
          <a:p>
            <a:pPr>
              <a:defRPr sz="1400"/>
            </a:pPr>
            <a:r>
              <a:t>Food-101 (Texture-dominant)</a:t>
            </a:r>
          </a:p>
          <a:p>
            <a:pPr>
              <a:defRPr sz="1400"/>
            </a:pPr>
            <a:r>
              <a:t>Stanford Cars (Geometry-dominant)</a:t>
            </a:r>
          </a:p>
          <a:p>
            <a:pPr>
              <a:defRPr sz="1400"/>
            </a:pPr>
            <a:r>
              <a:t>FGVC Aircraft (Spatial/Structure-dominant)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Architecture — ResNet-18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Why ResNet?</a:t>
            </a:r>
          </a:p>
          <a:p>
            <a:pPr>
              <a:defRPr sz="1800"/>
            </a:pPr>
            <a:r>
              <a:t>Residual Connections: Prevents vanishing gradients, allowing stable measurement of deep features.</a:t>
            </a:r>
          </a:p>
          <a:p>
            <a:pPr>
              <a:defRPr sz="1800"/>
            </a:pPr>
            <a:r>
              <a:t>Distinct Hierarchical Blocks: Perfect for strategically attaching intermediate Early Exit classifiers.</a:t>
            </a:r>
          </a:p>
          <a:p>
            <a:pPr>
              <a:defRPr sz="1800"/>
            </a:pPr>
            <a:r>
              <a:t>Comparison: Unlike DenseNet (feature entanglement) or VGG (no residuals), ResNet provides clean architectural benchmarks.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5-Stage Framework</a:t>
            </a:r>
          </a:p>
        </p:txBody>
      </p:sp>
      <p:pic>
        <p:nvPicPr>
          <p:cNvPr id="3" name="Picture 2" descr="mermaid_1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371600"/>
            <a:ext cx="6400800" cy="1461052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Early Layers: Responsive to raw textures and dense edges. Weak collapse limits prediction confidence.</a:t>
            </a:r>
          </a:p>
          <a:p>
            <a:pPr>
              <a:defRPr sz="1800"/>
            </a:pPr>
            <a:r>
              <a:t>Mid Layers: Capture gradients and shapes. Logit adjustments stabilize boundary distortions.</a:t>
            </a:r>
          </a:p>
          <a:p>
            <a:pPr>
              <a:defRPr sz="1800"/>
            </a:pPr>
            <a:r>
              <a:t>Deep Layers: Form structured semantic geometries. High collapse guarantees reliable, calibration-sound inferences.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Key Contribution: Developing a principled framework linking internal convolutional geometry directly to inference cost-savings (Early Exiting).</a:t>
            </a:r>
          </a:p>
          <a:p>
            <a:pPr>
              <a:defRPr sz="1800"/>
            </a:pPr>
            <a:r>
              <a:t>Future Work:</a:t>
            </a:r>
          </a:p>
          <a:p>
            <a:pPr>
              <a:defRPr sz="1800"/>
            </a:pPr>
            <a:r>
              <a:t>Detailed feature clustering analysis via t-SNE / PCA.</a:t>
            </a:r>
          </a:p>
          <a:p>
            <a:pPr>
              <a:defRPr sz="1800"/>
            </a:pPr>
            <a:r>
              <a:t>Expansion to Vision Transformers (ViTs) to compare spatial architectures against self-attention collapse.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3715</Words>
  <Application>WPS Presentation</Application>
  <PresentationFormat/>
  <Paragraphs>81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0" baseType="lpstr">
      <vt:lpstr>Arial</vt:lpstr>
      <vt:lpstr>SimSun</vt:lpstr>
      <vt:lpstr>Wingdings</vt:lpstr>
      <vt:lpstr>Arial</vt:lpstr>
      <vt:lpstr>Microsoft YaHei</vt:lpstr>
      <vt:lpstr>Arial Unicode MS</vt:lpstr>
      <vt:lpstr>Simple Light</vt:lpstr>
      <vt:lpstr>Title</vt:lpstr>
      <vt:lpstr>Motivation</vt:lpstr>
      <vt:lpstr>Problem Statement &amp; Research Question</vt:lpstr>
      <vt:lpstr>Research Objectives</vt:lpstr>
      <vt:lpstr>Literature 1 — OOD Detection via Neural Collapse</vt:lpstr>
      <vt:lpstr>Literature 2 — Debiased Learning</vt:lpstr>
      <vt:lpstr>Literature 3 — Geometric Complexity</vt:lpstr>
      <vt:lpstr>Literature 4 — Logit Adjustment</vt:lpstr>
      <vt:lpstr>Dataset Selection</vt:lpstr>
      <vt:lpstr>Model Architecture — ResNet-18</vt:lpstr>
      <vt:lpstr>Proposed 5-Stage Framework</vt:lpstr>
      <vt:lpstr>Expected Results</vt:lpstr>
      <vt:lpstr>Conclusion &amp; Next Steps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Raveesh Nayak</dc:creator>
  <cp:lastModifiedBy>91948</cp:lastModifiedBy>
  <cp:revision>1</cp:revision>
  <dcterms:created xsi:type="dcterms:W3CDTF">2026-04-12T06:08:30Z</dcterms:created>
  <dcterms:modified xsi:type="dcterms:W3CDTF">2026-04-12T06:08:30Z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2ABD45AD97A640C187809483AAFC252B_13</vt:lpwstr>
  </property>
  <property fmtid="{D5CDD505-2E9C-101B-9397-08002B2CF9AE}" pid="3" name="KSOProductBuildVer">
    <vt:lpwstr>1033-12.1.0.25242</vt:lpwstr>
  </property>
</Properties>
</file>