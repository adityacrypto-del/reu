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1" roundtripDataSignature="AMtx7mhHWnb2G1zb1VuwrBL8jtPprN9L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customschemas.google.com/relationships/presentationmetadata" Target="metadata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a9448a9f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ba9448a9f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a9448a9f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g3ba9448a9f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a9448a9f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ba9448a9f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a9448a9f4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ba9448a9f4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a9448a9f4_3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ba9448a9f4_3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826993c5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9826993c5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88c88fd9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88c88fd9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88c88fd9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88c88fd9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88c88fd99_3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88c88fd99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88c88fd99_3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88c88fd99_3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Title: Layer-wise Analysis of Feature Evolution in Convolutional Neural Networks</a:t>
            </a:r>
          </a:p>
          <a:p>
            <a:pPr>
              <a:defRPr sz="1800"/>
            </a:pPr>
            <a:r>
              <a:t>Subtitle: Understanding Feature Representation and Neural Collapse</a:t>
            </a:r>
          </a:p>
          <a:p>
            <a:pPr>
              <a:defRPr sz="1800"/>
            </a:pPr>
            <a:r>
              <a:t>Author: Aditya Arasamangalam</a:t>
            </a:r>
          </a:p>
          <a:p>
            <a:pPr>
              <a:defRPr sz="1800"/>
            </a:pPr>
            <a:r>
              <a:t>Course: ReU</a:t>
            </a:r>
          </a:p>
          <a:p>
            <a:pPr>
              <a:defRPr sz="1800"/>
            </a:pPr>
            <a:r>
              <a:t>Guide: Sunil Gurlahosur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Title: Layer-wise Analysis of Feature Evolution in Convolutional Neural Networks</a:t>
            </a:r>
          </a:p>
          <a:p>
            <a:pPr>
              <a:defRPr sz="1800"/>
            </a:pPr>
            <a:r>
              <a:t>Subtitle: Understanding Feature Representation and Neural Collapse</a:t>
            </a:r>
          </a:p>
          <a:p>
            <a:pPr>
              <a:defRPr sz="1800"/>
            </a:pPr>
            <a:r>
              <a:t>Author: Aditya Arasamangalam</a:t>
            </a:r>
          </a:p>
          <a:p>
            <a:pPr>
              <a:defRPr sz="1800"/>
            </a:pPr>
            <a:r>
              <a:t>Course: ReU</a:t>
            </a:r>
          </a:p>
          <a:p>
            <a:pPr>
              <a:defRPr sz="1800"/>
            </a:pPr>
            <a:r>
              <a:t>Guide: Sunil Gurlahosur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 Black Box Problem: CNNs achieve high accuracy but lack internal interpretability.</a:t>
            </a:r>
          </a:p>
          <a:p>
            <a:pPr>
              <a:defRPr sz="1800"/>
            </a:pPr>
            <a:r>
              <a:t>Output-Centric Bias: Current research predominantly evaluates final output classifications, ignoring intermediate feature structures.</a:t>
            </a:r>
          </a:p>
          <a:p>
            <a:pPr>
              <a:defRPr sz="1800"/>
            </a:pPr>
            <a:r>
              <a:t>Trust &amp; Explainability: Analyzing how features evolve across hidden layers builds reliable, transparent models for edge deployment.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The Black Box Problem: CNNs achieve high accuracy but lack internal interpretability.</a:t>
            </a:r>
          </a:p>
          <a:p>
            <a:pPr>
              <a:defRPr sz="1800"/>
            </a:pPr>
            <a:r>
              <a:t>Output-Centric Bias: Current research predominantly evaluates final output classifications, ignoring intermediate feature structures.</a:t>
            </a:r>
          </a:p>
          <a:p>
            <a:pPr>
              <a:defRPr sz="1800"/>
            </a:pPr>
            <a:r>
              <a:t>Trust &amp; Explainability: Analyzing how features evolve across hidden layers builds reliable, transparent models for edge deployment.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Research Gap: A lack of quantifiable understanding regarding layer-by-layer feature behavior and how dataset geometric complexity influences learning dynamics.</a:t>
            </a:r>
          </a:p>
          <a:p>
            <a:pPr>
              <a:defRPr sz="1800"/>
            </a:pPr>
            <a:r>
              <a:t>Core Question: How do internal features geometrically evolve across convolution layers, and how do dataset properties accelerate or hinder this evolution?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Research Gap: A lack of quantifiable understanding regarding layer-by-layer feature behavior and how dataset geometric complexity influences learning dynamics.</a:t>
            </a:r>
          </a:p>
          <a:p>
            <a:pPr>
              <a:defRPr sz="1800"/>
            </a:pPr>
            <a:r>
              <a:t>Core Question: How do internal features geometrically evolve across convolution layers, and how do dataset properties accelerate or hinder this evolution?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Analyze feature maps across intermediate convolution layers.</a:t>
            </a:r>
          </a:p>
          <a:p>
            <a:pPr>
              <a:defRPr sz="1800"/>
            </a:pPr>
            <a:r>
              <a:t>Quantify progression using Neural Collapse metrics (NC1-NC4).</a:t>
            </a:r>
          </a:p>
          <a:p>
            <a:pPr>
              <a:defRPr sz="1800"/>
            </a:pPr>
            <a:r>
              <a:t>Evaluate Early Exit reliability based on intermediate geometric structure.</a:t>
            </a:r>
          </a:p>
          <a:p>
            <a:pPr>
              <a:defRPr sz="1800"/>
            </a:pPr>
            <a:r>
              <a:t>Compare behavior systematically across datasets with varying structures.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Analyze feature maps across intermediate convolution layers.</a:t>
            </a:r>
          </a:p>
          <a:p>
            <a:pPr>
              <a:defRPr sz="1800"/>
            </a:pPr>
            <a:r>
              <a:t>Quantify progression using Neural Collapse metrics (NC1-NC4).</a:t>
            </a:r>
          </a:p>
          <a:p>
            <a:pPr>
              <a:defRPr sz="1800"/>
            </a:pPr>
            <a:r>
              <a:t>Evaluate Early Exit reliability based on intermediate geometric structure.</a:t>
            </a:r>
          </a:p>
          <a:p>
            <a:pPr>
              <a:defRPr sz="1800"/>
            </a:pPr>
            <a:r>
              <a:t>Compare behavior systematically across datasets with varying structures.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1 — OOD Detection via Neural Collapse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Paper: Liu &amp; Qin, 2025</a:t>
            </a:r>
          </a:p>
          <a:p>
            <a:pPr>
              <a:defRPr sz="1800"/>
            </a:pPr>
            <a:r>
              <a:t>Concept: Terminal-phase deep features form tightly packed clusters. This geometry acts as a strict boundary for Out-of-Distribution (OOD) detection.</a:t>
            </a:r>
          </a:p>
          <a:p>
            <a:pPr>
              <a:defRPr sz="1800"/>
            </a:pPr>
            <a:r>
              <a:t>Limitation Addressed: Focuses only on final layers; our work extends this to early exits.</a:t>
            </a:r>
          </a:p>
        </p:txBody>
      </p:sp>
      <p:pic>
        <p:nvPicPr>
          <p:cNvPr id="4" name="Picture 3" descr="mermaid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114800"/>
            <a:ext cx="5943600" cy="821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1 — OOD Detection via Neural Collapse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Paper: Liu &amp; Qin, 2025</a:t>
            </a:r>
          </a:p>
          <a:p>
            <a:pPr>
              <a:defRPr sz="1800"/>
            </a:pPr>
            <a:r>
              <a:t>Concept: Terminal-phase deep features form tightly packed clusters. This geometry acts as a strict boundary for Out-of-Distribution (OOD) detection.</a:t>
            </a:r>
          </a:p>
          <a:p>
            <a:pPr>
              <a:defRPr sz="1800"/>
            </a:pPr>
            <a:r>
              <a:t>Limitation Addressed: Focuses only on final layers; our work extends this to early exits.</a:t>
            </a:r>
          </a:p>
        </p:txBody>
      </p:sp>
      <p:pic>
        <p:nvPicPr>
          <p:cNvPr id="4" name="Picture 3" descr="mermaid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114800"/>
            <a:ext cx="5943600" cy="8214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2 — Debiased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Paper: Wang et al., 2024</a:t>
            </a:r>
          </a:p>
          <a:p>
            <a:pPr>
              <a:defRPr sz="1800"/>
            </a:pPr>
            <a:r>
              <a:t>Concept: Shortcut learning distorts the ideal simplex geometry of Neural Collapse. Explicit geometric regularization ensures fair, unbiased representations.</a:t>
            </a:r>
          </a:p>
          <a:p>
            <a:pPr>
              <a:defRPr sz="1800"/>
            </a:pPr>
            <a:r>
              <a:t>Limitation Addressed: Bias propagation through *intermediate* architectural blocks.</a:t>
            </a:r>
          </a:p>
        </p:txBody>
      </p:sp>
      <p:pic>
        <p:nvPicPr>
          <p:cNvPr id="4" name="Picture 3" descr="mermaid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114800"/>
            <a:ext cx="5943600" cy="3937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2 — Debiased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Paper: Wang et al., 2024</a:t>
            </a:r>
          </a:p>
          <a:p>
            <a:pPr>
              <a:defRPr sz="1800"/>
            </a:pPr>
            <a:r>
              <a:t>Concept: Shortcut learning distorts the ideal simplex geometry of Neural Collapse. Explicit geometric regularization ensures fair, unbiased representations.</a:t>
            </a:r>
          </a:p>
          <a:p>
            <a:pPr>
              <a:defRPr sz="1800"/>
            </a:pPr>
            <a:r>
              <a:t>Limitation Addressed: Bias propagation through *intermediate* architectural blocks.</a:t>
            </a:r>
          </a:p>
        </p:txBody>
      </p:sp>
      <p:pic>
        <p:nvPicPr>
          <p:cNvPr id="4" name="Picture 3" descr="mermaid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114800"/>
            <a:ext cx="5943600" cy="3937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3 — Geometric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Paper: Munn et al., 2024</a:t>
            </a:r>
          </a:p>
          <a:p>
            <a:pPr>
              <a:defRPr sz="1800"/>
            </a:pPr>
            <a:r>
              <a:t>Concept: Neural Collapse is not guaranteed. It is strictly dependent on the "Geometric Complexity" (target dataset's difficulty).</a:t>
            </a:r>
          </a:p>
          <a:p>
            <a:pPr>
              <a:defRPr sz="1800"/>
            </a:pPr>
            <a:r>
              <a:t>Rationale: Complex, fine-grained datasets yield weak representation overlaps, making them harder to collapse.</a:t>
            </a:r>
          </a:p>
        </p:txBody>
      </p:sp>
      <p:pic>
        <p:nvPicPr>
          <p:cNvPr id="4" name="Picture 3" descr="mermaid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114800"/>
            <a:ext cx="5943600" cy="62610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3 — Geometric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Paper: Munn et al., 2024</a:t>
            </a:r>
          </a:p>
          <a:p>
            <a:pPr>
              <a:defRPr sz="1800"/>
            </a:pPr>
            <a:r>
              <a:t>Concept: Neural Collapse is not guaranteed. It is strictly dependent on the "Geometric Complexity" (target dataset's difficulty).</a:t>
            </a:r>
          </a:p>
          <a:p>
            <a:pPr>
              <a:defRPr sz="1800"/>
            </a:pPr>
            <a:r>
              <a:t>Rationale: Complex, fine-grained datasets yield weak representation overlaps, making them harder to collapse.</a:t>
            </a:r>
          </a:p>
        </p:txBody>
      </p:sp>
      <p:pic>
        <p:nvPicPr>
          <p:cNvPr id="4" name="Picture 3" descr="mermaid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114800"/>
            <a:ext cx="5943600" cy="62610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4 — Logit Adjustment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Paper: Hasegawa &amp; Sato, 2024</a:t>
            </a:r>
          </a:p>
          <a:p>
            <a:pPr>
              <a:defRPr sz="1800"/>
            </a:pPr>
            <a:r>
              <a:t>Concept: Class imbalance mechanically shifts classification boundaries away from optimal Neural Collapse geometry. Multiplicative scaling can mathematically repair this.</a:t>
            </a:r>
          </a:p>
        </p:txBody>
      </p:sp>
      <p:pic>
        <p:nvPicPr>
          <p:cNvPr id="4" name="Picture 3" descr="mermaid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114800"/>
            <a:ext cx="5943600" cy="3732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4 — Logit Adjustment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Paper: Hasegawa &amp; Sato, 2024</a:t>
            </a:r>
          </a:p>
          <a:p>
            <a:pPr>
              <a:defRPr sz="1800"/>
            </a:pPr>
            <a:r>
              <a:t>Concept: Class imbalance mechanically shifts classification boundaries away from optimal Neural Collapse geometry. Multiplicative scaling can mathematically repair this.</a:t>
            </a:r>
          </a:p>
        </p:txBody>
      </p:sp>
      <p:pic>
        <p:nvPicPr>
          <p:cNvPr id="4" name="Picture 3" descr="mermaid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114800"/>
            <a:ext cx="5943600" cy="3732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Primary Focus: Oxford Flowers 102</a:t>
            </a:r>
          </a:p>
          <a:p>
            <a:pPr>
              <a:defRPr sz="1400"/>
            </a:pPr>
            <a:r>
              <a:t>Balance: 102 classes with moderate data scale.</a:t>
            </a:r>
          </a:p>
          <a:p>
            <a:pPr>
              <a:defRPr sz="1400"/>
            </a:pPr>
            <a:r>
              <a:t>Complexity: Fine-grained geometry (high inter-class similarity) makes it ideal for testing partial Neural Collapse.</a:t>
            </a:r>
          </a:p>
          <a:p>
            <a:pPr>
              <a:defRPr sz="1400"/>
            </a:pPr>
            <a:r>
              <a:t>Comparative Baselines:</a:t>
            </a:r>
          </a:p>
          <a:p>
            <a:pPr>
              <a:defRPr sz="1400"/>
            </a:pPr>
            <a:r>
              <a:t>Food-101 (Texture-dominant)</a:t>
            </a:r>
          </a:p>
          <a:p>
            <a:pPr>
              <a:defRPr sz="1400"/>
            </a:pPr>
            <a:r>
              <a:t>Stanford Cars (Geometry-dominant)</a:t>
            </a:r>
          </a:p>
          <a:p>
            <a:pPr>
              <a:defRPr sz="1400"/>
            </a:pPr>
            <a:r>
              <a:t>FGVC Aircraft (Spatial/Structure-dominant)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Primary Focus: Oxford Flowers 102</a:t>
            </a:r>
          </a:p>
          <a:p>
            <a:pPr>
              <a:defRPr sz="1400"/>
            </a:pPr>
            <a:r>
              <a:t>Balance: 102 classes with moderate data scale.</a:t>
            </a:r>
          </a:p>
          <a:p>
            <a:pPr>
              <a:defRPr sz="1400"/>
            </a:pPr>
            <a:r>
              <a:t>Complexity: Fine-grained geometry (high inter-class similarity) makes it ideal for testing partial Neural Collapse.</a:t>
            </a:r>
          </a:p>
          <a:p>
            <a:pPr>
              <a:defRPr sz="1400"/>
            </a:pPr>
            <a:r>
              <a:t>Comparative Baselines:</a:t>
            </a:r>
          </a:p>
          <a:p>
            <a:pPr>
              <a:defRPr sz="1400"/>
            </a:pPr>
            <a:r>
              <a:t>Food-101 (Texture-dominant)</a:t>
            </a:r>
          </a:p>
          <a:p>
            <a:pPr>
              <a:defRPr sz="1400"/>
            </a:pPr>
            <a:r>
              <a:t>Stanford Cars (Geometry-dominant)</a:t>
            </a:r>
          </a:p>
          <a:p>
            <a:pPr>
              <a:defRPr sz="1400"/>
            </a:pPr>
            <a:r>
              <a:t>FGVC Aircraft (Spatial/Structure-dominant)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 — ResNet-18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Why ResNet?</a:t>
            </a:r>
          </a:p>
          <a:p>
            <a:pPr>
              <a:defRPr sz="1800"/>
            </a:pPr>
            <a:r>
              <a:t>Residual Connections: Prevents vanishing gradients, allowing stable measurement of deep features.</a:t>
            </a:r>
          </a:p>
          <a:p>
            <a:pPr>
              <a:defRPr sz="1800"/>
            </a:pPr>
            <a:r>
              <a:t>Distinct Hierarchical Blocks: Perfect for strategically attaching intermediate Early Exit classifiers.</a:t>
            </a:r>
          </a:p>
          <a:p>
            <a:pPr>
              <a:defRPr sz="1800"/>
            </a:pPr>
            <a:r>
              <a:t>Comparison: Unlike DenseNet (feature entanglement) or VGG (no residuals), ResNet provides clean architectural benchmarks.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 — ResNet-18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Why ResNet?</a:t>
            </a:r>
          </a:p>
          <a:p>
            <a:pPr>
              <a:defRPr sz="1800"/>
            </a:pPr>
            <a:r>
              <a:t>Residual Connections: Prevents vanishing gradients, allowing stable measurement of deep features.</a:t>
            </a:r>
          </a:p>
          <a:p>
            <a:pPr>
              <a:defRPr sz="1800"/>
            </a:pPr>
            <a:r>
              <a:t>Distinct Hierarchical Blocks: Perfect for strategically attaching intermediate Early Exit classifiers.</a:t>
            </a:r>
          </a:p>
          <a:p>
            <a:pPr>
              <a:defRPr sz="1800"/>
            </a:pPr>
            <a:r>
              <a:t>Comparison: Unlike DenseNet (feature entanglement) or VGG (no residuals), ResNet provides clean architectural benchmarks.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5-Stage Framework</a:t>
            </a:r>
          </a:p>
        </p:txBody>
      </p:sp>
      <p:pic>
        <p:nvPicPr>
          <p:cNvPr id="3" name="Picture 2" descr="mermaid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943600" cy="135669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5-Stage Framework</a:t>
            </a:r>
          </a:p>
        </p:txBody>
      </p:sp>
      <p:pic>
        <p:nvPicPr>
          <p:cNvPr id="3" name="Picture 2" descr="mermaid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5943600" cy="1356691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Early Layers: Responsive to raw textures and dense edges. Weak collapse limits prediction confidence.</a:t>
            </a:r>
          </a:p>
          <a:p>
            <a:pPr>
              <a:defRPr sz="1800"/>
            </a:pPr>
            <a:r>
              <a:t>Mid Layers: Capture gradients and shapes. Logit adjustments stabilize boundary distortions.</a:t>
            </a:r>
          </a:p>
          <a:p>
            <a:pPr>
              <a:defRPr sz="1800"/>
            </a:pPr>
            <a:r>
              <a:t>Deep Layers: Form structured semantic geometries. High collapse guarantees reliable, calibration-sound inferences.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Early Layers: Responsive to raw textures and dense edges. Weak collapse limits prediction confidence.</a:t>
            </a:r>
          </a:p>
          <a:p>
            <a:pPr>
              <a:defRPr sz="1800"/>
            </a:pPr>
            <a:r>
              <a:t>Mid Layers: Capture gradients and shapes. Logit adjustments stabilize boundary distortions.</a:t>
            </a:r>
          </a:p>
          <a:p>
            <a:pPr>
              <a:defRPr sz="1800"/>
            </a:pPr>
            <a:r>
              <a:t>Deep Layers: Form structured semantic geometries. High collapse guarantees reliable, calibration-sound inferences.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Key Contribution: Developing a principled framework linking internal convolutional geometry directly to inference cost-savings (Early Exiting).</a:t>
            </a:r>
          </a:p>
          <a:p>
            <a:pPr>
              <a:defRPr sz="1800"/>
            </a:pPr>
            <a:r>
              <a:t>Future Work:</a:t>
            </a:r>
          </a:p>
          <a:p>
            <a:pPr>
              <a:defRPr sz="1800"/>
            </a:pPr>
            <a:r>
              <a:t>Detailed feature clustering analysis via t-SNE / PCA.</a:t>
            </a:r>
          </a:p>
          <a:p>
            <a:pPr>
              <a:defRPr sz="1800"/>
            </a:pPr>
            <a:r>
              <a:t>Expansion to Vision Transformers (ViTs) to compare spatial architectures against self-attention collapse.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Key Contribution: Developing a principled framework linking internal convolutional geometry directly to inference cost-savings (Early Exiting).</a:t>
            </a:r>
          </a:p>
          <a:p>
            <a:pPr>
              <a:defRPr sz="1800"/>
            </a:pPr>
            <a:r>
              <a:t>Future Work:</a:t>
            </a:r>
          </a:p>
          <a:p>
            <a:pPr>
              <a:defRPr sz="1800"/>
            </a:pPr>
            <a:r>
              <a:t>Detailed feature clustering analysis via t-SNE / PCA.</a:t>
            </a:r>
          </a:p>
          <a:p>
            <a:pPr>
              <a:defRPr sz="1800"/>
            </a:pPr>
            <a:r>
              <a:t>Expansion to Vision Transformers (ViTs) to compare spatial architectures against self-attention collapse.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88c88fd99_3_38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50"/>
              <a:t>Outcomes</a:t>
            </a:r>
            <a:endParaRPr b="1" sz="3250"/>
          </a:p>
        </p:txBody>
      </p:sp>
      <p:sp>
        <p:nvSpPr>
          <p:cNvPr id="161" name="Google Shape;161;g3b88c88fd99_3_3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62" name="Google Shape;162;g3b88c88fd99_3_383"/>
          <p:cNvCxnSpPr/>
          <p:nvPr/>
        </p:nvCxnSpPr>
        <p:spPr>
          <a:xfrm>
            <a:off x="-21150" y="599386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3" name="Google Shape;163;g3b88c88fd99_3_383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44054" y="33412"/>
            <a:ext cx="2315725" cy="55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 txBox="1"/>
          <p:nvPr>
            <p:ph type="ctrTitle"/>
          </p:nvPr>
        </p:nvSpPr>
        <p:spPr>
          <a:xfrm>
            <a:off x="2075250" y="2208900"/>
            <a:ext cx="49935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/>
              <a:t>Thank you</a:t>
            </a:r>
            <a:endParaRPr b="1"/>
          </a:p>
        </p:txBody>
      </p:sp>
      <p:pic>
        <p:nvPicPr>
          <p:cNvPr id="169" name="Google Shape;169;p16" title="kle 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2350" y="58300"/>
            <a:ext cx="2315725" cy="55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16"/>
          <p:cNvCxnSpPr/>
          <p:nvPr/>
        </p:nvCxnSpPr>
        <p:spPr>
          <a:xfrm>
            <a:off x="-21150" y="674050"/>
            <a:ext cx="9159600" cy="3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Raveesh Nayak</dc:creator>
</cp:coreProperties>
</file>